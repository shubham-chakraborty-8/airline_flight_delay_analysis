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90" r:id="rId3"/>
    <p:sldId id="257" r:id="rId4"/>
    <p:sldId id="291" r:id="rId5"/>
    <p:sldId id="258" r:id="rId6"/>
    <p:sldId id="272" r:id="rId7"/>
    <p:sldId id="293" r:id="rId8"/>
    <p:sldId id="286" r:id="rId9"/>
    <p:sldId id="287" r:id="rId10"/>
    <p:sldId id="288" r:id="rId11"/>
    <p:sldId id="271" r:id="rId12"/>
    <p:sldId id="294" r:id="rId13"/>
    <p:sldId id="274" r:id="rId14"/>
    <p:sldId id="275" r:id="rId15"/>
    <p:sldId id="276" r:id="rId16"/>
    <p:sldId id="277" r:id="rId17"/>
    <p:sldId id="278" r:id="rId18"/>
    <p:sldId id="279" r:id="rId19"/>
    <p:sldId id="280" r:id="rId20"/>
    <p:sldId id="281" r:id="rId21"/>
    <p:sldId id="285" r:id="rId22"/>
    <p:sldId id="282" r:id="rId23"/>
    <p:sldId id="284" r:id="rId24"/>
    <p:sldId id="259" r:id="rId25"/>
    <p:sldId id="261" r:id="rId26"/>
    <p:sldId id="263" r:id="rId27"/>
    <p:sldId id="264" r:id="rId28"/>
    <p:sldId id="265" r:id="rId29"/>
    <p:sldId id="296" r:id="rId30"/>
    <p:sldId id="295" r:id="rId31"/>
    <p:sldId id="269" r:id="rId32"/>
    <p:sldId id="270" r:id="rId33"/>
    <p:sldId id="273" r:id="rId34"/>
    <p:sldId id="292" r:id="rId35"/>
    <p:sldId id="289"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4E5"/>
    <a:srgbClr val="E0CFD6"/>
    <a:srgbClr val="9AADC0"/>
    <a:srgbClr val="E6CBCC"/>
    <a:srgbClr val="6F98B2"/>
    <a:srgbClr val="96B9CA"/>
    <a:srgbClr val="FFD0A0"/>
    <a:srgbClr val="358BCE"/>
    <a:srgbClr val="348BCE"/>
    <a:srgbClr val="3E58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73" autoAdjust="0"/>
    <p:restoredTop sz="94660"/>
  </p:normalViewPr>
  <p:slideViewPr>
    <p:cSldViewPr snapToGrid="0">
      <p:cViewPr varScale="1">
        <p:scale>
          <a:sx n="80" d="100"/>
          <a:sy n="80" d="100"/>
        </p:scale>
        <p:origin x="37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7BFAD3-2EAB-41DE-9E3C-680CE765E38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65DA15D2-BDBB-43CE-B266-91BA4BDE3149}">
      <dgm:prSet phldrT="[Text]"/>
      <dgm:spPr>
        <a:solidFill>
          <a:srgbClr val="358BCE"/>
        </a:solidFill>
        <a:effectLst>
          <a:softEdge rad="38100"/>
        </a:effectLst>
      </dgm:spPr>
      <dgm:t>
        <a:bodyPr/>
        <a:lstStyle/>
        <a:p>
          <a:pPr algn="just"/>
          <a:r>
            <a:rPr lang="en-IN" dirty="0">
              <a:solidFill>
                <a:srgbClr val="002060"/>
              </a:solidFill>
            </a:rPr>
            <a:t>Analyse airline delay patterns over time</a:t>
          </a:r>
          <a:endParaRPr lang="en-IN" dirty="0"/>
        </a:p>
      </dgm:t>
    </dgm:pt>
    <dgm:pt modelId="{7E57CEAB-3870-4ED8-A6F5-B23CD5B2D11E}" type="parTrans" cxnId="{B6338B2E-268A-49D0-8472-B3F3A7D2136B}">
      <dgm:prSet/>
      <dgm:spPr/>
      <dgm:t>
        <a:bodyPr/>
        <a:lstStyle/>
        <a:p>
          <a:pPr algn="just"/>
          <a:endParaRPr lang="en-IN"/>
        </a:p>
      </dgm:t>
    </dgm:pt>
    <dgm:pt modelId="{09353053-441C-43FF-BE39-D3A4DBAA22CD}" type="sibTrans" cxnId="{B6338B2E-268A-49D0-8472-B3F3A7D2136B}">
      <dgm:prSet/>
      <dgm:spPr/>
      <dgm:t>
        <a:bodyPr/>
        <a:lstStyle/>
        <a:p>
          <a:pPr algn="just"/>
          <a:endParaRPr lang="en-IN"/>
        </a:p>
      </dgm:t>
    </dgm:pt>
    <dgm:pt modelId="{D6302AEF-232B-45BD-92D8-E1CDA3BA240A}">
      <dgm:prSet phldrT="[Text]" custT="1"/>
      <dgm:spPr>
        <a:solidFill>
          <a:srgbClr val="358BCE"/>
        </a:solidFill>
        <a:ln w="12700" cap="flat" cmpd="sng" algn="ctr">
          <a:solidFill>
            <a:prstClr val="white">
              <a:hueOff val="0"/>
              <a:satOff val="0"/>
              <a:lumOff val="0"/>
              <a:alphaOff val="0"/>
            </a:prstClr>
          </a:solidFill>
          <a:prstDash val="solid"/>
          <a:miter lim="800000"/>
        </a:ln>
        <a:effectLst>
          <a:softEdge rad="38100"/>
        </a:effectLst>
      </dgm:spPr>
      <dgm:t>
        <a:bodyPr spcFirstLastPara="0" vert="horz" wrap="square" lIns="273888" tIns="76200" rIns="142240" bIns="76200" numCol="1" spcCol="1270" anchor="ctr" anchorCtr="0"/>
        <a:lstStyle/>
        <a:p>
          <a:pPr marL="0" lvl="0" indent="0" algn="just" defTabSz="889000">
            <a:lnSpc>
              <a:spcPct val="90000"/>
            </a:lnSpc>
            <a:spcBef>
              <a:spcPct val="0"/>
            </a:spcBef>
            <a:spcAft>
              <a:spcPct val="35000"/>
            </a:spcAft>
            <a:buNone/>
          </a:pPr>
          <a:r>
            <a:rPr lang="en-IN" sz="2600" kern="1200" dirty="0">
              <a:solidFill>
                <a:srgbClr val="002060"/>
              </a:solidFill>
              <a:latin typeface="Calibri" panose="020F0502020204030204"/>
              <a:ea typeface="+mn-ea"/>
              <a:cs typeface="+mn-cs"/>
            </a:rPr>
            <a:t>Understand why delays occur</a:t>
          </a:r>
        </a:p>
      </dgm:t>
    </dgm:pt>
    <dgm:pt modelId="{FF19C261-0D9C-4FF4-A616-E5C433695092}" type="parTrans" cxnId="{BEB414DC-12A1-41DE-9C9D-396F12B16A8E}">
      <dgm:prSet/>
      <dgm:spPr/>
      <dgm:t>
        <a:bodyPr/>
        <a:lstStyle/>
        <a:p>
          <a:pPr algn="just"/>
          <a:endParaRPr lang="en-IN"/>
        </a:p>
      </dgm:t>
    </dgm:pt>
    <dgm:pt modelId="{6576DBC2-1655-4A81-9001-FAF79BC15E1A}" type="sibTrans" cxnId="{BEB414DC-12A1-41DE-9C9D-396F12B16A8E}">
      <dgm:prSet/>
      <dgm:spPr/>
      <dgm:t>
        <a:bodyPr/>
        <a:lstStyle/>
        <a:p>
          <a:pPr algn="just"/>
          <a:endParaRPr lang="en-IN"/>
        </a:p>
      </dgm:t>
    </dgm:pt>
    <dgm:pt modelId="{DA8722FF-F386-4476-8AAF-3915418D87C8}">
      <dgm:prSet phldrT="[Text]" custT="1"/>
      <dgm:spPr>
        <a:solidFill>
          <a:srgbClr val="358BCE"/>
        </a:solidFill>
        <a:ln w="12700" cap="flat" cmpd="sng" algn="ctr">
          <a:solidFill>
            <a:prstClr val="white">
              <a:hueOff val="0"/>
              <a:satOff val="0"/>
              <a:lumOff val="0"/>
              <a:alphaOff val="0"/>
            </a:prstClr>
          </a:solidFill>
          <a:prstDash val="solid"/>
          <a:miter lim="800000"/>
        </a:ln>
        <a:effectLst>
          <a:softEdge rad="38100"/>
        </a:effectLst>
      </dgm:spPr>
      <dgm:t>
        <a:bodyPr spcFirstLastPara="0" vert="horz" wrap="square" lIns="273888" tIns="76200" rIns="142240" bIns="76200" numCol="1" spcCol="1270" anchor="ctr" anchorCtr="0"/>
        <a:lstStyle/>
        <a:p>
          <a:pPr marL="0" lvl="0" indent="0" algn="just" defTabSz="889000">
            <a:lnSpc>
              <a:spcPct val="90000"/>
            </a:lnSpc>
            <a:spcBef>
              <a:spcPct val="0"/>
            </a:spcBef>
            <a:spcAft>
              <a:spcPct val="35000"/>
            </a:spcAft>
            <a:buNone/>
          </a:pPr>
          <a:r>
            <a:rPr lang="en-IN" sz="2600" kern="1200" dirty="0">
              <a:solidFill>
                <a:srgbClr val="002060"/>
              </a:solidFill>
              <a:latin typeface="Calibri" panose="020F0502020204030204"/>
              <a:ea typeface="+mn-ea"/>
              <a:cs typeface="+mn-cs"/>
            </a:rPr>
            <a:t>Compare airline operational efficiency</a:t>
          </a:r>
        </a:p>
      </dgm:t>
    </dgm:pt>
    <dgm:pt modelId="{B9DFF868-DFED-4C60-BB03-CC48F82CF9B6}" type="parTrans" cxnId="{0D05F45D-F545-414D-8E41-56C1BCE20E20}">
      <dgm:prSet/>
      <dgm:spPr/>
      <dgm:t>
        <a:bodyPr/>
        <a:lstStyle/>
        <a:p>
          <a:pPr algn="just"/>
          <a:endParaRPr lang="en-IN"/>
        </a:p>
      </dgm:t>
    </dgm:pt>
    <dgm:pt modelId="{1C445517-2BF4-47E8-BE3C-01277E3BBD35}" type="sibTrans" cxnId="{0D05F45D-F545-414D-8E41-56C1BCE20E20}">
      <dgm:prSet/>
      <dgm:spPr/>
      <dgm:t>
        <a:bodyPr/>
        <a:lstStyle/>
        <a:p>
          <a:pPr algn="just"/>
          <a:endParaRPr lang="en-IN"/>
        </a:p>
      </dgm:t>
    </dgm:pt>
    <dgm:pt modelId="{9E2D9B1E-5BFD-4AF4-B240-3F30FDFC5C55}">
      <dgm:prSet custT="1"/>
      <dgm:spPr>
        <a:solidFill>
          <a:srgbClr val="358BCE"/>
        </a:solidFill>
        <a:ln w="12700" cap="flat" cmpd="sng" algn="ctr">
          <a:solidFill>
            <a:prstClr val="white">
              <a:hueOff val="0"/>
              <a:satOff val="0"/>
              <a:lumOff val="0"/>
              <a:alphaOff val="0"/>
            </a:prstClr>
          </a:solidFill>
          <a:prstDash val="solid"/>
          <a:miter lim="800000"/>
        </a:ln>
        <a:effectLst>
          <a:softEdge rad="38100"/>
        </a:effectLst>
      </dgm:spPr>
      <dgm:t>
        <a:bodyPr spcFirstLastPara="0" vert="horz" wrap="square" lIns="273888" tIns="76200" rIns="142240" bIns="76200" numCol="1" spcCol="1270" anchor="ctr" anchorCtr="0"/>
        <a:lstStyle/>
        <a:p>
          <a:pPr marL="0" lvl="0" indent="0" algn="just" defTabSz="889000">
            <a:lnSpc>
              <a:spcPct val="90000"/>
            </a:lnSpc>
            <a:spcBef>
              <a:spcPct val="0"/>
            </a:spcBef>
            <a:spcAft>
              <a:spcPct val="35000"/>
            </a:spcAft>
            <a:buNone/>
          </a:pPr>
          <a:r>
            <a:rPr lang="en-IN" sz="2600" kern="1200" dirty="0">
              <a:solidFill>
                <a:srgbClr val="002060"/>
              </a:solidFill>
              <a:latin typeface="Calibri" panose="020F0502020204030204"/>
              <a:ea typeface="+mn-ea"/>
              <a:cs typeface="+mn-cs"/>
            </a:rPr>
            <a:t>Build KPIs for disruption risk</a:t>
          </a:r>
        </a:p>
      </dgm:t>
    </dgm:pt>
    <dgm:pt modelId="{3DE7873D-4DC4-47EB-BC18-AB758DA71996}" type="parTrans" cxnId="{2A8F75D9-7EDA-44D4-849B-2A7C1A2E4ECE}">
      <dgm:prSet/>
      <dgm:spPr/>
      <dgm:t>
        <a:bodyPr/>
        <a:lstStyle/>
        <a:p>
          <a:pPr algn="just"/>
          <a:endParaRPr lang="en-IN"/>
        </a:p>
      </dgm:t>
    </dgm:pt>
    <dgm:pt modelId="{1AFFF5B8-8633-4827-9EDD-6D15064B3B8C}" type="sibTrans" cxnId="{2A8F75D9-7EDA-44D4-849B-2A7C1A2E4ECE}">
      <dgm:prSet/>
      <dgm:spPr/>
      <dgm:t>
        <a:bodyPr/>
        <a:lstStyle/>
        <a:p>
          <a:pPr algn="just"/>
          <a:endParaRPr lang="en-IN"/>
        </a:p>
      </dgm:t>
    </dgm:pt>
    <dgm:pt modelId="{409F09CE-2240-4936-AFA1-B639F7B1BE83}">
      <dgm:prSet custT="1"/>
      <dgm:spPr>
        <a:solidFill>
          <a:srgbClr val="358BCE"/>
        </a:solidFill>
        <a:ln w="12700" cap="flat" cmpd="sng" algn="ctr">
          <a:solidFill>
            <a:prstClr val="white">
              <a:hueOff val="0"/>
              <a:satOff val="0"/>
              <a:lumOff val="0"/>
              <a:alphaOff val="0"/>
            </a:prstClr>
          </a:solidFill>
          <a:prstDash val="solid"/>
          <a:miter lim="800000"/>
        </a:ln>
        <a:effectLst>
          <a:softEdge rad="38100"/>
        </a:effectLst>
      </dgm:spPr>
      <dgm:t>
        <a:bodyPr spcFirstLastPara="0" vert="horz" wrap="square" lIns="273888" tIns="76200" rIns="142240" bIns="76200" numCol="1" spcCol="1270" anchor="ctr" anchorCtr="0"/>
        <a:lstStyle/>
        <a:p>
          <a:pPr marL="0" lvl="0" indent="0" algn="just" defTabSz="889000">
            <a:lnSpc>
              <a:spcPct val="90000"/>
            </a:lnSpc>
            <a:spcBef>
              <a:spcPct val="0"/>
            </a:spcBef>
            <a:spcAft>
              <a:spcPct val="35000"/>
            </a:spcAft>
            <a:buNone/>
          </a:pPr>
          <a:r>
            <a:rPr lang="en-IN" sz="2000" kern="1200" dirty="0">
              <a:solidFill>
                <a:srgbClr val="002060"/>
              </a:solidFill>
              <a:latin typeface="Calibri" panose="020F0502020204030204"/>
              <a:ea typeface="+mn-ea"/>
              <a:cs typeface="+mn-cs"/>
            </a:rPr>
            <a:t>Convert raw operational data into business insights</a:t>
          </a:r>
        </a:p>
      </dgm:t>
    </dgm:pt>
    <dgm:pt modelId="{5FEE2090-0C90-4D89-8396-CE19A8F1C217}" type="parTrans" cxnId="{12EE4687-E673-4903-8DF6-27DC7D5400B4}">
      <dgm:prSet/>
      <dgm:spPr/>
      <dgm:t>
        <a:bodyPr/>
        <a:lstStyle/>
        <a:p>
          <a:pPr algn="just"/>
          <a:endParaRPr lang="en-IN"/>
        </a:p>
      </dgm:t>
    </dgm:pt>
    <dgm:pt modelId="{D46DE409-9B80-4E1A-B91A-76B2D05A3133}" type="sibTrans" cxnId="{12EE4687-E673-4903-8DF6-27DC7D5400B4}">
      <dgm:prSet/>
      <dgm:spPr/>
      <dgm:t>
        <a:bodyPr/>
        <a:lstStyle/>
        <a:p>
          <a:pPr algn="just"/>
          <a:endParaRPr lang="en-IN"/>
        </a:p>
      </dgm:t>
    </dgm:pt>
    <dgm:pt modelId="{92C6DF4D-A5D9-44E5-AFEE-5DF2ED59369A}" type="pres">
      <dgm:prSet presAssocID="{DF7BFAD3-2EAB-41DE-9E3C-680CE765E38F}" presName="linearFlow" presStyleCnt="0">
        <dgm:presLayoutVars>
          <dgm:dir/>
          <dgm:resizeHandles val="exact"/>
        </dgm:presLayoutVars>
      </dgm:prSet>
      <dgm:spPr/>
    </dgm:pt>
    <dgm:pt modelId="{754F805D-197A-4CAA-9866-8B837F74A7B2}" type="pres">
      <dgm:prSet presAssocID="{65DA15D2-BDBB-43CE-B266-91BA4BDE3149}" presName="composite" presStyleCnt="0"/>
      <dgm:spPr/>
    </dgm:pt>
    <dgm:pt modelId="{7A722F18-0CD5-4909-BCAA-C6598DF487F3}" type="pres">
      <dgm:prSet presAssocID="{65DA15D2-BDBB-43CE-B266-91BA4BDE3149}" presName="imgShp" presStyleLbl="fgImgPlace1" presStyleIdx="0" presStyleCnt="5" custLinFactX="-51575" custLinFactNeighborX="-100000" custLinFactNeighborY="-48"/>
      <dgm:spPr>
        <a:blipFill dpi="0" rotWithShape="1">
          <a:blip xmlns:r="http://schemas.openxmlformats.org/officeDocument/2006/relationships" r:embed="rId1">
            <a:lum bright="40000" contrast="-40000"/>
            <a:extLst>
              <a:ext uri="{96DAC541-7B7A-43D3-8B79-37D633B846F1}">
                <asvg:svgBlip xmlns:asvg="http://schemas.microsoft.com/office/drawing/2016/SVG/main" r:embed="rId2"/>
              </a:ext>
            </a:extLst>
          </a:blip>
          <a:srcRect/>
          <a:stretch>
            <a:fillRect/>
          </a:stretch>
        </a:blipFill>
        <a:ln>
          <a:noFill/>
        </a:ln>
      </dgm:spPr>
    </dgm:pt>
    <dgm:pt modelId="{9CA33396-C692-4717-9924-E5472404E632}" type="pres">
      <dgm:prSet presAssocID="{65DA15D2-BDBB-43CE-B266-91BA4BDE3149}" presName="txShp" presStyleLbl="node1" presStyleIdx="0" presStyleCnt="5" custScaleX="122748">
        <dgm:presLayoutVars>
          <dgm:bulletEnabled val="1"/>
        </dgm:presLayoutVars>
      </dgm:prSet>
      <dgm:spPr/>
    </dgm:pt>
    <dgm:pt modelId="{906BF69E-0CC7-421A-BA19-88BE7D59C69A}" type="pres">
      <dgm:prSet presAssocID="{09353053-441C-43FF-BE39-D3A4DBAA22CD}" presName="spacing" presStyleCnt="0"/>
      <dgm:spPr/>
    </dgm:pt>
    <dgm:pt modelId="{A559CFC6-6461-4385-9775-368CB372C02E}" type="pres">
      <dgm:prSet presAssocID="{D6302AEF-232B-45BD-92D8-E1CDA3BA240A}" presName="composite" presStyleCnt="0"/>
      <dgm:spPr/>
    </dgm:pt>
    <dgm:pt modelId="{61113E63-4A8C-4909-B40A-16F7B5998490}" type="pres">
      <dgm:prSet presAssocID="{D6302AEF-232B-45BD-92D8-E1CDA3BA240A}" presName="imgShp" presStyleLbl="fgImgPlace1" presStyleIdx="1" presStyleCnt="5" custLinFactX="-51575" custLinFactNeighborX="-100000" custLinFactNeighborY="3386"/>
      <dgm:spPr>
        <a:blipFill>
          <a:blip xmlns:r="http://schemas.openxmlformats.org/officeDocument/2006/relationships" r:embed="rId3">
            <a:duotone>
              <a:prstClr val="black"/>
              <a:schemeClr val="tx2">
                <a:tint val="45000"/>
                <a:satMod val="400000"/>
              </a:schemeClr>
            </a:duotone>
            <a:lum contrast="100000"/>
            <a:extLst>
              <a:ext uri="{96DAC541-7B7A-43D3-8B79-37D633B846F1}">
                <asvg:svgBlip xmlns:asvg="http://schemas.microsoft.com/office/drawing/2016/SVG/main" r:embed="rId4"/>
              </a:ext>
            </a:extLst>
          </a:blip>
          <a:srcRect/>
          <a:stretch>
            <a:fillRect/>
          </a:stretch>
        </a:blipFill>
        <a:ln>
          <a:noFill/>
        </a:ln>
      </dgm:spPr>
    </dgm:pt>
    <dgm:pt modelId="{8B06D279-CE7E-4F4C-AAC9-72C68430807E}" type="pres">
      <dgm:prSet presAssocID="{D6302AEF-232B-45BD-92D8-E1CDA3BA240A}" presName="txShp" presStyleLbl="node1" presStyleIdx="1" presStyleCnt="5" custScaleX="121882">
        <dgm:presLayoutVars>
          <dgm:bulletEnabled val="1"/>
        </dgm:presLayoutVars>
      </dgm:prSet>
      <dgm:spPr>
        <a:xfrm rot="10800000">
          <a:off x="708154" y="806802"/>
          <a:ext cx="6058218" cy="621101"/>
        </a:xfrm>
        <a:prstGeom prst="homePlate">
          <a:avLst/>
        </a:prstGeom>
      </dgm:spPr>
    </dgm:pt>
    <dgm:pt modelId="{C7F9D0AD-90E4-4188-9080-9523DA8B0C89}" type="pres">
      <dgm:prSet presAssocID="{6576DBC2-1655-4A81-9001-FAF79BC15E1A}" presName="spacing" presStyleCnt="0"/>
      <dgm:spPr/>
    </dgm:pt>
    <dgm:pt modelId="{A841F777-A8E4-41E5-BFC0-114067B8362F}" type="pres">
      <dgm:prSet presAssocID="{DA8722FF-F386-4476-8AAF-3915418D87C8}" presName="composite" presStyleCnt="0"/>
      <dgm:spPr/>
    </dgm:pt>
    <dgm:pt modelId="{22B213BA-617C-4109-AEE2-E7CA444A7BED}" type="pres">
      <dgm:prSet presAssocID="{DA8722FF-F386-4476-8AAF-3915418D87C8}" presName="imgShp" presStyleLbl="fgImgPlace1" presStyleIdx="2" presStyleCnt="5" custLinFactX="-51575" custLinFactNeighborX="-100000" custLinFactNeighborY="6820"/>
      <dgm:spPr>
        <a:blipFill>
          <a:blip xmlns:r="http://schemas.openxmlformats.org/officeDocument/2006/relationships" r:embed="rId5">
            <a:duotone>
              <a:prstClr val="black"/>
              <a:schemeClr val="tx2">
                <a:tint val="45000"/>
                <a:satMod val="400000"/>
              </a:schemeClr>
            </a:duotone>
            <a:lum contrast="100000"/>
            <a:extLst>
              <a:ext uri="{96DAC541-7B7A-43D3-8B79-37D633B846F1}">
                <asvg:svgBlip xmlns:asvg="http://schemas.microsoft.com/office/drawing/2016/SVG/main" r:embed="rId6"/>
              </a:ext>
            </a:extLst>
          </a:blip>
          <a:srcRect/>
          <a:stretch>
            <a:fillRect/>
          </a:stretch>
        </a:blipFill>
        <a:ln>
          <a:noFill/>
        </a:ln>
      </dgm:spPr>
    </dgm:pt>
    <dgm:pt modelId="{84F8F7B9-EC8B-4665-941F-5F601E189DD0}" type="pres">
      <dgm:prSet presAssocID="{DA8722FF-F386-4476-8AAF-3915418D87C8}" presName="txShp" presStyleLbl="node1" presStyleIdx="2" presStyleCnt="5" custScaleX="121882">
        <dgm:presLayoutVars>
          <dgm:bulletEnabled val="1"/>
        </dgm:presLayoutVars>
      </dgm:prSet>
      <dgm:spPr>
        <a:xfrm rot="10800000">
          <a:off x="708154" y="1613306"/>
          <a:ext cx="6058218" cy="621101"/>
        </a:xfrm>
        <a:prstGeom prst="homePlate">
          <a:avLst/>
        </a:prstGeom>
      </dgm:spPr>
    </dgm:pt>
    <dgm:pt modelId="{A08B1B2F-E231-4032-A08B-7AA9FB34AE0A}" type="pres">
      <dgm:prSet presAssocID="{1C445517-2BF4-47E8-BE3C-01277E3BBD35}" presName="spacing" presStyleCnt="0"/>
      <dgm:spPr/>
    </dgm:pt>
    <dgm:pt modelId="{B5E9B77D-067E-4DA3-8F5A-72A7A5094071}" type="pres">
      <dgm:prSet presAssocID="{9E2D9B1E-5BFD-4AF4-B240-3F30FDFC5C55}" presName="composite" presStyleCnt="0"/>
      <dgm:spPr/>
    </dgm:pt>
    <dgm:pt modelId="{FEA5C9EA-11F3-4D33-A07C-B64ED481A285}" type="pres">
      <dgm:prSet presAssocID="{9E2D9B1E-5BFD-4AF4-B240-3F30FDFC5C55}" presName="imgShp" presStyleLbl="fgImgPlace1" presStyleIdx="3" presStyleCnt="5" custLinFactX="-51575" custLinFactNeighborX="-100000" custLinFactNeighborY="7436"/>
      <dgm:spPr>
        <a:blipFill>
          <a:blip xmlns:r="http://schemas.openxmlformats.org/officeDocument/2006/relationships" r:embed="rId7">
            <a:duotone>
              <a:prstClr val="black"/>
              <a:schemeClr val="accent4">
                <a:tint val="45000"/>
                <a:satMod val="400000"/>
              </a:schemeClr>
            </a:duotone>
            <a:lum contrast="100000"/>
            <a:extLst>
              <a:ext uri="{96DAC541-7B7A-43D3-8B79-37D633B846F1}">
                <asvg:svgBlip xmlns:asvg="http://schemas.microsoft.com/office/drawing/2016/SVG/main" r:embed="rId8"/>
              </a:ext>
            </a:extLst>
          </a:blip>
          <a:srcRect/>
          <a:stretch>
            <a:fillRect/>
          </a:stretch>
        </a:blipFill>
        <a:ln>
          <a:noFill/>
        </a:ln>
      </dgm:spPr>
    </dgm:pt>
    <dgm:pt modelId="{3F7E3569-746F-4F5D-927B-0DEB9D683C68}" type="pres">
      <dgm:prSet presAssocID="{9E2D9B1E-5BFD-4AF4-B240-3F30FDFC5C55}" presName="txShp" presStyleLbl="node1" presStyleIdx="3" presStyleCnt="5" custScaleX="121544">
        <dgm:presLayoutVars>
          <dgm:bulletEnabled val="1"/>
        </dgm:presLayoutVars>
      </dgm:prSet>
      <dgm:spPr>
        <a:xfrm rot="10800000">
          <a:off x="716554" y="2419811"/>
          <a:ext cx="6041417" cy="621101"/>
        </a:xfrm>
        <a:prstGeom prst="homePlate">
          <a:avLst/>
        </a:prstGeom>
      </dgm:spPr>
    </dgm:pt>
    <dgm:pt modelId="{94FDC8DF-B67A-4425-BA7D-F98EF9161829}" type="pres">
      <dgm:prSet presAssocID="{1AFFF5B8-8633-4827-9EDD-6D15064B3B8C}" presName="spacing" presStyleCnt="0"/>
      <dgm:spPr/>
    </dgm:pt>
    <dgm:pt modelId="{B359005D-AE7A-42E6-A78E-78108F13B09F}" type="pres">
      <dgm:prSet presAssocID="{409F09CE-2240-4936-AFA1-B639F7B1BE83}" presName="composite" presStyleCnt="0"/>
      <dgm:spPr/>
    </dgm:pt>
    <dgm:pt modelId="{0145D937-A3C0-4E84-96B3-DF149C69EA6A}" type="pres">
      <dgm:prSet presAssocID="{409F09CE-2240-4936-AFA1-B639F7B1BE83}" presName="imgShp" presStyleLbl="fgImgPlace1" presStyleIdx="4" presStyleCnt="5" custLinFactX="-51575" custLinFactNeighborX="-100000" custLinFactNeighborY="2972"/>
      <dgm:spPr>
        <a:blipFill>
          <a:blip xmlns:r="http://schemas.openxmlformats.org/officeDocument/2006/relationships" r:embed="rId9">
            <a:duotone>
              <a:prstClr val="black"/>
              <a:schemeClr val="tx2">
                <a:tint val="45000"/>
                <a:satMod val="400000"/>
              </a:schemeClr>
            </a:duotone>
            <a:lum contrast="100000"/>
            <a:extLst>
              <a:ext uri="{96DAC541-7B7A-43D3-8B79-37D633B846F1}">
                <asvg:svgBlip xmlns:asvg="http://schemas.microsoft.com/office/drawing/2016/SVG/main" r:embed="rId10"/>
              </a:ext>
            </a:extLst>
          </a:blip>
          <a:srcRect/>
          <a:stretch>
            <a:fillRect/>
          </a:stretch>
        </a:blipFill>
        <a:ln>
          <a:noFill/>
        </a:ln>
      </dgm:spPr>
    </dgm:pt>
    <dgm:pt modelId="{E4354883-37D9-48FE-9DFC-4981D8247075}" type="pres">
      <dgm:prSet presAssocID="{409F09CE-2240-4936-AFA1-B639F7B1BE83}" presName="txShp" presStyleLbl="node1" presStyleIdx="4" presStyleCnt="5" custScaleX="121882">
        <dgm:presLayoutVars>
          <dgm:bulletEnabled val="1"/>
        </dgm:presLayoutVars>
      </dgm:prSet>
      <dgm:spPr>
        <a:xfrm rot="10800000">
          <a:off x="708154" y="3226315"/>
          <a:ext cx="6058218" cy="621101"/>
        </a:xfrm>
        <a:prstGeom prst="homePlate">
          <a:avLst/>
        </a:prstGeom>
      </dgm:spPr>
    </dgm:pt>
  </dgm:ptLst>
  <dgm:cxnLst>
    <dgm:cxn modelId="{88975021-72E7-4906-88FB-9C62BA6B9F19}" type="presOf" srcId="{9E2D9B1E-5BFD-4AF4-B240-3F30FDFC5C55}" destId="{3F7E3569-746F-4F5D-927B-0DEB9D683C68}" srcOrd="0" destOrd="0" presId="urn:microsoft.com/office/officeart/2005/8/layout/vList3"/>
    <dgm:cxn modelId="{B6338B2E-268A-49D0-8472-B3F3A7D2136B}" srcId="{DF7BFAD3-2EAB-41DE-9E3C-680CE765E38F}" destId="{65DA15D2-BDBB-43CE-B266-91BA4BDE3149}" srcOrd="0" destOrd="0" parTransId="{7E57CEAB-3870-4ED8-A6F5-B23CD5B2D11E}" sibTransId="{09353053-441C-43FF-BE39-D3A4DBAA22CD}"/>
    <dgm:cxn modelId="{F7CD3532-B448-41BB-AFDB-B75DD5B012F2}" type="presOf" srcId="{409F09CE-2240-4936-AFA1-B639F7B1BE83}" destId="{E4354883-37D9-48FE-9DFC-4981D8247075}" srcOrd="0" destOrd="0" presId="urn:microsoft.com/office/officeart/2005/8/layout/vList3"/>
    <dgm:cxn modelId="{0D05F45D-F545-414D-8E41-56C1BCE20E20}" srcId="{DF7BFAD3-2EAB-41DE-9E3C-680CE765E38F}" destId="{DA8722FF-F386-4476-8AAF-3915418D87C8}" srcOrd="2" destOrd="0" parTransId="{B9DFF868-DFED-4C60-BB03-CC48F82CF9B6}" sibTransId="{1C445517-2BF4-47E8-BE3C-01277E3BBD35}"/>
    <dgm:cxn modelId="{54CAEA71-443C-4C65-B11E-D84C4D0FBE10}" type="presOf" srcId="{DA8722FF-F386-4476-8AAF-3915418D87C8}" destId="{84F8F7B9-EC8B-4665-941F-5F601E189DD0}" srcOrd="0" destOrd="0" presId="urn:microsoft.com/office/officeart/2005/8/layout/vList3"/>
    <dgm:cxn modelId="{A36A9084-C380-4865-95EB-5C542C6785AD}" type="presOf" srcId="{D6302AEF-232B-45BD-92D8-E1CDA3BA240A}" destId="{8B06D279-CE7E-4F4C-AAC9-72C68430807E}" srcOrd="0" destOrd="0" presId="urn:microsoft.com/office/officeart/2005/8/layout/vList3"/>
    <dgm:cxn modelId="{12EE4687-E673-4903-8DF6-27DC7D5400B4}" srcId="{DF7BFAD3-2EAB-41DE-9E3C-680CE765E38F}" destId="{409F09CE-2240-4936-AFA1-B639F7B1BE83}" srcOrd="4" destOrd="0" parTransId="{5FEE2090-0C90-4D89-8396-CE19A8F1C217}" sibTransId="{D46DE409-9B80-4E1A-B91A-76B2D05A3133}"/>
    <dgm:cxn modelId="{E694899D-62D9-45F8-A10C-971F556A5CD0}" type="presOf" srcId="{DF7BFAD3-2EAB-41DE-9E3C-680CE765E38F}" destId="{92C6DF4D-A5D9-44E5-AFEE-5DF2ED59369A}" srcOrd="0" destOrd="0" presId="urn:microsoft.com/office/officeart/2005/8/layout/vList3"/>
    <dgm:cxn modelId="{22C448CA-F6EE-425C-9C9B-FDCCE6554EFE}" type="presOf" srcId="{65DA15D2-BDBB-43CE-B266-91BA4BDE3149}" destId="{9CA33396-C692-4717-9924-E5472404E632}" srcOrd="0" destOrd="0" presId="urn:microsoft.com/office/officeart/2005/8/layout/vList3"/>
    <dgm:cxn modelId="{2A8F75D9-7EDA-44D4-849B-2A7C1A2E4ECE}" srcId="{DF7BFAD3-2EAB-41DE-9E3C-680CE765E38F}" destId="{9E2D9B1E-5BFD-4AF4-B240-3F30FDFC5C55}" srcOrd="3" destOrd="0" parTransId="{3DE7873D-4DC4-47EB-BC18-AB758DA71996}" sibTransId="{1AFFF5B8-8633-4827-9EDD-6D15064B3B8C}"/>
    <dgm:cxn modelId="{BEB414DC-12A1-41DE-9C9D-396F12B16A8E}" srcId="{DF7BFAD3-2EAB-41DE-9E3C-680CE765E38F}" destId="{D6302AEF-232B-45BD-92D8-E1CDA3BA240A}" srcOrd="1" destOrd="0" parTransId="{FF19C261-0D9C-4FF4-A616-E5C433695092}" sibTransId="{6576DBC2-1655-4A81-9001-FAF79BC15E1A}"/>
    <dgm:cxn modelId="{64836971-1AF6-41A7-B2B0-72200B83242C}" type="presParOf" srcId="{92C6DF4D-A5D9-44E5-AFEE-5DF2ED59369A}" destId="{754F805D-197A-4CAA-9866-8B837F74A7B2}" srcOrd="0" destOrd="0" presId="urn:microsoft.com/office/officeart/2005/8/layout/vList3"/>
    <dgm:cxn modelId="{0A15A3D4-9EE4-420B-9A41-77A3A0E80E93}" type="presParOf" srcId="{754F805D-197A-4CAA-9866-8B837F74A7B2}" destId="{7A722F18-0CD5-4909-BCAA-C6598DF487F3}" srcOrd="0" destOrd="0" presId="urn:microsoft.com/office/officeart/2005/8/layout/vList3"/>
    <dgm:cxn modelId="{F97891CC-F2AB-4A32-860E-FE6883DC22E4}" type="presParOf" srcId="{754F805D-197A-4CAA-9866-8B837F74A7B2}" destId="{9CA33396-C692-4717-9924-E5472404E632}" srcOrd="1" destOrd="0" presId="urn:microsoft.com/office/officeart/2005/8/layout/vList3"/>
    <dgm:cxn modelId="{9E8D3B6C-1755-42D4-B7D5-DA0810AB12EB}" type="presParOf" srcId="{92C6DF4D-A5D9-44E5-AFEE-5DF2ED59369A}" destId="{906BF69E-0CC7-421A-BA19-88BE7D59C69A}" srcOrd="1" destOrd="0" presId="urn:microsoft.com/office/officeart/2005/8/layout/vList3"/>
    <dgm:cxn modelId="{9113CA99-F789-4521-B0DA-DA6BCF115F59}" type="presParOf" srcId="{92C6DF4D-A5D9-44E5-AFEE-5DF2ED59369A}" destId="{A559CFC6-6461-4385-9775-368CB372C02E}" srcOrd="2" destOrd="0" presId="urn:microsoft.com/office/officeart/2005/8/layout/vList3"/>
    <dgm:cxn modelId="{DE94F131-E69D-412C-B4E2-F8026DC56704}" type="presParOf" srcId="{A559CFC6-6461-4385-9775-368CB372C02E}" destId="{61113E63-4A8C-4909-B40A-16F7B5998490}" srcOrd="0" destOrd="0" presId="urn:microsoft.com/office/officeart/2005/8/layout/vList3"/>
    <dgm:cxn modelId="{34588B2B-2F96-4989-A6E9-4BB4E6BB49AF}" type="presParOf" srcId="{A559CFC6-6461-4385-9775-368CB372C02E}" destId="{8B06D279-CE7E-4F4C-AAC9-72C68430807E}" srcOrd="1" destOrd="0" presId="urn:microsoft.com/office/officeart/2005/8/layout/vList3"/>
    <dgm:cxn modelId="{677F22A1-35A1-47B6-ABEF-D92F0B7EBFBE}" type="presParOf" srcId="{92C6DF4D-A5D9-44E5-AFEE-5DF2ED59369A}" destId="{C7F9D0AD-90E4-4188-9080-9523DA8B0C89}" srcOrd="3" destOrd="0" presId="urn:microsoft.com/office/officeart/2005/8/layout/vList3"/>
    <dgm:cxn modelId="{F9D9F52E-9ACA-4C16-B559-2E3F13E84969}" type="presParOf" srcId="{92C6DF4D-A5D9-44E5-AFEE-5DF2ED59369A}" destId="{A841F777-A8E4-41E5-BFC0-114067B8362F}" srcOrd="4" destOrd="0" presId="urn:microsoft.com/office/officeart/2005/8/layout/vList3"/>
    <dgm:cxn modelId="{0F1F290F-777B-4281-A7B9-23339F138C71}" type="presParOf" srcId="{A841F777-A8E4-41E5-BFC0-114067B8362F}" destId="{22B213BA-617C-4109-AEE2-E7CA444A7BED}" srcOrd="0" destOrd="0" presId="urn:microsoft.com/office/officeart/2005/8/layout/vList3"/>
    <dgm:cxn modelId="{DD0163DA-3FF3-413E-8288-4EBB2D6BC826}" type="presParOf" srcId="{A841F777-A8E4-41E5-BFC0-114067B8362F}" destId="{84F8F7B9-EC8B-4665-941F-5F601E189DD0}" srcOrd="1" destOrd="0" presId="urn:microsoft.com/office/officeart/2005/8/layout/vList3"/>
    <dgm:cxn modelId="{1C86C10C-B891-461E-AA8F-F5DD8CCBE105}" type="presParOf" srcId="{92C6DF4D-A5D9-44E5-AFEE-5DF2ED59369A}" destId="{A08B1B2F-E231-4032-A08B-7AA9FB34AE0A}" srcOrd="5" destOrd="0" presId="urn:microsoft.com/office/officeart/2005/8/layout/vList3"/>
    <dgm:cxn modelId="{47F6BD50-D343-4A5C-9371-7C7746CF19FE}" type="presParOf" srcId="{92C6DF4D-A5D9-44E5-AFEE-5DF2ED59369A}" destId="{B5E9B77D-067E-4DA3-8F5A-72A7A5094071}" srcOrd="6" destOrd="0" presId="urn:microsoft.com/office/officeart/2005/8/layout/vList3"/>
    <dgm:cxn modelId="{54FA5151-7D39-40B2-9099-77BE52F53092}" type="presParOf" srcId="{B5E9B77D-067E-4DA3-8F5A-72A7A5094071}" destId="{FEA5C9EA-11F3-4D33-A07C-B64ED481A285}" srcOrd="0" destOrd="0" presId="urn:microsoft.com/office/officeart/2005/8/layout/vList3"/>
    <dgm:cxn modelId="{B8662338-414B-4EEB-955F-08DABAF1F70D}" type="presParOf" srcId="{B5E9B77D-067E-4DA3-8F5A-72A7A5094071}" destId="{3F7E3569-746F-4F5D-927B-0DEB9D683C68}" srcOrd="1" destOrd="0" presId="urn:microsoft.com/office/officeart/2005/8/layout/vList3"/>
    <dgm:cxn modelId="{1C1D649C-0BD9-4046-854B-A74AC4A84CB2}" type="presParOf" srcId="{92C6DF4D-A5D9-44E5-AFEE-5DF2ED59369A}" destId="{94FDC8DF-B67A-4425-BA7D-F98EF9161829}" srcOrd="7" destOrd="0" presId="urn:microsoft.com/office/officeart/2005/8/layout/vList3"/>
    <dgm:cxn modelId="{7E2C620B-E0C7-41B4-B9C7-D74D53A33856}" type="presParOf" srcId="{92C6DF4D-A5D9-44E5-AFEE-5DF2ED59369A}" destId="{B359005D-AE7A-42E6-A78E-78108F13B09F}" srcOrd="8" destOrd="0" presId="urn:microsoft.com/office/officeart/2005/8/layout/vList3"/>
    <dgm:cxn modelId="{1540E92E-3B62-41B6-A062-A0557B088122}" type="presParOf" srcId="{B359005D-AE7A-42E6-A78E-78108F13B09F}" destId="{0145D937-A3C0-4E84-96B3-DF149C69EA6A}" srcOrd="0" destOrd="0" presId="urn:microsoft.com/office/officeart/2005/8/layout/vList3"/>
    <dgm:cxn modelId="{B93F5134-3252-4E7C-8276-DF928D875FBB}" type="presParOf" srcId="{B359005D-AE7A-42E6-A78E-78108F13B09F}" destId="{E4354883-37D9-48FE-9DFC-4981D8247075}"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B452ED-B385-4CC1-8FCB-50D0A4FA6D42}"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IN"/>
        </a:p>
      </dgm:t>
    </dgm:pt>
    <dgm:pt modelId="{4C9EF355-C69C-4E98-A1FE-03CD6C6B2964}">
      <dgm:prSet phldrT="[Text]" phldr="0"/>
      <dgm:spPr>
        <a:solidFill>
          <a:srgbClr val="358BCE"/>
        </a:solidFill>
        <a:effectLst>
          <a:softEdge rad="0"/>
        </a:effectLst>
      </dgm:spPr>
      <dgm:t>
        <a:bodyPr/>
        <a:lstStyle/>
        <a:p>
          <a:r>
            <a:rPr lang="en-US" dirty="0"/>
            <a:t>Raw Data</a:t>
          </a:r>
          <a:endParaRPr lang="en-IN" dirty="0"/>
        </a:p>
      </dgm:t>
    </dgm:pt>
    <dgm:pt modelId="{D91E01A5-23E1-40B7-82B4-2A2D1126625D}" type="parTrans" cxnId="{28B96BBB-3E1F-457D-A3B1-347AB020EC5D}">
      <dgm:prSet/>
      <dgm:spPr/>
      <dgm:t>
        <a:bodyPr/>
        <a:lstStyle/>
        <a:p>
          <a:endParaRPr lang="en-IN"/>
        </a:p>
      </dgm:t>
    </dgm:pt>
    <dgm:pt modelId="{C9ECE8EA-5252-4929-BA4B-797D8E8BE6F6}" type="sibTrans" cxnId="{28B96BBB-3E1F-457D-A3B1-347AB020EC5D}">
      <dgm:prSet/>
      <dgm:spPr/>
      <dgm:t>
        <a:bodyPr/>
        <a:lstStyle/>
        <a:p>
          <a:endParaRPr lang="en-IN"/>
        </a:p>
      </dgm:t>
    </dgm:pt>
    <dgm:pt modelId="{3748B3C1-91A1-43AC-AE0F-16F508202159}">
      <dgm:prSet phldrT="[Text]" phldr="0"/>
      <dgm:spPr>
        <a:solidFill>
          <a:srgbClr val="358BCE"/>
        </a:solidFill>
      </dgm:spPr>
      <dgm:t>
        <a:bodyPr/>
        <a:lstStyle/>
        <a:p>
          <a:r>
            <a:rPr lang="en-US" dirty="0"/>
            <a:t>Feature Engineering</a:t>
          </a:r>
          <a:endParaRPr lang="en-IN" dirty="0"/>
        </a:p>
      </dgm:t>
    </dgm:pt>
    <dgm:pt modelId="{A9417E7E-257C-4049-84A1-BFB6A462D6FC}" type="parTrans" cxnId="{5AA1A681-B593-4F7F-ABC8-8969AD81ACB2}">
      <dgm:prSet/>
      <dgm:spPr/>
      <dgm:t>
        <a:bodyPr/>
        <a:lstStyle/>
        <a:p>
          <a:endParaRPr lang="en-IN"/>
        </a:p>
      </dgm:t>
    </dgm:pt>
    <dgm:pt modelId="{4EA879DF-85A1-4C15-8E9E-0FE8B39AA427}" type="sibTrans" cxnId="{5AA1A681-B593-4F7F-ABC8-8969AD81ACB2}">
      <dgm:prSet/>
      <dgm:spPr/>
      <dgm:t>
        <a:bodyPr/>
        <a:lstStyle/>
        <a:p>
          <a:endParaRPr lang="en-IN"/>
        </a:p>
      </dgm:t>
    </dgm:pt>
    <dgm:pt modelId="{DD708474-E462-41E7-A305-BDCEE70E2A5B}">
      <dgm:prSet phldrT="[Text]" phldr="0"/>
      <dgm:spPr>
        <a:solidFill>
          <a:srgbClr val="358BCE"/>
        </a:solidFill>
      </dgm:spPr>
      <dgm:t>
        <a:bodyPr/>
        <a:lstStyle/>
        <a:p>
          <a:r>
            <a:rPr lang="en-US" dirty="0"/>
            <a:t>KPI Creation</a:t>
          </a:r>
          <a:endParaRPr lang="en-IN" dirty="0"/>
        </a:p>
      </dgm:t>
    </dgm:pt>
    <dgm:pt modelId="{319DF14C-7F0C-45F5-AA1C-A2359722D996}" type="parTrans" cxnId="{6AAECB61-1D17-478C-AC88-9265E7A95463}">
      <dgm:prSet/>
      <dgm:spPr/>
      <dgm:t>
        <a:bodyPr/>
        <a:lstStyle/>
        <a:p>
          <a:endParaRPr lang="en-IN"/>
        </a:p>
      </dgm:t>
    </dgm:pt>
    <dgm:pt modelId="{39B7EAA7-E4E6-4F92-ABC4-8F3ADD48991E}" type="sibTrans" cxnId="{6AAECB61-1D17-478C-AC88-9265E7A95463}">
      <dgm:prSet/>
      <dgm:spPr/>
      <dgm:t>
        <a:bodyPr/>
        <a:lstStyle/>
        <a:p>
          <a:endParaRPr lang="en-IN"/>
        </a:p>
      </dgm:t>
    </dgm:pt>
    <dgm:pt modelId="{B6FFEDFE-4516-4316-BB31-E08C5CE53549}">
      <dgm:prSet phldrT="[Text]" phldr="0"/>
      <dgm:spPr>
        <a:solidFill>
          <a:srgbClr val="358BCE"/>
        </a:solidFill>
      </dgm:spPr>
      <dgm:t>
        <a:bodyPr/>
        <a:lstStyle/>
        <a:p>
          <a:r>
            <a:rPr lang="en-US" dirty="0"/>
            <a:t>Business Insights</a:t>
          </a:r>
          <a:endParaRPr lang="en-IN" dirty="0"/>
        </a:p>
      </dgm:t>
    </dgm:pt>
    <dgm:pt modelId="{0AB1B9D5-DDC3-4934-821C-54D4C9B42029}" type="parTrans" cxnId="{9519FDB5-9C29-4ECC-AEC3-8EF3717B0011}">
      <dgm:prSet/>
      <dgm:spPr/>
      <dgm:t>
        <a:bodyPr/>
        <a:lstStyle/>
        <a:p>
          <a:endParaRPr lang="en-IN"/>
        </a:p>
      </dgm:t>
    </dgm:pt>
    <dgm:pt modelId="{DC96ADB3-5BC4-452C-91D9-2BB06CC5C78D}" type="sibTrans" cxnId="{9519FDB5-9C29-4ECC-AEC3-8EF3717B0011}">
      <dgm:prSet/>
      <dgm:spPr/>
      <dgm:t>
        <a:bodyPr/>
        <a:lstStyle/>
        <a:p>
          <a:endParaRPr lang="en-IN"/>
        </a:p>
      </dgm:t>
    </dgm:pt>
    <dgm:pt modelId="{E0DD5977-132D-4A72-BC4F-E4E35493E165}">
      <dgm:prSet/>
      <dgm:spPr>
        <a:solidFill>
          <a:srgbClr val="358BCE"/>
        </a:solidFill>
      </dgm:spPr>
      <dgm:t>
        <a:bodyPr/>
        <a:lstStyle/>
        <a:p>
          <a:r>
            <a:rPr lang="en-US" dirty="0"/>
            <a:t>Data Preprocessing</a:t>
          </a:r>
          <a:endParaRPr lang="en-IN" dirty="0"/>
        </a:p>
      </dgm:t>
    </dgm:pt>
    <dgm:pt modelId="{F0D00C6C-BB8C-43DD-AA92-5875181697FE}" type="parTrans" cxnId="{EDAABC53-FB5C-487F-8515-1D1E81BBC2F6}">
      <dgm:prSet/>
      <dgm:spPr/>
      <dgm:t>
        <a:bodyPr/>
        <a:lstStyle/>
        <a:p>
          <a:endParaRPr lang="en-IN"/>
        </a:p>
      </dgm:t>
    </dgm:pt>
    <dgm:pt modelId="{13ED6D8D-3CD5-4456-A30C-CB4587708362}" type="sibTrans" cxnId="{EDAABC53-FB5C-487F-8515-1D1E81BBC2F6}">
      <dgm:prSet/>
      <dgm:spPr/>
      <dgm:t>
        <a:bodyPr/>
        <a:lstStyle/>
        <a:p>
          <a:endParaRPr lang="en-IN"/>
        </a:p>
      </dgm:t>
    </dgm:pt>
    <dgm:pt modelId="{FB38741B-FA77-4064-BC58-CC8EE4B3DA9F}" type="pres">
      <dgm:prSet presAssocID="{F7B452ED-B385-4CC1-8FCB-50D0A4FA6D42}" presName="Name0" presStyleCnt="0">
        <dgm:presLayoutVars>
          <dgm:dir/>
          <dgm:animLvl val="lvl"/>
          <dgm:resizeHandles val="exact"/>
        </dgm:presLayoutVars>
      </dgm:prSet>
      <dgm:spPr/>
    </dgm:pt>
    <dgm:pt modelId="{CFA2CD5F-E59C-49A8-A601-B33C01C9B976}" type="pres">
      <dgm:prSet presAssocID="{4C9EF355-C69C-4E98-A1FE-03CD6C6B2964}" presName="parTxOnly" presStyleLbl="node1" presStyleIdx="0" presStyleCnt="5">
        <dgm:presLayoutVars>
          <dgm:chMax val="0"/>
          <dgm:chPref val="0"/>
          <dgm:bulletEnabled val="1"/>
        </dgm:presLayoutVars>
      </dgm:prSet>
      <dgm:spPr/>
    </dgm:pt>
    <dgm:pt modelId="{93129A1B-8B2C-48AC-9521-795B3A9452DE}" type="pres">
      <dgm:prSet presAssocID="{C9ECE8EA-5252-4929-BA4B-797D8E8BE6F6}" presName="parTxOnlySpace" presStyleCnt="0"/>
      <dgm:spPr/>
    </dgm:pt>
    <dgm:pt modelId="{E5473929-E233-45C3-A1E7-8D2151240139}" type="pres">
      <dgm:prSet presAssocID="{E0DD5977-132D-4A72-BC4F-E4E35493E165}" presName="parTxOnly" presStyleLbl="node1" presStyleIdx="1" presStyleCnt="5">
        <dgm:presLayoutVars>
          <dgm:chMax val="0"/>
          <dgm:chPref val="0"/>
          <dgm:bulletEnabled val="1"/>
        </dgm:presLayoutVars>
      </dgm:prSet>
      <dgm:spPr/>
    </dgm:pt>
    <dgm:pt modelId="{3132E69E-E657-4031-BADD-53B6C69559A1}" type="pres">
      <dgm:prSet presAssocID="{13ED6D8D-3CD5-4456-A30C-CB4587708362}" presName="parTxOnlySpace" presStyleCnt="0"/>
      <dgm:spPr/>
    </dgm:pt>
    <dgm:pt modelId="{52C5EBFE-F18F-42C4-BCBA-06AFCCCEB872}" type="pres">
      <dgm:prSet presAssocID="{3748B3C1-91A1-43AC-AE0F-16F508202159}" presName="parTxOnly" presStyleLbl="node1" presStyleIdx="2" presStyleCnt="5">
        <dgm:presLayoutVars>
          <dgm:chMax val="0"/>
          <dgm:chPref val="0"/>
          <dgm:bulletEnabled val="1"/>
        </dgm:presLayoutVars>
      </dgm:prSet>
      <dgm:spPr/>
    </dgm:pt>
    <dgm:pt modelId="{7EFD085F-29DD-4724-A108-01765E1D5F55}" type="pres">
      <dgm:prSet presAssocID="{4EA879DF-85A1-4C15-8E9E-0FE8B39AA427}" presName="parTxOnlySpace" presStyleCnt="0"/>
      <dgm:spPr/>
    </dgm:pt>
    <dgm:pt modelId="{B80EA30B-1DE5-4CC4-9A1C-9C280E51ED2D}" type="pres">
      <dgm:prSet presAssocID="{DD708474-E462-41E7-A305-BDCEE70E2A5B}" presName="parTxOnly" presStyleLbl="node1" presStyleIdx="3" presStyleCnt="5">
        <dgm:presLayoutVars>
          <dgm:chMax val="0"/>
          <dgm:chPref val="0"/>
          <dgm:bulletEnabled val="1"/>
        </dgm:presLayoutVars>
      </dgm:prSet>
      <dgm:spPr/>
    </dgm:pt>
    <dgm:pt modelId="{475753BB-4272-4667-8087-DB6C32EE226A}" type="pres">
      <dgm:prSet presAssocID="{39B7EAA7-E4E6-4F92-ABC4-8F3ADD48991E}" presName="parTxOnlySpace" presStyleCnt="0"/>
      <dgm:spPr/>
    </dgm:pt>
    <dgm:pt modelId="{1362CB1A-22C9-424C-B662-CC32D47818F3}" type="pres">
      <dgm:prSet presAssocID="{B6FFEDFE-4516-4316-BB31-E08C5CE53549}" presName="parTxOnly" presStyleLbl="node1" presStyleIdx="4" presStyleCnt="5">
        <dgm:presLayoutVars>
          <dgm:chMax val="0"/>
          <dgm:chPref val="0"/>
          <dgm:bulletEnabled val="1"/>
        </dgm:presLayoutVars>
      </dgm:prSet>
      <dgm:spPr/>
    </dgm:pt>
  </dgm:ptLst>
  <dgm:cxnLst>
    <dgm:cxn modelId="{2654DE22-00BB-43BF-A454-6EAF1A11DFFD}" type="presOf" srcId="{B6FFEDFE-4516-4316-BB31-E08C5CE53549}" destId="{1362CB1A-22C9-424C-B662-CC32D47818F3}" srcOrd="0" destOrd="0" presId="urn:microsoft.com/office/officeart/2005/8/layout/chevron1"/>
    <dgm:cxn modelId="{6AAECB61-1D17-478C-AC88-9265E7A95463}" srcId="{F7B452ED-B385-4CC1-8FCB-50D0A4FA6D42}" destId="{DD708474-E462-41E7-A305-BDCEE70E2A5B}" srcOrd="3" destOrd="0" parTransId="{319DF14C-7F0C-45F5-AA1C-A2359722D996}" sibTransId="{39B7EAA7-E4E6-4F92-ABC4-8F3ADD48991E}"/>
    <dgm:cxn modelId="{EDAABC53-FB5C-487F-8515-1D1E81BBC2F6}" srcId="{F7B452ED-B385-4CC1-8FCB-50D0A4FA6D42}" destId="{E0DD5977-132D-4A72-BC4F-E4E35493E165}" srcOrd="1" destOrd="0" parTransId="{F0D00C6C-BB8C-43DD-AA92-5875181697FE}" sibTransId="{13ED6D8D-3CD5-4456-A30C-CB4587708362}"/>
    <dgm:cxn modelId="{048BE353-35DD-4841-98C5-A009754277F6}" type="presOf" srcId="{DD708474-E462-41E7-A305-BDCEE70E2A5B}" destId="{B80EA30B-1DE5-4CC4-9A1C-9C280E51ED2D}" srcOrd="0" destOrd="0" presId="urn:microsoft.com/office/officeart/2005/8/layout/chevron1"/>
    <dgm:cxn modelId="{9ABF3C76-DCB3-4128-80A2-1996B0EA63DA}" type="presOf" srcId="{E0DD5977-132D-4A72-BC4F-E4E35493E165}" destId="{E5473929-E233-45C3-A1E7-8D2151240139}" srcOrd="0" destOrd="0" presId="urn:microsoft.com/office/officeart/2005/8/layout/chevron1"/>
    <dgm:cxn modelId="{5AA1A681-B593-4F7F-ABC8-8969AD81ACB2}" srcId="{F7B452ED-B385-4CC1-8FCB-50D0A4FA6D42}" destId="{3748B3C1-91A1-43AC-AE0F-16F508202159}" srcOrd="2" destOrd="0" parTransId="{A9417E7E-257C-4049-84A1-BFB6A462D6FC}" sibTransId="{4EA879DF-85A1-4C15-8E9E-0FE8B39AA427}"/>
    <dgm:cxn modelId="{A7FEA389-FC0E-49BC-A8BC-492ED25006C0}" type="presOf" srcId="{F7B452ED-B385-4CC1-8FCB-50D0A4FA6D42}" destId="{FB38741B-FA77-4064-BC58-CC8EE4B3DA9F}" srcOrd="0" destOrd="0" presId="urn:microsoft.com/office/officeart/2005/8/layout/chevron1"/>
    <dgm:cxn modelId="{BB19238C-817E-4C1C-A5CD-0F19AAC8EBB4}" type="presOf" srcId="{3748B3C1-91A1-43AC-AE0F-16F508202159}" destId="{52C5EBFE-F18F-42C4-BCBA-06AFCCCEB872}" srcOrd="0" destOrd="0" presId="urn:microsoft.com/office/officeart/2005/8/layout/chevron1"/>
    <dgm:cxn modelId="{9519FDB5-9C29-4ECC-AEC3-8EF3717B0011}" srcId="{F7B452ED-B385-4CC1-8FCB-50D0A4FA6D42}" destId="{B6FFEDFE-4516-4316-BB31-E08C5CE53549}" srcOrd="4" destOrd="0" parTransId="{0AB1B9D5-DDC3-4934-821C-54D4C9B42029}" sibTransId="{DC96ADB3-5BC4-452C-91D9-2BB06CC5C78D}"/>
    <dgm:cxn modelId="{28B96BBB-3E1F-457D-A3B1-347AB020EC5D}" srcId="{F7B452ED-B385-4CC1-8FCB-50D0A4FA6D42}" destId="{4C9EF355-C69C-4E98-A1FE-03CD6C6B2964}" srcOrd="0" destOrd="0" parTransId="{D91E01A5-23E1-40B7-82B4-2A2D1126625D}" sibTransId="{C9ECE8EA-5252-4929-BA4B-797D8E8BE6F6}"/>
    <dgm:cxn modelId="{98C959D9-EC5D-447F-B5AA-C71065C74C04}" type="presOf" srcId="{4C9EF355-C69C-4E98-A1FE-03CD6C6B2964}" destId="{CFA2CD5F-E59C-49A8-A601-B33C01C9B976}" srcOrd="0" destOrd="0" presId="urn:microsoft.com/office/officeart/2005/8/layout/chevron1"/>
    <dgm:cxn modelId="{2EB82A62-9E32-4943-B141-3DF78AF5DD6E}" type="presParOf" srcId="{FB38741B-FA77-4064-BC58-CC8EE4B3DA9F}" destId="{CFA2CD5F-E59C-49A8-A601-B33C01C9B976}" srcOrd="0" destOrd="0" presId="urn:microsoft.com/office/officeart/2005/8/layout/chevron1"/>
    <dgm:cxn modelId="{DF3765F5-C31A-4B91-951F-FA1E035B3C91}" type="presParOf" srcId="{FB38741B-FA77-4064-BC58-CC8EE4B3DA9F}" destId="{93129A1B-8B2C-48AC-9521-795B3A9452DE}" srcOrd="1" destOrd="0" presId="urn:microsoft.com/office/officeart/2005/8/layout/chevron1"/>
    <dgm:cxn modelId="{262DC77E-A549-40AB-BAB1-6D509305F1BB}" type="presParOf" srcId="{FB38741B-FA77-4064-BC58-CC8EE4B3DA9F}" destId="{E5473929-E233-45C3-A1E7-8D2151240139}" srcOrd="2" destOrd="0" presId="urn:microsoft.com/office/officeart/2005/8/layout/chevron1"/>
    <dgm:cxn modelId="{46266A8B-FA84-4835-BE3C-CD70E8710E40}" type="presParOf" srcId="{FB38741B-FA77-4064-BC58-CC8EE4B3DA9F}" destId="{3132E69E-E657-4031-BADD-53B6C69559A1}" srcOrd="3" destOrd="0" presId="urn:microsoft.com/office/officeart/2005/8/layout/chevron1"/>
    <dgm:cxn modelId="{68B5556A-85F3-42F5-B049-002F37F4CB14}" type="presParOf" srcId="{FB38741B-FA77-4064-BC58-CC8EE4B3DA9F}" destId="{52C5EBFE-F18F-42C4-BCBA-06AFCCCEB872}" srcOrd="4" destOrd="0" presId="urn:microsoft.com/office/officeart/2005/8/layout/chevron1"/>
    <dgm:cxn modelId="{98913516-318E-4F91-8F3B-6569E99AF842}" type="presParOf" srcId="{FB38741B-FA77-4064-BC58-CC8EE4B3DA9F}" destId="{7EFD085F-29DD-4724-A108-01765E1D5F55}" srcOrd="5" destOrd="0" presId="urn:microsoft.com/office/officeart/2005/8/layout/chevron1"/>
    <dgm:cxn modelId="{4CD84C2B-07D9-4273-B62E-0140C73A6796}" type="presParOf" srcId="{FB38741B-FA77-4064-BC58-CC8EE4B3DA9F}" destId="{B80EA30B-1DE5-4CC4-9A1C-9C280E51ED2D}" srcOrd="6" destOrd="0" presId="urn:microsoft.com/office/officeart/2005/8/layout/chevron1"/>
    <dgm:cxn modelId="{26DFA463-9F2C-4738-9B19-86025D653C75}" type="presParOf" srcId="{FB38741B-FA77-4064-BC58-CC8EE4B3DA9F}" destId="{475753BB-4272-4667-8087-DB6C32EE226A}" srcOrd="7" destOrd="0" presId="urn:microsoft.com/office/officeart/2005/8/layout/chevron1"/>
    <dgm:cxn modelId="{01EE2A71-BBF4-4A26-84D8-478D3E4EB230}" type="presParOf" srcId="{FB38741B-FA77-4064-BC58-CC8EE4B3DA9F}" destId="{1362CB1A-22C9-424C-B662-CC32D47818F3}"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1ADB28-0320-4274-99C2-2B574858440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IN"/>
        </a:p>
      </dgm:t>
    </dgm:pt>
    <dgm:pt modelId="{C8F71CAA-6240-4BC5-BB5F-124EA25A895A}">
      <dgm:prSet/>
      <dgm:spPr>
        <a:ln>
          <a:noFill/>
        </a:ln>
      </dgm:spPr>
      <dgm:t>
        <a:bodyPr/>
        <a:lstStyle/>
        <a:p>
          <a:r>
            <a:rPr lang="en-US" dirty="0"/>
            <a:t>Carrier Delay</a:t>
          </a:r>
          <a:endParaRPr lang="en-IN" dirty="0"/>
        </a:p>
      </dgm:t>
    </dgm:pt>
    <dgm:pt modelId="{AC711CB5-2ADB-4AFC-B203-16A4220C5358}" type="parTrans" cxnId="{78C28B65-197B-4F81-BD01-D7B6EECF6A7D}">
      <dgm:prSet/>
      <dgm:spPr/>
      <dgm:t>
        <a:bodyPr/>
        <a:lstStyle/>
        <a:p>
          <a:endParaRPr lang="en-IN"/>
        </a:p>
      </dgm:t>
    </dgm:pt>
    <dgm:pt modelId="{AA5BF4E4-A0EA-4D19-9AC3-EE2D9C4FBA11}" type="sibTrans" cxnId="{78C28B65-197B-4F81-BD01-D7B6EECF6A7D}">
      <dgm:prSet/>
      <dgm:spPr/>
      <dgm:t>
        <a:bodyPr/>
        <a:lstStyle/>
        <a:p>
          <a:endParaRPr lang="en-IN"/>
        </a:p>
      </dgm:t>
    </dgm:pt>
    <dgm:pt modelId="{B54993D8-30A4-4A5D-8F98-D2A85DE11D71}">
      <dgm:prSet/>
      <dgm:spPr>
        <a:ln>
          <a:noFill/>
        </a:ln>
      </dgm:spPr>
      <dgm:t>
        <a:bodyPr/>
        <a:lstStyle/>
        <a:p>
          <a:r>
            <a:rPr lang="en-US" dirty="0"/>
            <a:t>Late Aircraft Delay</a:t>
          </a:r>
          <a:endParaRPr lang="en-IN" dirty="0"/>
        </a:p>
      </dgm:t>
    </dgm:pt>
    <dgm:pt modelId="{22C2792C-591F-4294-A61A-83351BBEE2A2}" type="parTrans" cxnId="{AB7AC394-A22C-458A-9369-150CA824FD39}">
      <dgm:prSet/>
      <dgm:spPr/>
      <dgm:t>
        <a:bodyPr/>
        <a:lstStyle/>
        <a:p>
          <a:endParaRPr lang="en-IN"/>
        </a:p>
      </dgm:t>
    </dgm:pt>
    <dgm:pt modelId="{923EEE67-BEB5-40E2-9765-1E9EA64BF2BF}" type="sibTrans" cxnId="{AB7AC394-A22C-458A-9369-150CA824FD39}">
      <dgm:prSet/>
      <dgm:spPr/>
      <dgm:t>
        <a:bodyPr/>
        <a:lstStyle/>
        <a:p>
          <a:endParaRPr lang="en-IN"/>
        </a:p>
      </dgm:t>
    </dgm:pt>
    <dgm:pt modelId="{40D530BF-BBD2-467F-BC17-9EC6A3D76699}">
      <dgm:prSet/>
      <dgm:spPr>
        <a:ln>
          <a:noFill/>
        </a:ln>
      </dgm:spPr>
      <dgm:t>
        <a:bodyPr/>
        <a:lstStyle/>
        <a:p>
          <a:r>
            <a:rPr lang="en-US" dirty="0"/>
            <a:t>NAS (National Aviation System) Delay</a:t>
          </a:r>
          <a:endParaRPr lang="en-IN" dirty="0"/>
        </a:p>
      </dgm:t>
    </dgm:pt>
    <dgm:pt modelId="{2E6820A4-4360-4C21-9017-5150EFF16F66}" type="parTrans" cxnId="{C2EB1AE5-0E8F-43B9-801A-E172E256DE42}">
      <dgm:prSet/>
      <dgm:spPr/>
      <dgm:t>
        <a:bodyPr/>
        <a:lstStyle/>
        <a:p>
          <a:endParaRPr lang="en-IN"/>
        </a:p>
      </dgm:t>
    </dgm:pt>
    <dgm:pt modelId="{0293E927-774B-439F-BBD9-C640869B222E}" type="sibTrans" cxnId="{C2EB1AE5-0E8F-43B9-801A-E172E256DE42}">
      <dgm:prSet/>
      <dgm:spPr/>
      <dgm:t>
        <a:bodyPr/>
        <a:lstStyle/>
        <a:p>
          <a:endParaRPr lang="en-IN"/>
        </a:p>
      </dgm:t>
    </dgm:pt>
    <dgm:pt modelId="{AC5E2E11-263D-4CD9-818F-E815D00109D8}">
      <dgm:prSet/>
      <dgm:spPr>
        <a:ln>
          <a:noFill/>
        </a:ln>
      </dgm:spPr>
      <dgm:t>
        <a:bodyPr/>
        <a:lstStyle/>
        <a:p>
          <a:r>
            <a:rPr lang="en-US" dirty="0"/>
            <a:t>Security Delay</a:t>
          </a:r>
          <a:endParaRPr lang="en-IN" dirty="0"/>
        </a:p>
      </dgm:t>
    </dgm:pt>
    <dgm:pt modelId="{200AB65A-BB58-4834-8A71-F4D67D2B74D5}" type="parTrans" cxnId="{CD3A7C5C-64D5-464B-9FD7-8ACE786033F0}">
      <dgm:prSet/>
      <dgm:spPr/>
      <dgm:t>
        <a:bodyPr/>
        <a:lstStyle/>
        <a:p>
          <a:endParaRPr lang="en-IN"/>
        </a:p>
      </dgm:t>
    </dgm:pt>
    <dgm:pt modelId="{11190736-5079-490D-B783-5334A7345C9E}" type="sibTrans" cxnId="{CD3A7C5C-64D5-464B-9FD7-8ACE786033F0}">
      <dgm:prSet/>
      <dgm:spPr/>
      <dgm:t>
        <a:bodyPr/>
        <a:lstStyle/>
        <a:p>
          <a:endParaRPr lang="en-IN"/>
        </a:p>
      </dgm:t>
    </dgm:pt>
    <dgm:pt modelId="{2459E228-B436-4B9F-8CD5-5F6A89C4A2C8}">
      <dgm:prSet/>
      <dgm:spPr>
        <a:ln>
          <a:noFill/>
        </a:ln>
      </dgm:spPr>
      <dgm:t>
        <a:bodyPr/>
        <a:lstStyle/>
        <a:p>
          <a:r>
            <a:rPr lang="en-US" dirty="0"/>
            <a:t>Weather Delay</a:t>
          </a:r>
          <a:endParaRPr lang="en-IN" dirty="0"/>
        </a:p>
      </dgm:t>
    </dgm:pt>
    <dgm:pt modelId="{BE99F09F-C133-4304-A949-942E625427F4}" type="parTrans" cxnId="{71928F85-B3F0-4FBC-9EFA-E24C0550A279}">
      <dgm:prSet/>
      <dgm:spPr/>
      <dgm:t>
        <a:bodyPr/>
        <a:lstStyle/>
        <a:p>
          <a:endParaRPr lang="en-IN"/>
        </a:p>
      </dgm:t>
    </dgm:pt>
    <dgm:pt modelId="{B9428F3F-8FF0-4B2D-91D9-07111465F2ED}" type="sibTrans" cxnId="{71928F85-B3F0-4FBC-9EFA-E24C0550A279}">
      <dgm:prSet/>
      <dgm:spPr/>
      <dgm:t>
        <a:bodyPr/>
        <a:lstStyle/>
        <a:p>
          <a:endParaRPr lang="en-IN"/>
        </a:p>
      </dgm:t>
    </dgm:pt>
    <dgm:pt modelId="{5BDD22E6-3F26-4925-B5C0-AE98FA241996}">
      <dgm:prSet/>
      <dgm:spPr/>
      <dgm:t>
        <a:bodyPr/>
        <a:lstStyle/>
        <a:p>
          <a:pPr>
            <a:buFontTx/>
            <a:buNone/>
          </a:pPr>
          <a:r>
            <a:rPr lang="en-US" dirty="0">
              <a:solidFill>
                <a:srgbClr val="002060"/>
              </a:solidFill>
            </a:rPr>
            <a:t>Airline operational issues</a:t>
          </a:r>
          <a:endParaRPr lang="en-IN" dirty="0">
            <a:solidFill>
              <a:srgbClr val="002060"/>
            </a:solidFill>
          </a:endParaRPr>
        </a:p>
      </dgm:t>
    </dgm:pt>
    <dgm:pt modelId="{7D1D0FE5-2FD0-4199-8794-9EFC4A1AC449}" type="parTrans" cxnId="{94B6C0B5-E702-4151-A762-780ED9A1ECE3}">
      <dgm:prSet/>
      <dgm:spPr/>
      <dgm:t>
        <a:bodyPr/>
        <a:lstStyle/>
        <a:p>
          <a:endParaRPr lang="en-IN"/>
        </a:p>
      </dgm:t>
    </dgm:pt>
    <dgm:pt modelId="{6AAEB5EB-94B2-4D7D-B254-DFBF68ED96CB}" type="sibTrans" cxnId="{94B6C0B5-E702-4151-A762-780ED9A1ECE3}">
      <dgm:prSet/>
      <dgm:spPr/>
      <dgm:t>
        <a:bodyPr/>
        <a:lstStyle/>
        <a:p>
          <a:endParaRPr lang="en-IN"/>
        </a:p>
      </dgm:t>
    </dgm:pt>
    <dgm:pt modelId="{56097BCF-4D04-4B1B-AD87-FF4EFEEEBED9}">
      <dgm:prSet/>
      <dgm:spPr/>
      <dgm:t>
        <a:bodyPr/>
        <a:lstStyle/>
        <a:p>
          <a:pPr>
            <a:buFontTx/>
            <a:buNone/>
          </a:pPr>
          <a:r>
            <a:rPr lang="en-US" dirty="0">
              <a:solidFill>
                <a:srgbClr val="002060"/>
              </a:solidFill>
            </a:rPr>
            <a:t>Aircraft arriving late from previous flight</a:t>
          </a:r>
          <a:endParaRPr lang="en-IN" dirty="0">
            <a:solidFill>
              <a:srgbClr val="002060"/>
            </a:solidFill>
          </a:endParaRPr>
        </a:p>
      </dgm:t>
    </dgm:pt>
    <dgm:pt modelId="{BB18C872-F38A-44DE-BBC3-21AEB5185FFA}" type="parTrans" cxnId="{944F53DE-E0F2-4700-AE57-B7D318935FC4}">
      <dgm:prSet/>
      <dgm:spPr/>
      <dgm:t>
        <a:bodyPr/>
        <a:lstStyle/>
        <a:p>
          <a:endParaRPr lang="en-IN"/>
        </a:p>
      </dgm:t>
    </dgm:pt>
    <dgm:pt modelId="{1A9A1EFA-95A8-444D-B894-0322455B42BE}" type="sibTrans" cxnId="{944F53DE-E0F2-4700-AE57-B7D318935FC4}">
      <dgm:prSet/>
      <dgm:spPr/>
      <dgm:t>
        <a:bodyPr/>
        <a:lstStyle/>
        <a:p>
          <a:endParaRPr lang="en-IN"/>
        </a:p>
      </dgm:t>
    </dgm:pt>
    <dgm:pt modelId="{F7C989BB-0E33-4174-84AA-99C339F98D6D}">
      <dgm:prSet/>
      <dgm:spPr/>
      <dgm:t>
        <a:bodyPr/>
        <a:lstStyle/>
        <a:p>
          <a:pPr>
            <a:buFontTx/>
            <a:buNone/>
          </a:pPr>
          <a:r>
            <a:rPr lang="en-US" dirty="0">
              <a:solidFill>
                <a:srgbClr val="002060"/>
              </a:solidFill>
            </a:rPr>
            <a:t>Air traffic congestion</a:t>
          </a:r>
          <a:endParaRPr lang="en-IN" dirty="0">
            <a:solidFill>
              <a:srgbClr val="002060"/>
            </a:solidFill>
          </a:endParaRPr>
        </a:p>
      </dgm:t>
    </dgm:pt>
    <dgm:pt modelId="{03B0FDE7-4052-4150-BFC9-8B5B0F95445D}" type="parTrans" cxnId="{B40827E0-6B17-4958-9937-FA02C09DA475}">
      <dgm:prSet/>
      <dgm:spPr/>
      <dgm:t>
        <a:bodyPr/>
        <a:lstStyle/>
        <a:p>
          <a:endParaRPr lang="en-IN"/>
        </a:p>
      </dgm:t>
    </dgm:pt>
    <dgm:pt modelId="{F753FDE6-2850-4CDB-A746-F644DE9CC28A}" type="sibTrans" cxnId="{B40827E0-6B17-4958-9937-FA02C09DA475}">
      <dgm:prSet/>
      <dgm:spPr/>
      <dgm:t>
        <a:bodyPr/>
        <a:lstStyle/>
        <a:p>
          <a:endParaRPr lang="en-IN"/>
        </a:p>
      </dgm:t>
    </dgm:pt>
    <dgm:pt modelId="{BFFA1506-53EA-4556-B5C1-7BABE208E228}">
      <dgm:prSet/>
      <dgm:spPr/>
      <dgm:t>
        <a:bodyPr/>
        <a:lstStyle/>
        <a:p>
          <a:pPr>
            <a:buFontTx/>
            <a:buNone/>
          </a:pPr>
          <a:r>
            <a:rPr lang="en-US" dirty="0">
              <a:solidFill>
                <a:srgbClr val="002060"/>
              </a:solidFill>
            </a:rPr>
            <a:t>Security issues</a:t>
          </a:r>
          <a:endParaRPr lang="en-IN" dirty="0">
            <a:solidFill>
              <a:srgbClr val="002060"/>
            </a:solidFill>
          </a:endParaRPr>
        </a:p>
      </dgm:t>
    </dgm:pt>
    <dgm:pt modelId="{CB4C15E2-E0F1-4E97-B114-8D7B9AC3CB87}" type="parTrans" cxnId="{FCDB0FC5-1C7C-47F4-8B59-3F9ACE3F17D3}">
      <dgm:prSet/>
      <dgm:spPr/>
      <dgm:t>
        <a:bodyPr/>
        <a:lstStyle/>
        <a:p>
          <a:endParaRPr lang="en-IN"/>
        </a:p>
      </dgm:t>
    </dgm:pt>
    <dgm:pt modelId="{0E80B67A-6374-47B4-9F36-AE1AB0B0036A}" type="sibTrans" cxnId="{FCDB0FC5-1C7C-47F4-8B59-3F9ACE3F17D3}">
      <dgm:prSet/>
      <dgm:spPr/>
      <dgm:t>
        <a:bodyPr/>
        <a:lstStyle/>
        <a:p>
          <a:endParaRPr lang="en-IN"/>
        </a:p>
      </dgm:t>
    </dgm:pt>
    <dgm:pt modelId="{827DCE99-BA6F-460F-9771-60A9C6901435}">
      <dgm:prSet/>
      <dgm:spPr/>
      <dgm:t>
        <a:bodyPr/>
        <a:lstStyle/>
        <a:p>
          <a:pPr>
            <a:buFontTx/>
            <a:buNone/>
          </a:pPr>
          <a:r>
            <a:rPr lang="en-US" dirty="0">
              <a:solidFill>
                <a:srgbClr val="002060"/>
              </a:solidFill>
            </a:rPr>
            <a:t>Extreme weather events</a:t>
          </a:r>
          <a:endParaRPr lang="en-IN" dirty="0">
            <a:solidFill>
              <a:srgbClr val="002060"/>
            </a:solidFill>
          </a:endParaRPr>
        </a:p>
      </dgm:t>
    </dgm:pt>
    <dgm:pt modelId="{5C620FAA-BCD9-4956-B0FD-5E2DA34A5F88}" type="parTrans" cxnId="{99875AB6-5AD3-4F16-A482-F49C4684657F}">
      <dgm:prSet/>
      <dgm:spPr/>
      <dgm:t>
        <a:bodyPr/>
        <a:lstStyle/>
        <a:p>
          <a:endParaRPr lang="en-IN"/>
        </a:p>
      </dgm:t>
    </dgm:pt>
    <dgm:pt modelId="{456C099F-E3F8-4DBA-B29A-ED1F54478C8A}" type="sibTrans" cxnId="{99875AB6-5AD3-4F16-A482-F49C4684657F}">
      <dgm:prSet/>
      <dgm:spPr/>
      <dgm:t>
        <a:bodyPr/>
        <a:lstStyle/>
        <a:p>
          <a:endParaRPr lang="en-IN"/>
        </a:p>
      </dgm:t>
    </dgm:pt>
    <dgm:pt modelId="{D8B92051-338D-41CE-987A-ACB3698D89F2}" type="pres">
      <dgm:prSet presAssocID="{CE1ADB28-0320-4274-99C2-2B5748584404}" presName="Name0" presStyleCnt="0">
        <dgm:presLayoutVars>
          <dgm:dir/>
          <dgm:animLvl val="lvl"/>
          <dgm:resizeHandles val="exact"/>
        </dgm:presLayoutVars>
      </dgm:prSet>
      <dgm:spPr/>
    </dgm:pt>
    <dgm:pt modelId="{E2D1A162-093D-4C4F-945A-9CA8D39D1275}" type="pres">
      <dgm:prSet presAssocID="{C8F71CAA-6240-4BC5-BB5F-124EA25A895A}" presName="linNode" presStyleCnt="0"/>
      <dgm:spPr/>
    </dgm:pt>
    <dgm:pt modelId="{D951A3E5-48E7-4FC0-8415-24A97190A288}" type="pres">
      <dgm:prSet presAssocID="{C8F71CAA-6240-4BC5-BB5F-124EA25A895A}" presName="parentText" presStyleLbl="node1" presStyleIdx="0" presStyleCnt="5">
        <dgm:presLayoutVars>
          <dgm:chMax val="1"/>
          <dgm:bulletEnabled val="1"/>
        </dgm:presLayoutVars>
      </dgm:prSet>
      <dgm:spPr/>
    </dgm:pt>
    <dgm:pt modelId="{4B9CFEBD-49C5-4DD4-81A7-50F8360B0944}" type="pres">
      <dgm:prSet presAssocID="{C8F71CAA-6240-4BC5-BB5F-124EA25A895A}" presName="descendantText" presStyleLbl="alignAccFollowNode1" presStyleIdx="0" presStyleCnt="5">
        <dgm:presLayoutVars>
          <dgm:bulletEnabled val="1"/>
        </dgm:presLayoutVars>
      </dgm:prSet>
      <dgm:spPr/>
    </dgm:pt>
    <dgm:pt modelId="{816D9AA9-86CA-4DA9-92BB-086165CAEE37}" type="pres">
      <dgm:prSet presAssocID="{AA5BF4E4-A0EA-4D19-9AC3-EE2D9C4FBA11}" presName="sp" presStyleCnt="0"/>
      <dgm:spPr/>
    </dgm:pt>
    <dgm:pt modelId="{181978D2-E67A-4A7E-B50A-F7720C8C6B15}" type="pres">
      <dgm:prSet presAssocID="{B54993D8-30A4-4A5D-8F98-D2A85DE11D71}" presName="linNode" presStyleCnt="0"/>
      <dgm:spPr/>
    </dgm:pt>
    <dgm:pt modelId="{0314A38E-32D1-4BAB-BBCC-328CDDDFB136}" type="pres">
      <dgm:prSet presAssocID="{B54993D8-30A4-4A5D-8F98-D2A85DE11D71}" presName="parentText" presStyleLbl="node1" presStyleIdx="1" presStyleCnt="5">
        <dgm:presLayoutVars>
          <dgm:chMax val="1"/>
          <dgm:bulletEnabled val="1"/>
        </dgm:presLayoutVars>
      </dgm:prSet>
      <dgm:spPr/>
    </dgm:pt>
    <dgm:pt modelId="{BC7ED71E-8D51-42C0-91DE-40B9727221FB}" type="pres">
      <dgm:prSet presAssocID="{B54993D8-30A4-4A5D-8F98-D2A85DE11D71}" presName="descendantText" presStyleLbl="alignAccFollowNode1" presStyleIdx="1" presStyleCnt="5">
        <dgm:presLayoutVars>
          <dgm:bulletEnabled val="1"/>
        </dgm:presLayoutVars>
      </dgm:prSet>
      <dgm:spPr/>
    </dgm:pt>
    <dgm:pt modelId="{9607095E-2B4D-421D-BDCB-16DBDE5492B1}" type="pres">
      <dgm:prSet presAssocID="{923EEE67-BEB5-40E2-9765-1E9EA64BF2BF}" presName="sp" presStyleCnt="0"/>
      <dgm:spPr/>
    </dgm:pt>
    <dgm:pt modelId="{DA1806D4-8858-44B7-A2C4-408CE7F91C80}" type="pres">
      <dgm:prSet presAssocID="{40D530BF-BBD2-467F-BC17-9EC6A3D76699}" presName="linNode" presStyleCnt="0"/>
      <dgm:spPr/>
    </dgm:pt>
    <dgm:pt modelId="{38F43CE3-0186-45B4-A202-2A84CE2C59F7}" type="pres">
      <dgm:prSet presAssocID="{40D530BF-BBD2-467F-BC17-9EC6A3D76699}" presName="parentText" presStyleLbl="node1" presStyleIdx="2" presStyleCnt="5">
        <dgm:presLayoutVars>
          <dgm:chMax val="1"/>
          <dgm:bulletEnabled val="1"/>
        </dgm:presLayoutVars>
      </dgm:prSet>
      <dgm:spPr/>
    </dgm:pt>
    <dgm:pt modelId="{3CF7299C-D561-45E4-9973-9986A0F241FA}" type="pres">
      <dgm:prSet presAssocID="{40D530BF-BBD2-467F-BC17-9EC6A3D76699}" presName="descendantText" presStyleLbl="alignAccFollowNode1" presStyleIdx="2" presStyleCnt="5">
        <dgm:presLayoutVars>
          <dgm:bulletEnabled val="1"/>
        </dgm:presLayoutVars>
      </dgm:prSet>
      <dgm:spPr/>
    </dgm:pt>
    <dgm:pt modelId="{862B09FA-58C5-41CC-93F4-C65352BFC308}" type="pres">
      <dgm:prSet presAssocID="{0293E927-774B-439F-BBD9-C640869B222E}" presName="sp" presStyleCnt="0"/>
      <dgm:spPr/>
    </dgm:pt>
    <dgm:pt modelId="{3F63DBF3-A98B-4071-867A-4AA50FA34E2B}" type="pres">
      <dgm:prSet presAssocID="{AC5E2E11-263D-4CD9-818F-E815D00109D8}" presName="linNode" presStyleCnt="0"/>
      <dgm:spPr/>
    </dgm:pt>
    <dgm:pt modelId="{C9B18BE1-2DB0-474B-819F-F4BD61D23496}" type="pres">
      <dgm:prSet presAssocID="{AC5E2E11-263D-4CD9-818F-E815D00109D8}" presName="parentText" presStyleLbl="node1" presStyleIdx="3" presStyleCnt="5">
        <dgm:presLayoutVars>
          <dgm:chMax val="1"/>
          <dgm:bulletEnabled val="1"/>
        </dgm:presLayoutVars>
      </dgm:prSet>
      <dgm:spPr/>
    </dgm:pt>
    <dgm:pt modelId="{94F9D366-758E-45BC-B047-28DCBEF829DA}" type="pres">
      <dgm:prSet presAssocID="{AC5E2E11-263D-4CD9-818F-E815D00109D8}" presName="descendantText" presStyleLbl="alignAccFollowNode1" presStyleIdx="3" presStyleCnt="5">
        <dgm:presLayoutVars>
          <dgm:bulletEnabled val="1"/>
        </dgm:presLayoutVars>
      </dgm:prSet>
      <dgm:spPr/>
    </dgm:pt>
    <dgm:pt modelId="{9383B668-5B7C-4DEF-AA02-46F5A071DF70}" type="pres">
      <dgm:prSet presAssocID="{11190736-5079-490D-B783-5334A7345C9E}" presName="sp" presStyleCnt="0"/>
      <dgm:spPr/>
    </dgm:pt>
    <dgm:pt modelId="{C9015EE9-B05A-4C41-BBDC-DCC06C991A6B}" type="pres">
      <dgm:prSet presAssocID="{2459E228-B436-4B9F-8CD5-5F6A89C4A2C8}" presName="linNode" presStyleCnt="0"/>
      <dgm:spPr/>
    </dgm:pt>
    <dgm:pt modelId="{93081567-2CD2-4E53-81CD-AA5E06D25640}" type="pres">
      <dgm:prSet presAssocID="{2459E228-B436-4B9F-8CD5-5F6A89C4A2C8}" presName="parentText" presStyleLbl="node1" presStyleIdx="4" presStyleCnt="5">
        <dgm:presLayoutVars>
          <dgm:chMax val="1"/>
          <dgm:bulletEnabled val="1"/>
        </dgm:presLayoutVars>
      </dgm:prSet>
      <dgm:spPr/>
    </dgm:pt>
    <dgm:pt modelId="{28BA7FB0-5CFB-48A5-BD06-07AB0134DE59}" type="pres">
      <dgm:prSet presAssocID="{2459E228-B436-4B9F-8CD5-5F6A89C4A2C8}" presName="descendantText" presStyleLbl="alignAccFollowNode1" presStyleIdx="4" presStyleCnt="5">
        <dgm:presLayoutVars>
          <dgm:bulletEnabled val="1"/>
        </dgm:presLayoutVars>
      </dgm:prSet>
      <dgm:spPr/>
    </dgm:pt>
  </dgm:ptLst>
  <dgm:cxnLst>
    <dgm:cxn modelId="{7BB5B31D-EC88-49BE-A318-629CB2086E80}" type="presOf" srcId="{BFFA1506-53EA-4556-B5C1-7BABE208E228}" destId="{94F9D366-758E-45BC-B047-28DCBEF829DA}" srcOrd="0" destOrd="0" presId="urn:microsoft.com/office/officeart/2005/8/layout/vList5"/>
    <dgm:cxn modelId="{DEBD0726-8567-4DA4-AC4E-6F7D2F0F2CB7}" type="presOf" srcId="{F7C989BB-0E33-4174-84AA-99C339F98D6D}" destId="{3CF7299C-D561-45E4-9973-9986A0F241FA}" srcOrd="0" destOrd="0" presId="urn:microsoft.com/office/officeart/2005/8/layout/vList5"/>
    <dgm:cxn modelId="{E6F7DE26-F8EA-4CD1-BD41-D7CA561898C4}" type="presOf" srcId="{C8F71CAA-6240-4BC5-BB5F-124EA25A895A}" destId="{D951A3E5-48E7-4FC0-8415-24A97190A288}" srcOrd="0" destOrd="0" presId="urn:microsoft.com/office/officeart/2005/8/layout/vList5"/>
    <dgm:cxn modelId="{EC27EA36-4090-4659-95A9-5E9FBF6FA39B}" type="presOf" srcId="{B54993D8-30A4-4A5D-8F98-D2A85DE11D71}" destId="{0314A38E-32D1-4BAB-BBCC-328CDDDFB136}" srcOrd="0" destOrd="0" presId="urn:microsoft.com/office/officeart/2005/8/layout/vList5"/>
    <dgm:cxn modelId="{CD3A7C5C-64D5-464B-9FD7-8ACE786033F0}" srcId="{CE1ADB28-0320-4274-99C2-2B5748584404}" destId="{AC5E2E11-263D-4CD9-818F-E815D00109D8}" srcOrd="3" destOrd="0" parTransId="{200AB65A-BB58-4834-8A71-F4D67D2B74D5}" sibTransId="{11190736-5079-490D-B783-5334A7345C9E}"/>
    <dgm:cxn modelId="{DB436564-1FC5-4D9F-930C-5575C09EEB70}" type="presOf" srcId="{827DCE99-BA6F-460F-9771-60A9C6901435}" destId="{28BA7FB0-5CFB-48A5-BD06-07AB0134DE59}" srcOrd="0" destOrd="0" presId="urn:microsoft.com/office/officeart/2005/8/layout/vList5"/>
    <dgm:cxn modelId="{78C28B65-197B-4F81-BD01-D7B6EECF6A7D}" srcId="{CE1ADB28-0320-4274-99C2-2B5748584404}" destId="{C8F71CAA-6240-4BC5-BB5F-124EA25A895A}" srcOrd="0" destOrd="0" parTransId="{AC711CB5-2ADB-4AFC-B203-16A4220C5358}" sibTransId="{AA5BF4E4-A0EA-4D19-9AC3-EE2D9C4FBA11}"/>
    <dgm:cxn modelId="{26136F4F-01FF-4363-AC78-A93FF90E8DC7}" type="presOf" srcId="{56097BCF-4D04-4B1B-AD87-FF4EFEEEBED9}" destId="{BC7ED71E-8D51-42C0-91DE-40B9727221FB}" srcOrd="0" destOrd="0" presId="urn:microsoft.com/office/officeart/2005/8/layout/vList5"/>
    <dgm:cxn modelId="{CE441474-C8A4-492B-B0E8-28DE535D4B5F}" type="presOf" srcId="{5BDD22E6-3F26-4925-B5C0-AE98FA241996}" destId="{4B9CFEBD-49C5-4DD4-81A7-50F8360B0944}" srcOrd="0" destOrd="0" presId="urn:microsoft.com/office/officeart/2005/8/layout/vList5"/>
    <dgm:cxn modelId="{B1573359-A1DD-4349-BF38-526A57141375}" type="presOf" srcId="{40D530BF-BBD2-467F-BC17-9EC6A3D76699}" destId="{38F43CE3-0186-45B4-A202-2A84CE2C59F7}" srcOrd="0" destOrd="0" presId="urn:microsoft.com/office/officeart/2005/8/layout/vList5"/>
    <dgm:cxn modelId="{71928F85-B3F0-4FBC-9EFA-E24C0550A279}" srcId="{CE1ADB28-0320-4274-99C2-2B5748584404}" destId="{2459E228-B436-4B9F-8CD5-5F6A89C4A2C8}" srcOrd="4" destOrd="0" parTransId="{BE99F09F-C133-4304-A949-942E625427F4}" sibTransId="{B9428F3F-8FF0-4B2D-91D9-07111465F2ED}"/>
    <dgm:cxn modelId="{E48F6B92-7A03-4BAF-9869-4A6389BD5AC7}" type="presOf" srcId="{AC5E2E11-263D-4CD9-818F-E815D00109D8}" destId="{C9B18BE1-2DB0-474B-819F-F4BD61D23496}" srcOrd="0" destOrd="0" presId="urn:microsoft.com/office/officeart/2005/8/layout/vList5"/>
    <dgm:cxn modelId="{AB7AC394-A22C-458A-9369-150CA824FD39}" srcId="{CE1ADB28-0320-4274-99C2-2B5748584404}" destId="{B54993D8-30A4-4A5D-8F98-D2A85DE11D71}" srcOrd="1" destOrd="0" parTransId="{22C2792C-591F-4294-A61A-83351BBEE2A2}" sibTransId="{923EEE67-BEB5-40E2-9765-1E9EA64BF2BF}"/>
    <dgm:cxn modelId="{94B6C0B5-E702-4151-A762-780ED9A1ECE3}" srcId="{C8F71CAA-6240-4BC5-BB5F-124EA25A895A}" destId="{5BDD22E6-3F26-4925-B5C0-AE98FA241996}" srcOrd="0" destOrd="0" parTransId="{7D1D0FE5-2FD0-4199-8794-9EFC4A1AC449}" sibTransId="{6AAEB5EB-94B2-4D7D-B254-DFBF68ED96CB}"/>
    <dgm:cxn modelId="{99875AB6-5AD3-4F16-A482-F49C4684657F}" srcId="{2459E228-B436-4B9F-8CD5-5F6A89C4A2C8}" destId="{827DCE99-BA6F-460F-9771-60A9C6901435}" srcOrd="0" destOrd="0" parTransId="{5C620FAA-BCD9-4956-B0FD-5E2DA34A5F88}" sibTransId="{456C099F-E3F8-4DBA-B29A-ED1F54478C8A}"/>
    <dgm:cxn modelId="{FCDB0FC5-1C7C-47F4-8B59-3F9ACE3F17D3}" srcId="{AC5E2E11-263D-4CD9-818F-E815D00109D8}" destId="{BFFA1506-53EA-4556-B5C1-7BABE208E228}" srcOrd="0" destOrd="0" parTransId="{CB4C15E2-E0F1-4E97-B114-8D7B9AC3CB87}" sibTransId="{0E80B67A-6374-47B4-9F36-AE1AB0B0036A}"/>
    <dgm:cxn modelId="{55845DC9-A551-49FB-AD75-5965AC0F1184}" type="presOf" srcId="{CE1ADB28-0320-4274-99C2-2B5748584404}" destId="{D8B92051-338D-41CE-987A-ACB3698D89F2}" srcOrd="0" destOrd="0" presId="urn:microsoft.com/office/officeart/2005/8/layout/vList5"/>
    <dgm:cxn modelId="{0C3D56D6-2C6E-4B9B-A8EE-685D25D51737}" type="presOf" srcId="{2459E228-B436-4B9F-8CD5-5F6A89C4A2C8}" destId="{93081567-2CD2-4E53-81CD-AA5E06D25640}" srcOrd="0" destOrd="0" presId="urn:microsoft.com/office/officeart/2005/8/layout/vList5"/>
    <dgm:cxn modelId="{944F53DE-E0F2-4700-AE57-B7D318935FC4}" srcId="{B54993D8-30A4-4A5D-8F98-D2A85DE11D71}" destId="{56097BCF-4D04-4B1B-AD87-FF4EFEEEBED9}" srcOrd="0" destOrd="0" parTransId="{BB18C872-F38A-44DE-BBC3-21AEB5185FFA}" sibTransId="{1A9A1EFA-95A8-444D-B894-0322455B42BE}"/>
    <dgm:cxn modelId="{B40827E0-6B17-4958-9937-FA02C09DA475}" srcId="{40D530BF-BBD2-467F-BC17-9EC6A3D76699}" destId="{F7C989BB-0E33-4174-84AA-99C339F98D6D}" srcOrd="0" destOrd="0" parTransId="{03B0FDE7-4052-4150-BFC9-8B5B0F95445D}" sibTransId="{F753FDE6-2850-4CDB-A746-F644DE9CC28A}"/>
    <dgm:cxn modelId="{C2EB1AE5-0E8F-43B9-801A-E172E256DE42}" srcId="{CE1ADB28-0320-4274-99C2-2B5748584404}" destId="{40D530BF-BBD2-467F-BC17-9EC6A3D76699}" srcOrd="2" destOrd="0" parTransId="{2E6820A4-4360-4C21-9017-5150EFF16F66}" sibTransId="{0293E927-774B-439F-BBD9-C640869B222E}"/>
    <dgm:cxn modelId="{E70FD0B8-9CB8-4ECC-9AAE-955C61A07A40}" type="presParOf" srcId="{D8B92051-338D-41CE-987A-ACB3698D89F2}" destId="{E2D1A162-093D-4C4F-945A-9CA8D39D1275}" srcOrd="0" destOrd="0" presId="urn:microsoft.com/office/officeart/2005/8/layout/vList5"/>
    <dgm:cxn modelId="{70A84181-B47E-4EFD-9438-7BD139BA4F5E}" type="presParOf" srcId="{E2D1A162-093D-4C4F-945A-9CA8D39D1275}" destId="{D951A3E5-48E7-4FC0-8415-24A97190A288}" srcOrd="0" destOrd="0" presId="urn:microsoft.com/office/officeart/2005/8/layout/vList5"/>
    <dgm:cxn modelId="{707278DB-73F8-46E3-B8B5-9AC273E478BE}" type="presParOf" srcId="{E2D1A162-093D-4C4F-945A-9CA8D39D1275}" destId="{4B9CFEBD-49C5-4DD4-81A7-50F8360B0944}" srcOrd="1" destOrd="0" presId="urn:microsoft.com/office/officeart/2005/8/layout/vList5"/>
    <dgm:cxn modelId="{FB870280-5366-449B-9902-2168339AE751}" type="presParOf" srcId="{D8B92051-338D-41CE-987A-ACB3698D89F2}" destId="{816D9AA9-86CA-4DA9-92BB-086165CAEE37}" srcOrd="1" destOrd="0" presId="urn:microsoft.com/office/officeart/2005/8/layout/vList5"/>
    <dgm:cxn modelId="{B84E5F29-11D5-4F9D-9799-DB40D2D63AA7}" type="presParOf" srcId="{D8B92051-338D-41CE-987A-ACB3698D89F2}" destId="{181978D2-E67A-4A7E-B50A-F7720C8C6B15}" srcOrd="2" destOrd="0" presId="urn:microsoft.com/office/officeart/2005/8/layout/vList5"/>
    <dgm:cxn modelId="{0B6BE643-91B2-425B-83AA-22A8890D3F71}" type="presParOf" srcId="{181978D2-E67A-4A7E-B50A-F7720C8C6B15}" destId="{0314A38E-32D1-4BAB-BBCC-328CDDDFB136}" srcOrd="0" destOrd="0" presId="urn:microsoft.com/office/officeart/2005/8/layout/vList5"/>
    <dgm:cxn modelId="{56ECF2EC-88B2-4B97-9DE3-927E8B8FE9F2}" type="presParOf" srcId="{181978D2-E67A-4A7E-B50A-F7720C8C6B15}" destId="{BC7ED71E-8D51-42C0-91DE-40B9727221FB}" srcOrd="1" destOrd="0" presId="urn:microsoft.com/office/officeart/2005/8/layout/vList5"/>
    <dgm:cxn modelId="{DF723B72-2C7A-41BC-A1A9-419D29F5E6F4}" type="presParOf" srcId="{D8B92051-338D-41CE-987A-ACB3698D89F2}" destId="{9607095E-2B4D-421D-BDCB-16DBDE5492B1}" srcOrd="3" destOrd="0" presId="urn:microsoft.com/office/officeart/2005/8/layout/vList5"/>
    <dgm:cxn modelId="{E34CC8B4-866C-49AA-A945-DB791019F002}" type="presParOf" srcId="{D8B92051-338D-41CE-987A-ACB3698D89F2}" destId="{DA1806D4-8858-44B7-A2C4-408CE7F91C80}" srcOrd="4" destOrd="0" presId="urn:microsoft.com/office/officeart/2005/8/layout/vList5"/>
    <dgm:cxn modelId="{F4577DD8-17C4-4F72-A3AE-D756F5F8CDF9}" type="presParOf" srcId="{DA1806D4-8858-44B7-A2C4-408CE7F91C80}" destId="{38F43CE3-0186-45B4-A202-2A84CE2C59F7}" srcOrd="0" destOrd="0" presId="urn:microsoft.com/office/officeart/2005/8/layout/vList5"/>
    <dgm:cxn modelId="{C043A724-F77E-40DE-A505-B6DE1F8874EC}" type="presParOf" srcId="{DA1806D4-8858-44B7-A2C4-408CE7F91C80}" destId="{3CF7299C-D561-45E4-9973-9986A0F241FA}" srcOrd="1" destOrd="0" presId="urn:microsoft.com/office/officeart/2005/8/layout/vList5"/>
    <dgm:cxn modelId="{5E48D4D3-1E17-46BA-9919-995D6E68059A}" type="presParOf" srcId="{D8B92051-338D-41CE-987A-ACB3698D89F2}" destId="{862B09FA-58C5-41CC-93F4-C65352BFC308}" srcOrd="5" destOrd="0" presId="urn:microsoft.com/office/officeart/2005/8/layout/vList5"/>
    <dgm:cxn modelId="{AF7ED325-7F9A-4914-B511-D765AF79E304}" type="presParOf" srcId="{D8B92051-338D-41CE-987A-ACB3698D89F2}" destId="{3F63DBF3-A98B-4071-867A-4AA50FA34E2B}" srcOrd="6" destOrd="0" presId="urn:microsoft.com/office/officeart/2005/8/layout/vList5"/>
    <dgm:cxn modelId="{E72F0B87-94C8-4E15-9ABF-DF326E138C43}" type="presParOf" srcId="{3F63DBF3-A98B-4071-867A-4AA50FA34E2B}" destId="{C9B18BE1-2DB0-474B-819F-F4BD61D23496}" srcOrd="0" destOrd="0" presId="urn:microsoft.com/office/officeart/2005/8/layout/vList5"/>
    <dgm:cxn modelId="{C70199C1-4382-4FE3-B6D6-44A8967010E7}" type="presParOf" srcId="{3F63DBF3-A98B-4071-867A-4AA50FA34E2B}" destId="{94F9D366-758E-45BC-B047-28DCBEF829DA}" srcOrd="1" destOrd="0" presId="urn:microsoft.com/office/officeart/2005/8/layout/vList5"/>
    <dgm:cxn modelId="{A0D30527-81F3-4917-B1EF-FBF01E8A4A14}" type="presParOf" srcId="{D8B92051-338D-41CE-987A-ACB3698D89F2}" destId="{9383B668-5B7C-4DEF-AA02-46F5A071DF70}" srcOrd="7" destOrd="0" presId="urn:microsoft.com/office/officeart/2005/8/layout/vList5"/>
    <dgm:cxn modelId="{7432AB32-F3B1-4599-A138-6816EF8ACC58}" type="presParOf" srcId="{D8B92051-338D-41CE-987A-ACB3698D89F2}" destId="{C9015EE9-B05A-4C41-BBDC-DCC06C991A6B}" srcOrd="8" destOrd="0" presId="urn:microsoft.com/office/officeart/2005/8/layout/vList5"/>
    <dgm:cxn modelId="{55B14FCD-75FA-42DD-A3E3-5F79FEAA385E}" type="presParOf" srcId="{C9015EE9-B05A-4C41-BBDC-DCC06C991A6B}" destId="{93081567-2CD2-4E53-81CD-AA5E06D25640}" srcOrd="0" destOrd="0" presId="urn:microsoft.com/office/officeart/2005/8/layout/vList5"/>
    <dgm:cxn modelId="{14D0DBA7-4785-4E32-843A-51F4C2B2EEB8}" type="presParOf" srcId="{C9015EE9-B05A-4C41-BBDC-DCC06C991A6B}" destId="{28BA7FB0-5CFB-48A5-BD06-07AB0134DE5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B57B18C-AA2E-4495-8478-623802268D1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51331733-6FDA-4DC8-8C88-785174BE37EF}">
      <dgm:prSet/>
      <dgm:spPr>
        <a:effectLst>
          <a:softEdge rad="38100"/>
        </a:effectLst>
      </dgm:spPr>
      <dgm:t>
        <a:bodyPr/>
        <a:lstStyle/>
        <a:p>
          <a:r>
            <a:rPr lang="en-IN" dirty="0"/>
            <a:t>Delay Rate</a:t>
          </a:r>
        </a:p>
      </dgm:t>
    </dgm:pt>
    <dgm:pt modelId="{4811E014-EA5F-4F3C-A0D4-02EEFECBCD58}" type="parTrans" cxnId="{CC740268-5C8D-4AFC-8FEB-C490622A0202}">
      <dgm:prSet/>
      <dgm:spPr/>
      <dgm:t>
        <a:bodyPr/>
        <a:lstStyle/>
        <a:p>
          <a:endParaRPr lang="en-IN"/>
        </a:p>
      </dgm:t>
    </dgm:pt>
    <dgm:pt modelId="{772CF228-2D62-486B-B80F-0FD891B55479}" type="sibTrans" cxnId="{CC740268-5C8D-4AFC-8FEB-C490622A0202}">
      <dgm:prSet/>
      <dgm:spPr/>
      <dgm:t>
        <a:bodyPr/>
        <a:lstStyle/>
        <a:p>
          <a:endParaRPr lang="en-IN"/>
        </a:p>
      </dgm:t>
    </dgm:pt>
    <dgm:pt modelId="{AC12AE8B-4012-49EE-A795-078E56D58C71}">
      <dgm:prSet/>
      <dgm:spPr>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a:softEdge rad="38100"/>
        </a:effectLst>
      </dgm:spPr>
      <dgm:t>
        <a:bodyPr spcFirstLastPara="0" vert="horz" wrap="square" lIns="184912" tIns="105664" rIns="184912" bIns="105664" numCol="1" spcCol="1270" anchor="ctr" anchorCtr="0"/>
        <a:lstStyle/>
        <a:p>
          <a:r>
            <a:rPr lang="en-IN" dirty="0"/>
            <a:t>Delay Frequency</a:t>
          </a:r>
        </a:p>
      </dgm:t>
    </dgm:pt>
    <dgm:pt modelId="{B8A7C05F-34E5-4C01-A0CE-9D2AF32CB40B}" type="parTrans" cxnId="{A00289A7-7726-404B-9B3B-DA1EE997472B}">
      <dgm:prSet/>
      <dgm:spPr/>
      <dgm:t>
        <a:bodyPr/>
        <a:lstStyle/>
        <a:p>
          <a:endParaRPr lang="en-IN"/>
        </a:p>
      </dgm:t>
    </dgm:pt>
    <dgm:pt modelId="{EA5279D4-2940-4176-A49E-6277E860C146}" type="sibTrans" cxnId="{A00289A7-7726-404B-9B3B-DA1EE997472B}">
      <dgm:prSet/>
      <dgm:spPr/>
      <dgm:t>
        <a:bodyPr/>
        <a:lstStyle/>
        <a:p>
          <a:endParaRPr lang="en-IN"/>
        </a:p>
      </dgm:t>
    </dgm:pt>
    <dgm:pt modelId="{C432B28F-DA7B-4AE4-AADC-2C3CC6E9AEB0}">
      <dgm:prSet custT="1"/>
      <dgm:spPr>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a:softEdge rad="38100"/>
        </a:effectLst>
      </dgm:spPr>
      <dgm:t>
        <a:bodyPr spcFirstLastPara="0" vert="horz" wrap="square" lIns="184912" tIns="105664" rIns="184912" bIns="105664" numCol="1" spcCol="1270" anchor="ctr" anchorCtr="0"/>
        <a:lstStyle/>
        <a:p>
          <a:pPr marL="0" lvl="0" indent="0" algn="ctr" defTabSz="1155700">
            <a:lnSpc>
              <a:spcPct val="90000"/>
            </a:lnSpc>
            <a:spcBef>
              <a:spcPct val="0"/>
            </a:spcBef>
            <a:spcAft>
              <a:spcPct val="35000"/>
            </a:spcAft>
            <a:buNone/>
          </a:pPr>
          <a:r>
            <a:rPr lang="en-IN" sz="2600" kern="1200" dirty="0">
              <a:solidFill>
                <a:prstClr val="white"/>
              </a:solidFill>
              <a:latin typeface="Calibri" panose="020F0502020204030204"/>
              <a:ea typeface="+mn-ea"/>
              <a:cs typeface="+mn-cs"/>
            </a:rPr>
            <a:t>Delay Share</a:t>
          </a:r>
        </a:p>
      </dgm:t>
    </dgm:pt>
    <dgm:pt modelId="{D5CA646D-0176-4061-94ED-B0E4D356E7F7}" type="parTrans" cxnId="{D0E36819-B21E-4536-B28D-A2FAC0DDDACA}">
      <dgm:prSet/>
      <dgm:spPr/>
      <dgm:t>
        <a:bodyPr/>
        <a:lstStyle/>
        <a:p>
          <a:endParaRPr lang="en-IN"/>
        </a:p>
      </dgm:t>
    </dgm:pt>
    <dgm:pt modelId="{747F7802-CE40-4127-8D66-488D74D79A14}" type="sibTrans" cxnId="{D0E36819-B21E-4536-B28D-A2FAC0DDDACA}">
      <dgm:prSet/>
      <dgm:spPr/>
      <dgm:t>
        <a:bodyPr/>
        <a:lstStyle/>
        <a:p>
          <a:endParaRPr lang="en-IN"/>
        </a:p>
      </dgm:t>
    </dgm:pt>
    <dgm:pt modelId="{104AD2B8-51C5-4C8E-BAC8-B7A428DC8F7C}">
      <dgm:prSet custT="1"/>
      <dgm:spPr>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a:softEdge rad="38100"/>
        </a:effectLst>
      </dgm:spPr>
      <dgm:t>
        <a:bodyPr spcFirstLastPara="0" vert="horz" wrap="square" lIns="184912" tIns="105664" rIns="184912" bIns="105664" numCol="1" spcCol="1270" anchor="ctr" anchorCtr="0"/>
        <a:lstStyle/>
        <a:p>
          <a:pPr marL="0" lvl="0" indent="0" algn="ctr" defTabSz="1155700">
            <a:lnSpc>
              <a:spcPct val="90000"/>
            </a:lnSpc>
            <a:spcBef>
              <a:spcPct val="0"/>
            </a:spcBef>
            <a:spcAft>
              <a:spcPct val="35000"/>
            </a:spcAft>
            <a:buNone/>
          </a:pPr>
          <a:r>
            <a:rPr lang="en-IN" sz="2600" kern="1200" dirty="0">
              <a:solidFill>
                <a:prstClr val="white"/>
              </a:solidFill>
              <a:latin typeface="Calibri" panose="020F0502020204030204"/>
              <a:ea typeface="+mn-ea"/>
              <a:cs typeface="+mn-cs"/>
            </a:rPr>
            <a:t>Average Delay</a:t>
          </a:r>
        </a:p>
      </dgm:t>
    </dgm:pt>
    <dgm:pt modelId="{53A997A2-5B48-46FB-B868-47C3269A5975}" type="parTrans" cxnId="{C99832B3-FE35-48AA-B4EB-F26A613AA516}">
      <dgm:prSet/>
      <dgm:spPr/>
      <dgm:t>
        <a:bodyPr/>
        <a:lstStyle/>
        <a:p>
          <a:endParaRPr lang="en-IN"/>
        </a:p>
      </dgm:t>
    </dgm:pt>
    <dgm:pt modelId="{5982A957-EE66-4744-89C3-F55F49117565}" type="sibTrans" cxnId="{C99832B3-FE35-48AA-B4EB-F26A613AA516}">
      <dgm:prSet/>
      <dgm:spPr/>
      <dgm:t>
        <a:bodyPr/>
        <a:lstStyle/>
        <a:p>
          <a:endParaRPr lang="en-IN"/>
        </a:p>
      </dgm:t>
    </dgm:pt>
    <dgm:pt modelId="{BDDDDBD5-B6CE-44D9-9072-82F0F7BD56B1}">
      <dgm:prSet custT="1"/>
      <dgm:spPr>
        <a:effectLst>
          <a:softEdge rad="38100"/>
        </a:effectLst>
      </dgm:spPr>
      <dgm:t>
        <a:bodyPr/>
        <a:lstStyle/>
        <a:p>
          <a:pPr>
            <a:buFontTx/>
            <a:buNone/>
          </a:pPr>
          <a:r>
            <a:rPr lang="en-IN" sz="2400" dirty="0">
              <a:solidFill>
                <a:srgbClr val="002060"/>
              </a:solidFill>
            </a:rPr>
            <a:t>	Measures Delay intensity relative to flight volume.</a:t>
          </a:r>
          <a:endParaRPr lang="en-IN" sz="2600" dirty="0">
            <a:solidFill>
              <a:srgbClr val="002060"/>
            </a:solidFill>
          </a:endParaRPr>
        </a:p>
      </dgm:t>
    </dgm:pt>
    <dgm:pt modelId="{D2393614-A999-4F39-8B31-2AF6407C63EE}" type="parTrans" cxnId="{09ED1F2A-EF76-467D-AB75-C20ABED72AE2}">
      <dgm:prSet/>
      <dgm:spPr/>
      <dgm:t>
        <a:bodyPr/>
        <a:lstStyle/>
        <a:p>
          <a:endParaRPr lang="en-IN"/>
        </a:p>
      </dgm:t>
    </dgm:pt>
    <dgm:pt modelId="{9C78B316-1F52-4BAB-A1A0-6A836639B178}" type="sibTrans" cxnId="{09ED1F2A-EF76-467D-AB75-C20ABED72AE2}">
      <dgm:prSet/>
      <dgm:spPr/>
      <dgm:t>
        <a:bodyPr/>
        <a:lstStyle/>
        <a:p>
          <a:endParaRPr lang="en-IN"/>
        </a:p>
      </dgm:t>
    </dgm:pt>
    <dgm:pt modelId="{BEAE048C-19FD-403F-93E9-CD7AEE283933}">
      <dgm:prSet custT="1"/>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a:softEdge rad="38100"/>
        </a:effectLst>
      </dgm:spPr>
      <dgm:t>
        <a:bodyPr spcFirstLastPara="0" vert="horz" wrap="square" lIns="128016" tIns="128016" rIns="170688" bIns="192024" numCol="1" spcCol="1270" anchor="t" anchorCtr="0"/>
        <a:lstStyle/>
        <a:p>
          <a:pPr>
            <a:buFontTx/>
            <a:buNone/>
          </a:pPr>
          <a:r>
            <a:rPr lang="en-IN" sz="2400" dirty="0">
              <a:solidFill>
                <a:srgbClr val="002060"/>
              </a:solidFill>
            </a:rPr>
            <a:t>	Measures how often delays occur.</a:t>
          </a:r>
        </a:p>
      </dgm:t>
    </dgm:pt>
    <dgm:pt modelId="{27C06EE9-13D8-4C6B-A235-959805E7573F}" type="parTrans" cxnId="{4B352799-6D9B-4CA1-91EB-EBAAFD2C9A05}">
      <dgm:prSet/>
      <dgm:spPr/>
      <dgm:t>
        <a:bodyPr/>
        <a:lstStyle/>
        <a:p>
          <a:endParaRPr lang="en-IN"/>
        </a:p>
      </dgm:t>
    </dgm:pt>
    <dgm:pt modelId="{F7056357-23DC-406E-844F-79B4935A2E37}" type="sibTrans" cxnId="{4B352799-6D9B-4CA1-91EB-EBAAFD2C9A05}">
      <dgm:prSet/>
      <dgm:spPr/>
      <dgm:t>
        <a:bodyPr/>
        <a:lstStyle/>
        <a:p>
          <a:endParaRPr lang="en-IN"/>
        </a:p>
      </dgm:t>
    </dgm:pt>
    <dgm:pt modelId="{0391A3C4-3A9B-42A6-9222-65E760CF9EBA}">
      <dgm:prSet custT="1"/>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a:softEdge rad="38100"/>
        </a:effectLst>
      </dgm:spPr>
      <dgm:t>
        <a:bodyPr spcFirstLastPara="0" vert="horz" wrap="square" lIns="128016" tIns="128016" rIns="170688" bIns="192024" numCol="1" spcCol="1270" anchor="t" anchorCtr="0"/>
        <a:lstStyle/>
        <a:p>
          <a:pPr marL="228600" lvl="1" indent="-228600" algn="l" defTabSz="1066800">
            <a:lnSpc>
              <a:spcPct val="90000"/>
            </a:lnSpc>
            <a:spcBef>
              <a:spcPct val="0"/>
            </a:spcBef>
            <a:spcAft>
              <a:spcPct val="15000"/>
            </a:spcAft>
            <a:buFontTx/>
            <a:buNone/>
          </a:pPr>
          <a:r>
            <a:rPr lang="en-IN" sz="2400" kern="1200" dirty="0">
              <a:solidFill>
                <a:srgbClr val="002060"/>
              </a:solidFill>
              <a:latin typeface="Calibri" panose="020F0502020204030204"/>
              <a:ea typeface="+mn-ea"/>
              <a:cs typeface="+mn-cs"/>
            </a:rPr>
            <a:t>	Shows contribution of each delay cause.</a:t>
          </a:r>
        </a:p>
      </dgm:t>
    </dgm:pt>
    <dgm:pt modelId="{E466FDAA-1E9B-4B85-84A3-D265D2C4C458}" type="parTrans" cxnId="{F524083D-F32C-4825-882A-DD0152A50457}">
      <dgm:prSet/>
      <dgm:spPr/>
      <dgm:t>
        <a:bodyPr/>
        <a:lstStyle/>
        <a:p>
          <a:endParaRPr lang="en-IN"/>
        </a:p>
      </dgm:t>
    </dgm:pt>
    <dgm:pt modelId="{1A8D10EB-509C-4023-B183-1547D506BA9D}" type="sibTrans" cxnId="{F524083D-F32C-4825-882A-DD0152A50457}">
      <dgm:prSet/>
      <dgm:spPr/>
      <dgm:t>
        <a:bodyPr/>
        <a:lstStyle/>
        <a:p>
          <a:endParaRPr lang="en-IN"/>
        </a:p>
      </dgm:t>
    </dgm:pt>
    <dgm:pt modelId="{90D0CF99-DAD3-4B61-A4A3-BC81AC54E26B}">
      <dgm:prSet custT="1"/>
      <dgm:spPr>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a:softEdge rad="38100"/>
        </a:effectLst>
      </dgm:spPr>
      <dgm:t>
        <a:bodyPr spcFirstLastPara="0" vert="horz" wrap="square" lIns="128016" tIns="128016" rIns="170688" bIns="192024" numCol="1" spcCol="1270" anchor="t" anchorCtr="0"/>
        <a:lstStyle/>
        <a:p>
          <a:pPr marL="228600" lvl="1" indent="-228600" algn="l" defTabSz="1066800">
            <a:lnSpc>
              <a:spcPct val="90000"/>
            </a:lnSpc>
            <a:spcBef>
              <a:spcPct val="0"/>
            </a:spcBef>
            <a:spcAft>
              <a:spcPct val="15000"/>
            </a:spcAft>
            <a:buFontTx/>
            <a:buNone/>
          </a:pPr>
          <a:r>
            <a:rPr lang="en-IN" sz="2400" kern="1200" dirty="0">
              <a:solidFill>
                <a:srgbClr val="002060"/>
              </a:solidFill>
              <a:latin typeface="Calibri" panose="020F0502020204030204"/>
              <a:ea typeface="+mn-ea"/>
              <a:cs typeface="+mn-cs"/>
            </a:rPr>
            <a:t>	Measures severity of each delay event.</a:t>
          </a:r>
        </a:p>
      </dgm:t>
    </dgm:pt>
    <dgm:pt modelId="{D78E431D-4474-433D-86ED-11692B192DBB}" type="parTrans" cxnId="{01378BF4-76A0-4E06-98A7-3BE041F05F84}">
      <dgm:prSet/>
      <dgm:spPr/>
      <dgm:t>
        <a:bodyPr/>
        <a:lstStyle/>
        <a:p>
          <a:endParaRPr lang="en-IN"/>
        </a:p>
      </dgm:t>
    </dgm:pt>
    <dgm:pt modelId="{BD6EEB89-0894-4EB8-B685-F804CFD69973}" type="sibTrans" cxnId="{01378BF4-76A0-4E06-98A7-3BE041F05F84}">
      <dgm:prSet/>
      <dgm:spPr/>
      <dgm:t>
        <a:bodyPr/>
        <a:lstStyle/>
        <a:p>
          <a:endParaRPr lang="en-IN"/>
        </a:p>
      </dgm:t>
    </dgm:pt>
    <dgm:pt modelId="{2B1ACCD4-C9B7-47EC-8A10-5025ED8BBB40}" type="pres">
      <dgm:prSet presAssocID="{7B57B18C-AA2E-4495-8478-623802268D1E}" presName="Name0" presStyleCnt="0">
        <dgm:presLayoutVars>
          <dgm:dir/>
          <dgm:animLvl val="lvl"/>
          <dgm:resizeHandles val="exact"/>
        </dgm:presLayoutVars>
      </dgm:prSet>
      <dgm:spPr/>
    </dgm:pt>
    <dgm:pt modelId="{3EF649B5-D586-4881-BCBF-AE26CD4B3358}" type="pres">
      <dgm:prSet presAssocID="{51331733-6FDA-4DC8-8C88-785174BE37EF}" presName="composite" presStyleCnt="0"/>
      <dgm:spPr/>
    </dgm:pt>
    <dgm:pt modelId="{982279F1-B8BA-4660-9169-3B256872C9BD}" type="pres">
      <dgm:prSet presAssocID="{51331733-6FDA-4DC8-8C88-785174BE37EF}" presName="parTx" presStyleLbl="alignNode1" presStyleIdx="0" presStyleCnt="4">
        <dgm:presLayoutVars>
          <dgm:chMax val="0"/>
          <dgm:chPref val="0"/>
          <dgm:bulletEnabled val="1"/>
        </dgm:presLayoutVars>
      </dgm:prSet>
      <dgm:spPr/>
    </dgm:pt>
    <dgm:pt modelId="{B8134C6B-C7F6-4904-9229-10AB31D71C55}" type="pres">
      <dgm:prSet presAssocID="{51331733-6FDA-4DC8-8C88-785174BE37EF}" presName="desTx" presStyleLbl="alignAccFollowNode1" presStyleIdx="0" presStyleCnt="4">
        <dgm:presLayoutVars>
          <dgm:bulletEnabled val="1"/>
        </dgm:presLayoutVars>
      </dgm:prSet>
      <dgm:spPr/>
    </dgm:pt>
    <dgm:pt modelId="{6336DE68-AD45-4118-8AA6-2BB88997952A}" type="pres">
      <dgm:prSet presAssocID="{772CF228-2D62-486B-B80F-0FD891B55479}" presName="space" presStyleCnt="0"/>
      <dgm:spPr/>
    </dgm:pt>
    <dgm:pt modelId="{3B9F5285-093E-4C72-9328-72DAE2CD733E}" type="pres">
      <dgm:prSet presAssocID="{AC12AE8B-4012-49EE-A795-078E56D58C71}" presName="composite" presStyleCnt="0"/>
      <dgm:spPr/>
    </dgm:pt>
    <dgm:pt modelId="{EC78A0E1-9850-440A-9E44-38ABC5C3E357}" type="pres">
      <dgm:prSet presAssocID="{AC12AE8B-4012-49EE-A795-078E56D58C71}" presName="parTx" presStyleLbl="alignNode1" presStyleIdx="1" presStyleCnt="4">
        <dgm:presLayoutVars>
          <dgm:chMax val="0"/>
          <dgm:chPref val="0"/>
          <dgm:bulletEnabled val="1"/>
        </dgm:presLayoutVars>
      </dgm:prSet>
      <dgm:spPr>
        <a:xfrm>
          <a:off x="2714082" y="867926"/>
          <a:ext cx="2377306" cy="938289"/>
        </a:xfrm>
        <a:prstGeom prst="rect">
          <a:avLst/>
        </a:prstGeom>
      </dgm:spPr>
    </dgm:pt>
    <dgm:pt modelId="{52E39D6E-CC30-4D8C-AD5D-8D7EDAA7EDC4}" type="pres">
      <dgm:prSet presAssocID="{AC12AE8B-4012-49EE-A795-078E56D58C71}" presName="desTx" presStyleLbl="alignAccFollowNode1" presStyleIdx="1" presStyleCnt="4">
        <dgm:presLayoutVars>
          <dgm:bulletEnabled val="1"/>
        </dgm:presLayoutVars>
      </dgm:prSet>
      <dgm:spPr>
        <a:xfrm>
          <a:off x="2714082" y="1806216"/>
          <a:ext cx="2377306" cy="1677195"/>
        </a:xfrm>
        <a:prstGeom prst="rect">
          <a:avLst/>
        </a:prstGeom>
      </dgm:spPr>
    </dgm:pt>
    <dgm:pt modelId="{465B70DD-3E71-48E8-888E-11C5C9CE1D76}" type="pres">
      <dgm:prSet presAssocID="{EA5279D4-2940-4176-A49E-6277E860C146}" presName="space" presStyleCnt="0"/>
      <dgm:spPr/>
    </dgm:pt>
    <dgm:pt modelId="{284A3E6E-CAA1-45EC-B1E1-88C80B029C26}" type="pres">
      <dgm:prSet presAssocID="{C432B28F-DA7B-4AE4-AADC-2C3CC6E9AEB0}" presName="composite" presStyleCnt="0"/>
      <dgm:spPr/>
    </dgm:pt>
    <dgm:pt modelId="{04BA408A-E747-40C7-9552-670A7879047F}" type="pres">
      <dgm:prSet presAssocID="{C432B28F-DA7B-4AE4-AADC-2C3CC6E9AEB0}" presName="parTx" presStyleLbl="alignNode1" presStyleIdx="2" presStyleCnt="4">
        <dgm:presLayoutVars>
          <dgm:chMax val="0"/>
          <dgm:chPref val="0"/>
          <dgm:bulletEnabled val="1"/>
        </dgm:presLayoutVars>
      </dgm:prSet>
      <dgm:spPr>
        <a:xfrm>
          <a:off x="5424211" y="867926"/>
          <a:ext cx="2377306" cy="938289"/>
        </a:xfrm>
        <a:prstGeom prst="rect">
          <a:avLst/>
        </a:prstGeom>
      </dgm:spPr>
    </dgm:pt>
    <dgm:pt modelId="{02877C36-8DD8-4840-A13B-581764BFB0A5}" type="pres">
      <dgm:prSet presAssocID="{C432B28F-DA7B-4AE4-AADC-2C3CC6E9AEB0}" presName="desTx" presStyleLbl="alignAccFollowNode1" presStyleIdx="2" presStyleCnt="4">
        <dgm:presLayoutVars>
          <dgm:bulletEnabled val="1"/>
        </dgm:presLayoutVars>
      </dgm:prSet>
      <dgm:spPr>
        <a:xfrm>
          <a:off x="5424211" y="1806216"/>
          <a:ext cx="2377306" cy="1677195"/>
        </a:xfrm>
        <a:prstGeom prst="rect">
          <a:avLst/>
        </a:prstGeom>
      </dgm:spPr>
    </dgm:pt>
    <dgm:pt modelId="{67EE05BC-BAE1-4101-81A5-33D8D1C8510D}" type="pres">
      <dgm:prSet presAssocID="{747F7802-CE40-4127-8D66-488D74D79A14}" presName="space" presStyleCnt="0"/>
      <dgm:spPr/>
    </dgm:pt>
    <dgm:pt modelId="{C14F3C38-AB63-4C04-9490-5F953A54976A}" type="pres">
      <dgm:prSet presAssocID="{104AD2B8-51C5-4C8E-BAC8-B7A428DC8F7C}" presName="composite" presStyleCnt="0"/>
      <dgm:spPr/>
    </dgm:pt>
    <dgm:pt modelId="{50E2F0E0-60F8-4555-9DCD-47AB77A9A4FA}" type="pres">
      <dgm:prSet presAssocID="{104AD2B8-51C5-4C8E-BAC8-B7A428DC8F7C}" presName="parTx" presStyleLbl="alignNode1" presStyleIdx="3" presStyleCnt="4">
        <dgm:presLayoutVars>
          <dgm:chMax val="0"/>
          <dgm:chPref val="0"/>
          <dgm:bulletEnabled val="1"/>
        </dgm:presLayoutVars>
      </dgm:prSet>
      <dgm:spPr>
        <a:xfrm>
          <a:off x="8134340" y="867926"/>
          <a:ext cx="2377306" cy="938289"/>
        </a:xfrm>
        <a:prstGeom prst="rect">
          <a:avLst/>
        </a:prstGeom>
      </dgm:spPr>
    </dgm:pt>
    <dgm:pt modelId="{942F1433-319F-49FA-A7FE-74BEE0170668}" type="pres">
      <dgm:prSet presAssocID="{104AD2B8-51C5-4C8E-BAC8-B7A428DC8F7C}" presName="desTx" presStyleLbl="alignAccFollowNode1" presStyleIdx="3" presStyleCnt="4">
        <dgm:presLayoutVars>
          <dgm:bulletEnabled val="1"/>
        </dgm:presLayoutVars>
      </dgm:prSet>
      <dgm:spPr>
        <a:xfrm>
          <a:off x="8134340" y="1806216"/>
          <a:ext cx="2377306" cy="1677195"/>
        </a:xfrm>
        <a:prstGeom prst="rect">
          <a:avLst/>
        </a:prstGeom>
      </dgm:spPr>
    </dgm:pt>
  </dgm:ptLst>
  <dgm:cxnLst>
    <dgm:cxn modelId="{F4541901-FD6C-4D9A-8E17-76362EAA3D1E}" type="presOf" srcId="{104AD2B8-51C5-4C8E-BAC8-B7A428DC8F7C}" destId="{50E2F0E0-60F8-4555-9DCD-47AB77A9A4FA}" srcOrd="0" destOrd="0" presId="urn:microsoft.com/office/officeart/2005/8/layout/hList1"/>
    <dgm:cxn modelId="{0B60D90B-EC95-474A-B9FC-DBF6706EB528}" type="presOf" srcId="{90D0CF99-DAD3-4B61-A4A3-BC81AC54E26B}" destId="{942F1433-319F-49FA-A7FE-74BEE0170668}" srcOrd="0" destOrd="0" presId="urn:microsoft.com/office/officeart/2005/8/layout/hList1"/>
    <dgm:cxn modelId="{D0E36819-B21E-4536-B28D-A2FAC0DDDACA}" srcId="{7B57B18C-AA2E-4495-8478-623802268D1E}" destId="{C432B28F-DA7B-4AE4-AADC-2C3CC6E9AEB0}" srcOrd="2" destOrd="0" parTransId="{D5CA646D-0176-4061-94ED-B0E4D356E7F7}" sibTransId="{747F7802-CE40-4127-8D66-488D74D79A14}"/>
    <dgm:cxn modelId="{09ED1F2A-EF76-467D-AB75-C20ABED72AE2}" srcId="{51331733-6FDA-4DC8-8C88-785174BE37EF}" destId="{BDDDDBD5-B6CE-44D9-9072-82F0F7BD56B1}" srcOrd="0" destOrd="0" parTransId="{D2393614-A999-4F39-8B31-2AF6407C63EE}" sibTransId="{9C78B316-1F52-4BAB-A1A0-6A836639B178}"/>
    <dgm:cxn modelId="{F524083D-F32C-4825-882A-DD0152A50457}" srcId="{C432B28F-DA7B-4AE4-AADC-2C3CC6E9AEB0}" destId="{0391A3C4-3A9B-42A6-9222-65E760CF9EBA}" srcOrd="0" destOrd="0" parTransId="{E466FDAA-1E9B-4B85-84A3-D265D2C4C458}" sibTransId="{1A8D10EB-509C-4023-B183-1547D506BA9D}"/>
    <dgm:cxn modelId="{CC740268-5C8D-4AFC-8FEB-C490622A0202}" srcId="{7B57B18C-AA2E-4495-8478-623802268D1E}" destId="{51331733-6FDA-4DC8-8C88-785174BE37EF}" srcOrd="0" destOrd="0" parTransId="{4811E014-EA5F-4F3C-A0D4-02EEFECBCD58}" sibTransId="{772CF228-2D62-486B-B80F-0FD891B55479}"/>
    <dgm:cxn modelId="{7611BC4B-2368-4854-9D71-32412E90DCAD}" type="presOf" srcId="{7B57B18C-AA2E-4495-8478-623802268D1E}" destId="{2B1ACCD4-C9B7-47EC-8A10-5025ED8BBB40}" srcOrd="0" destOrd="0" presId="urn:microsoft.com/office/officeart/2005/8/layout/hList1"/>
    <dgm:cxn modelId="{C6F3516D-90AD-49DF-8A4E-3F7F6481D45F}" type="presOf" srcId="{BDDDDBD5-B6CE-44D9-9072-82F0F7BD56B1}" destId="{B8134C6B-C7F6-4904-9229-10AB31D71C55}" srcOrd="0" destOrd="0" presId="urn:microsoft.com/office/officeart/2005/8/layout/hList1"/>
    <dgm:cxn modelId="{51268E94-CDA3-4D0C-89FF-BCC12CF8A4C1}" type="presOf" srcId="{BEAE048C-19FD-403F-93E9-CD7AEE283933}" destId="{52E39D6E-CC30-4D8C-AD5D-8D7EDAA7EDC4}" srcOrd="0" destOrd="0" presId="urn:microsoft.com/office/officeart/2005/8/layout/hList1"/>
    <dgm:cxn modelId="{33CB8498-F3C5-4D43-AFC8-29326B1E5C67}" type="presOf" srcId="{AC12AE8B-4012-49EE-A795-078E56D58C71}" destId="{EC78A0E1-9850-440A-9E44-38ABC5C3E357}" srcOrd="0" destOrd="0" presId="urn:microsoft.com/office/officeart/2005/8/layout/hList1"/>
    <dgm:cxn modelId="{4B352799-6D9B-4CA1-91EB-EBAAFD2C9A05}" srcId="{AC12AE8B-4012-49EE-A795-078E56D58C71}" destId="{BEAE048C-19FD-403F-93E9-CD7AEE283933}" srcOrd="0" destOrd="0" parTransId="{27C06EE9-13D8-4C6B-A235-959805E7573F}" sibTransId="{F7056357-23DC-406E-844F-79B4935A2E37}"/>
    <dgm:cxn modelId="{A00289A7-7726-404B-9B3B-DA1EE997472B}" srcId="{7B57B18C-AA2E-4495-8478-623802268D1E}" destId="{AC12AE8B-4012-49EE-A795-078E56D58C71}" srcOrd="1" destOrd="0" parTransId="{B8A7C05F-34E5-4C01-A0CE-9D2AF32CB40B}" sibTransId="{EA5279D4-2940-4176-A49E-6277E860C146}"/>
    <dgm:cxn modelId="{F51317AC-A98D-427B-9C13-061C9188E721}" type="presOf" srcId="{51331733-6FDA-4DC8-8C88-785174BE37EF}" destId="{982279F1-B8BA-4660-9169-3B256872C9BD}" srcOrd="0" destOrd="0" presId="urn:microsoft.com/office/officeart/2005/8/layout/hList1"/>
    <dgm:cxn modelId="{C99832B3-FE35-48AA-B4EB-F26A613AA516}" srcId="{7B57B18C-AA2E-4495-8478-623802268D1E}" destId="{104AD2B8-51C5-4C8E-BAC8-B7A428DC8F7C}" srcOrd="3" destOrd="0" parTransId="{53A997A2-5B48-46FB-B868-47C3269A5975}" sibTransId="{5982A957-EE66-4744-89C3-F55F49117565}"/>
    <dgm:cxn modelId="{FA491DD7-159E-4004-BF26-3865EB63B924}" type="presOf" srcId="{C432B28F-DA7B-4AE4-AADC-2C3CC6E9AEB0}" destId="{04BA408A-E747-40C7-9552-670A7879047F}" srcOrd="0" destOrd="0" presId="urn:microsoft.com/office/officeart/2005/8/layout/hList1"/>
    <dgm:cxn modelId="{42A326DC-3327-4DED-83F2-A0ADFEED149C}" type="presOf" srcId="{0391A3C4-3A9B-42A6-9222-65E760CF9EBA}" destId="{02877C36-8DD8-4840-A13B-581764BFB0A5}" srcOrd="0" destOrd="0" presId="urn:microsoft.com/office/officeart/2005/8/layout/hList1"/>
    <dgm:cxn modelId="{01378BF4-76A0-4E06-98A7-3BE041F05F84}" srcId="{104AD2B8-51C5-4C8E-BAC8-B7A428DC8F7C}" destId="{90D0CF99-DAD3-4B61-A4A3-BC81AC54E26B}" srcOrd="0" destOrd="0" parTransId="{D78E431D-4474-433D-86ED-11692B192DBB}" sibTransId="{BD6EEB89-0894-4EB8-B685-F804CFD69973}"/>
    <dgm:cxn modelId="{8D50B0E1-806C-4960-82BD-F25456C0A9B2}" type="presParOf" srcId="{2B1ACCD4-C9B7-47EC-8A10-5025ED8BBB40}" destId="{3EF649B5-D586-4881-BCBF-AE26CD4B3358}" srcOrd="0" destOrd="0" presId="urn:microsoft.com/office/officeart/2005/8/layout/hList1"/>
    <dgm:cxn modelId="{02E97A43-539B-4B0F-97DD-60EDCBA458F9}" type="presParOf" srcId="{3EF649B5-D586-4881-BCBF-AE26CD4B3358}" destId="{982279F1-B8BA-4660-9169-3B256872C9BD}" srcOrd="0" destOrd="0" presId="urn:microsoft.com/office/officeart/2005/8/layout/hList1"/>
    <dgm:cxn modelId="{D0597AB4-2107-4F03-9952-CA95A7FF9257}" type="presParOf" srcId="{3EF649B5-D586-4881-BCBF-AE26CD4B3358}" destId="{B8134C6B-C7F6-4904-9229-10AB31D71C55}" srcOrd="1" destOrd="0" presId="urn:microsoft.com/office/officeart/2005/8/layout/hList1"/>
    <dgm:cxn modelId="{82EBF82D-30D9-46FB-AE22-A9DE04D67C3D}" type="presParOf" srcId="{2B1ACCD4-C9B7-47EC-8A10-5025ED8BBB40}" destId="{6336DE68-AD45-4118-8AA6-2BB88997952A}" srcOrd="1" destOrd="0" presId="urn:microsoft.com/office/officeart/2005/8/layout/hList1"/>
    <dgm:cxn modelId="{456D83BD-C5D6-4965-9F08-1CE5B1988344}" type="presParOf" srcId="{2B1ACCD4-C9B7-47EC-8A10-5025ED8BBB40}" destId="{3B9F5285-093E-4C72-9328-72DAE2CD733E}" srcOrd="2" destOrd="0" presId="urn:microsoft.com/office/officeart/2005/8/layout/hList1"/>
    <dgm:cxn modelId="{41846761-506B-4314-8DB2-928AFF46EA18}" type="presParOf" srcId="{3B9F5285-093E-4C72-9328-72DAE2CD733E}" destId="{EC78A0E1-9850-440A-9E44-38ABC5C3E357}" srcOrd="0" destOrd="0" presId="urn:microsoft.com/office/officeart/2005/8/layout/hList1"/>
    <dgm:cxn modelId="{9C5FB281-C905-4F6A-B5E9-B8A9EF7B8F3D}" type="presParOf" srcId="{3B9F5285-093E-4C72-9328-72DAE2CD733E}" destId="{52E39D6E-CC30-4D8C-AD5D-8D7EDAA7EDC4}" srcOrd="1" destOrd="0" presId="urn:microsoft.com/office/officeart/2005/8/layout/hList1"/>
    <dgm:cxn modelId="{660EBE1F-D42D-482B-920B-7AE9126578B6}" type="presParOf" srcId="{2B1ACCD4-C9B7-47EC-8A10-5025ED8BBB40}" destId="{465B70DD-3E71-48E8-888E-11C5C9CE1D76}" srcOrd="3" destOrd="0" presId="urn:microsoft.com/office/officeart/2005/8/layout/hList1"/>
    <dgm:cxn modelId="{7EB4758F-55C9-49FF-B0A6-354226B1742F}" type="presParOf" srcId="{2B1ACCD4-C9B7-47EC-8A10-5025ED8BBB40}" destId="{284A3E6E-CAA1-45EC-B1E1-88C80B029C26}" srcOrd="4" destOrd="0" presId="urn:microsoft.com/office/officeart/2005/8/layout/hList1"/>
    <dgm:cxn modelId="{2C6CE491-317A-4F9D-B517-97FC15ED3DF8}" type="presParOf" srcId="{284A3E6E-CAA1-45EC-B1E1-88C80B029C26}" destId="{04BA408A-E747-40C7-9552-670A7879047F}" srcOrd="0" destOrd="0" presId="urn:microsoft.com/office/officeart/2005/8/layout/hList1"/>
    <dgm:cxn modelId="{1682828B-AD02-49C8-8D2E-7AC81B4240AD}" type="presParOf" srcId="{284A3E6E-CAA1-45EC-B1E1-88C80B029C26}" destId="{02877C36-8DD8-4840-A13B-581764BFB0A5}" srcOrd="1" destOrd="0" presId="urn:microsoft.com/office/officeart/2005/8/layout/hList1"/>
    <dgm:cxn modelId="{19015BAB-F678-4150-A2D4-6777F061D7BC}" type="presParOf" srcId="{2B1ACCD4-C9B7-47EC-8A10-5025ED8BBB40}" destId="{67EE05BC-BAE1-4101-81A5-33D8D1C8510D}" srcOrd="5" destOrd="0" presId="urn:microsoft.com/office/officeart/2005/8/layout/hList1"/>
    <dgm:cxn modelId="{7D99BAAF-0F8B-4BF3-8112-E576B411D446}" type="presParOf" srcId="{2B1ACCD4-C9B7-47EC-8A10-5025ED8BBB40}" destId="{C14F3C38-AB63-4C04-9490-5F953A54976A}" srcOrd="6" destOrd="0" presId="urn:microsoft.com/office/officeart/2005/8/layout/hList1"/>
    <dgm:cxn modelId="{A8F5178B-B999-43FE-B072-5624D3A2D98A}" type="presParOf" srcId="{C14F3C38-AB63-4C04-9490-5F953A54976A}" destId="{50E2F0E0-60F8-4555-9DCD-47AB77A9A4FA}" srcOrd="0" destOrd="0" presId="urn:microsoft.com/office/officeart/2005/8/layout/hList1"/>
    <dgm:cxn modelId="{762A9410-8738-427F-ADD1-74B156EC9F69}" type="presParOf" srcId="{C14F3C38-AB63-4C04-9490-5F953A54976A}" destId="{942F1433-319F-49FA-A7FE-74BEE0170668}" srcOrd="1" destOrd="0" presId="urn:microsoft.com/office/officeart/2005/8/layout/hList1"/>
  </dgm:cxnLst>
  <dgm:bg>
    <a:effectLst>
      <a:softEdge rad="0"/>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1321AD-2338-4D5A-AB17-6AE7630D1D0D}"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IN"/>
        </a:p>
      </dgm:t>
    </dgm:pt>
    <dgm:pt modelId="{6711CEBC-02A7-4B60-9C8D-9D1DA0262B52}">
      <dgm:prSet/>
      <dgm:spPr>
        <a:ln>
          <a:noFill/>
        </a:ln>
        <a:effectLst>
          <a:softEdge rad="25400"/>
        </a:effectLst>
      </dgm:spPr>
      <dgm:t>
        <a:bodyPr/>
        <a:lstStyle/>
        <a:p>
          <a:r>
            <a:rPr lang="en-IN" dirty="0"/>
            <a:t>Airport-level performance analysis</a:t>
          </a:r>
        </a:p>
      </dgm:t>
    </dgm:pt>
    <dgm:pt modelId="{8BCE3479-D262-4694-89A4-E838FAC65B32}" type="parTrans" cxnId="{2E50204D-2361-4BF4-A394-253ECE58F50B}">
      <dgm:prSet/>
      <dgm:spPr/>
      <dgm:t>
        <a:bodyPr/>
        <a:lstStyle/>
        <a:p>
          <a:endParaRPr lang="en-IN"/>
        </a:p>
      </dgm:t>
    </dgm:pt>
    <dgm:pt modelId="{EDD2E0B2-17AC-4E8C-A6CE-427060699EFA}" type="sibTrans" cxnId="{2E50204D-2361-4BF4-A394-253ECE58F50B}">
      <dgm:prSet/>
      <dgm:spPr/>
      <dgm:t>
        <a:bodyPr/>
        <a:lstStyle/>
        <a:p>
          <a:endParaRPr lang="en-IN"/>
        </a:p>
      </dgm:t>
    </dgm:pt>
    <dgm:pt modelId="{DB5C16FE-9E07-45EF-AFD0-952827385A69}">
      <dgm:prSet/>
      <dgm:spPr>
        <a:ln>
          <a:noFill/>
        </a:ln>
        <a:effectLst>
          <a:softEdge rad="25400"/>
        </a:effectLst>
      </dgm:spPr>
      <dgm:t>
        <a:bodyPr/>
        <a:lstStyle/>
        <a:p>
          <a:r>
            <a:rPr lang="en-IN" dirty="0"/>
            <a:t>Route-level and flight-level analysis</a:t>
          </a:r>
        </a:p>
      </dgm:t>
    </dgm:pt>
    <dgm:pt modelId="{B2DA977F-9198-48C6-AE45-45757906045D}" type="parTrans" cxnId="{D0583731-0094-43AF-A910-AA3C4898EFEF}">
      <dgm:prSet/>
      <dgm:spPr/>
      <dgm:t>
        <a:bodyPr/>
        <a:lstStyle/>
        <a:p>
          <a:endParaRPr lang="en-IN"/>
        </a:p>
      </dgm:t>
    </dgm:pt>
    <dgm:pt modelId="{62DD7D11-2891-4CC2-B450-C0D2425445DC}" type="sibTrans" cxnId="{D0583731-0094-43AF-A910-AA3C4898EFEF}">
      <dgm:prSet/>
      <dgm:spPr/>
      <dgm:t>
        <a:bodyPr/>
        <a:lstStyle/>
        <a:p>
          <a:endParaRPr lang="en-IN"/>
        </a:p>
      </dgm:t>
    </dgm:pt>
    <dgm:pt modelId="{90FD7654-C598-46A5-A147-1A997396FE55}">
      <dgm:prSet/>
      <dgm:spPr>
        <a:ln>
          <a:noFill/>
        </a:ln>
        <a:effectLst>
          <a:softEdge rad="25400"/>
        </a:effectLst>
      </dgm:spPr>
      <dgm:t>
        <a:bodyPr/>
        <a:lstStyle/>
        <a:p>
          <a:r>
            <a:rPr lang="en-IN"/>
            <a:t>Passenger, revenue, and cost impact analysis</a:t>
          </a:r>
        </a:p>
      </dgm:t>
    </dgm:pt>
    <dgm:pt modelId="{66F984D3-CA0B-4FD4-AC90-B857DFA9635F}" type="parTrans" cxnId="{E74A860C-7EF1-47CA-BD30-DAEB26F5D80A}">
      <dgm:prSet/>
      <dgm:spPr/>
      <dgm:t>
        <a:bodyPr/>
        <a:lstStyle/>
        <a:p>
          <a:endParaRPr lang="en-IN"/>
        </a:p>
      </dgm:t>
    </dgm:pt>
    <dgm:pt modelId="{4EEC7DFF-7A05-4265-A3FD-E8D252E2A880}" type="sibTrans" cxnId="{E74A860C-7EF1-47CA-BD30-DAEB26F5D80A}">
      <dgm:prSet/>
      <dgm:spPr/>
      <dgm:t>
        <a:bodyPr/>
        <a:lstStyle/>
        <a:p>
          <a:endParaRPr lang="en-IN"/>
        </a:p>
      </dgm:t>
    </dgm:pt>
    <dgm:pt modelId="{AC3D503D-FC6A-499A-84B8-0115651F158A}">
      <dgm:prSet/>
      <dgm:spPr>
        <a:ln>
          <a:noFill/>
        </a:ln>
        <a:effectLst>
          <a:softEdge rad="25400"/>
        </a:effectLst>
      </dgm:spPr>
      <dgm:t>
        <a:bodyPr/>
        <a:lstStyle/>
        <a:p>
          <a:r>
            <a:rPr lang="en-IN" dirty="0"/>
            <a:t>Predictive modelling and forecasting</a:t>
          </a:r>
        </a:p>
      </dgm:t>
    </dgm:pt>
    <dgm:pt modelId="{A709F1A1-9B2C-4411-AA89-2E69055867C8}" type="parTrans" cxnId="{8A199FED-CDB1-43B4-B328-D78E34FA4232}">
      <dgm:prSet/>
      <dgm:spPr/>
      <dgm:t>
        <a:bodyPr/>
        <a:lstStyle/>
        <a:p>
          <a:endParaRPr lang="en-IN"/>
        </a:p>
      </dgm:t>
    </dgm:pt>
    <dgm:pt modelId="{6D4F376C-131A-4248-AEC4-6F2F909AB4C6}" type="sibTrans" cxnId="{8A199FED-CDB1-43B4-B328-D78E34FA4232}">
      <dgm:prSet/>
      <dgm:spPr/>
      <dgm:t>
        <a:bodyPr/>
        <a:lstStyle/>
        <a:p>
          <a:endParaRPr lang="en-IN"/>
        </a:p>
      </dgm:t>
    </dgm:pt>
    <dgm:pt modelId="{A22E988F-9C26-4F4F-A21D-509600DA8413}" type="pres">
      <dgm:prSet presAssocID="{3D1321AD-2338-4D5A-AB17-6AE7630D1D0D}" presName="matrix" presStyleCnt="0">
        <dgm:presLayoutVars>
          <dgm:chMax val="1"/>
          <dgm:dir/>
          <dgm:resizeHandles val="exact"/>
        </dgm:presLayoutVars>
      </dgm:prSet>
      <dgm:spPr/>
    </dgm:pt>
    <dgm:pt modelId="{C6B534DB-6AEF-4D33-8A05-93F2782B9258}" type="pres">
      <dgm:prSet presAssocID="{3D1321AD-2338-4D5A-AB17-6AE7630D1D0D}" presName="axisShape" presStyleLbl="bgShp" presStyleIdx="0" presStyleCnt="1" custScaleX="158774"/>
      <dgm:spPr/>
    </dgm:pt>
    <dgm:pt modelId="{9A1503D5-4ACB-4241-B21F-D761F0E0B284}" type="pres">
      <dgm:prSet presAssocID="{3D1321AD-2338-4D5A-AB17-6AE7630D1D0D}" presName="rect1" presStyleLbl="node1" presStyleIdx="0" presStyleCnt="4" custScaleX="158434" custLinFactNeighborX="-38739" custLinFactNeighborY="531">
        <dgm:presLayoutVars>
          <dgm:chMax val="0"/>
          <dgm:chPref val="0"/>
          <dgm:bulletEnabled val="1"/>
        </dgm:presLayoutVars>
      </dgm:prSet>
      <dgm:spPr/>
    </dgm:pt>
    <dgm:pt modelId="{24F9A1FD-43D3-4DDB-8606-3C9AE7774700}" type="pres">
      <dgm:prSet presAssocID="{3D1321AD-2338-4D5A-AB17-6AE7630D1D0D}" presName="rect2" presStyleLbl="node1" presStyleIdx="1" presStyleCnt="4" custScaleX="158445" custLinFactNeighborX="36615" custLinFactNeighborY="-1061">
        <dgm:presLayoutVars>
          <dgm:chMax val="0"/>
          <dgm:chPref val="0"/>
          <dgm:bulletEnabled val="1"/>
        </dgm:presLayoutVars>
      </dgm:prSet>
      <dgm:spPr/>
    </dgm:pt>
    <dgm:pt modelId="{E0BC53B2-E929-4AB7-951C-6978227498FB}" type="pres">
      <dgm:prSet presAssocID="{3D1321AD-2338-4D5A-AB17-6AE7630D1D0D}" presName="rect3" presStyleLbl="node1" presStyleIdx="2" presStyleCnt="4" custScaleX="158434" custLinFactNeighborX="-38772">
        <dgm:presLayoutVars>
          <dgm:chMax val="0"/>
          <dgm:chPref val="0"/>
          <dgm:bulletEnabled val="1"/>
        </dgm:presLayoutVars>
      </dgm:prSet>
      <dgm:spPr/>
    </dgm:pt>
    <dgm:pt modelId="{39E689FC-8CD8-4DC3-81E2-BA424F264ACA}" type="pres">
      <dgm:prSet presAssocID="{3D1321AD-2338-4D5A-AB17-6AE7630D1D0D}" presName="rect4" presStyleLbl="node1" presStyleIdx="3" presStyleCnt="4" custScaleX="158434" custLinFactNeighborX="36703" custLinFactNeighborY="-1061">
        <dgm:presLayoutVars>
          <dgm:chMax val="0"/>
          <dgm:chPref val="0"/>
          <dgm:bulletEnabled val="1"/>
        </dgm:presLayoutVars>
      </dgm:prSet>
      <dgm:spPr/>
    </dgm:pt>
  </dgm:ptLst>
  <dgm:cxnLst>
    <dgm:cxn modelId="{E74A860C-7EF1-47CA-BD30-DAEB26F5D80A}" srcId="{3D1321AD-2338-4D5A-AB17-6AE7630D1D0D}" destId="{90FD7654-C598-46A5-A147-1A997396FE55}" srcOrd="2" destOrd="0" parTransId="{66F984D3-CA0B-4FD4-AC90-B857DFA9635F}" sibTransId="{4EEC7DFF-7A05-4265-A3FD-E8D252E2A880}"/>
    <dgm:cxn modelId="{D0583731-0094-43AF-A910-AA3C4898EFEF}" srcId="{3D1321AD-2338-4D5A-AB17-6AE7630D1D0D}" destId="{DB5C16FE-9E07-45EF-AFD0-952827385A69}" srcOrd="1" destOrd="0" parTransId="{B2DA977F-9198-48C6-AE45-45757906045D}" sibTransId="{62DD7D11-2891-4CC2-B450-C0D2425445DC}"/>
    <dgm:cxn modelId="{2E50204D-2361-4BF4-A394-253ECE58F50B}" srcId="{3D1321AD-2338-4D5A-AB17-6AE7630D1D0D}" destId="{6711CEBC-02A7-4B60-9C8D-9D1DA0262B52}" srcOrd="0" destOrd="0" parTransId="{8BCE3479-D262-4694-89A4-E838FAC65B32}" sibTransId="{EDD2E0B2-17AC-4E8C-A6CE-427060699EFA}"/>
    <dgm:cxn modelId="{B7A72892-D4B0-413A-8F50-C5C96EC9A30C}" type="presOf" srcId="{90FD7654-C598-46A5-A147-1A997396FE55}" destId="{E0BC53B2-E929-4AB7-951C-6978227498FB}" srcOrd="0" destOrd="0" presId="urn:microsoft.com/office/officeart/2005/8/layout/matrix2"/>
    <dgm:cxn modelId="{AB981A96-83D4-43F3-9C50-744A55B9763C}" type="presOf" srcId="{6711CEBC-02A7-4B60-9C8D-9D1DA0262B52}" destId="{9A1503D5-4ACB-4241-B21F-D761F0E0B284}" srcOrd="0" destOrd="0" presId="urn:microsoft.com/office/officeart/2005/8/layout/matrix2"/>
    <dgm:cxn modelId="{7D6683C9-CDCB-4EE0-81DE-8C90953EDA0B}" type="presOf" srcId="{AC3D503D-FC6A-499A-84B8-0115651F158A}" destId="{39E689FC-8CD8-4DC3-81E2-BA424F264ACA}" srcOrd="0" destOrd="0" presId="urn:microsoft.com/office/officeart/2005/8/layout/matrix2"/>
    <dgm:cxn modelId="{685184E3-A893-4B58-9EA9-BABA7AB688FA}" type="presOf" srcId="{DB5C16FE-9E07-45EF-AFD0-952827385A69}" destId="{24F9A1FD-43D3-4DDB-8606-3C9AE7774700}" srcOrd="0" destOrd="0" presId="urn:microsoft.com/office/officeart/2005/8/layout/matrix2"/>
    <dgm:cxn modelId="{8A199FED-CDB1-43B4-B328-D78E34FA4232}" srcId="{3D1321AD-2338-4D5A-AB17-6AE7630D1D0D}" destId="{AC3D503D-FC6A-499A-84B8-0115651F158A}" srcOrd="3" destOrd="0" parTransId="{A709F1A1-9B2C-4411-AA89-2E69055867C8}" sibTransId="{6D4F376C-131A-4248-AEC4-6F2F909AB4C6}"/>
    <dgm:cxn modelId="{785039FF-EB94-4BA1-9600-0E37A80E8220}" type="presOf" srcId="{3D1321AD-2338-4D5A-AB17-6AE7630D1D0D}" destId="{A22E988F-9C26-4F4F-A21D-509600DA8413}" srcOrd="0" destOrd="0" presId="urn:microsoft.com/office/officeart/2005/8/layout/matrix2"/>
    <dgm:cxn modelId="{C14C537C-ECD1-48A6-A5E5-9EF3397F8BF9}" type="presParOf" srcId="{A22E988F-9C26-4F4F-A21D-509600DA8413}" destId="{C6B534DB-6AEF-4D33-8A05-93F2782B9258}" srcOrd="0" destOrd="0" presId="urn:microsoft.com/office/officeart/2005/8/layout/matrix2"/>
    <dgm:cxn modelId="{A5AD9A1F-C331-4396-8152-E4D2CD7B21EA}" type="presParOf" srcId="{A22E988F-9C26-4F4F-A21D-509600DA8413}" destId="{9A1503D5-4ACB-4241-B21F-D761F0E0B284}" srcOrd="1" destOrd="0" presId="urn:microsoft.com/office/officeart/2005/8/layout/matrix2"/>
    <dgm:cxn modelId="{A8C7BB57-383F-4345-A9F4-9AFB7F56B9CF}" type="presParOf" srcId="{A22E988F-9C26-4F4F-A21D-509600DA8413}" destId="{24F9A1FD-43D3-4DDB-8606-3C9AE7774700}" srcOrd="2" destOrd="0" presId="urn:microsoft.com/office/officeart/2005/8/layout/matrix2"/>
    <dgm:cxn modelId="{72C20022-51E0-4DFA-8EBB-3AD9A42DEDED}" type="presParOf" srcId="{A22E988F-9C26-4F4F-A21D-509600DA8413}" destId="{E0BC53B2-E929-4AB7-951C-6978227498FB}" srcOrd="3" destOrd="0" presId="urn:microsoft.com/office/officeart/2005/8/layout/matrix2"/>
    <dgm:cxn modelId="{CD791E0E-6DCE-4820-992A-07BC296358EF}" type="presParOf" srcId="{A22E988F-9C26-4F4F-A21D-509600DA8413}" destId="{39E689FC-8CD8-4DC3-81E2-BA424F264ACA}"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33396-C692-4717-9924-E5472404E632}">
      <dsp:nvSpPr>
        <dsp:cNvPr id="0" name=""/>
        <dsp:cNvSpPr/>
      </dsp:nvSpPr>
      <dsp:spPr>
        <a:xfrm rot="10800000">
          <a:off x="666745" y="515"/>
          <a:ext cx="5924558" cy="689780"/>
        </a:xfrm>
        <a:prstGeom prst="homePlate">
          <a:avLst/>
        </a:prstGeom>
        <a:solidFill>
          <a:srgbClr val="358BCE"/>
        </a:solidFill>
        <a:ln w="12700" cap="flat" cmpd="sng" algn="ctr">
          <a:solidFill>
            <a:schemeClr val="lt1">
              <a:hueOff val="0"/>
              <a:satOff val="0"/>
              <a:lumOff val="0"/>
              <a:alphaOff val="0"/>
            </a:schemeClr>
          </a:solidFill>
          <a:prstDash val="solid"/>
          <a:miter lim="800000"/>
        </a:ln>
        <a:effectLst>
          <a:softEdge rad="38100"/>
        </a:effectLst>
      </dsp:spPr>
      <dsp:style>
        <a:lnRef idx="2">
          <a:scrgbClr r="0" g="0" b="0"/>
        </a:lnRef>
        <a:fillRef idx="1">
          <a:scrgbClr r="0" g="0" b="0"/>
        </a:fillRef>
        <a:effectRef idx="0">
          <a:scrgbClr r="0" g="0" b="0"/>
        </a:effectRef>
        <a:fontRef idx="minor">
          <a:schemeClr val="lt1"/>
        </a:fontRef>
      </dsp:style>
      <dsp:txBody>
        <a:bodyPr spcFirstLastPara="0" vert="horz" wrap="square" lIns="304174" tIns="95250" rIns="177800" bIns="95250" numCol="1" spcCol="1270" anchor="ctr" anchorCtr="0">
          <a:noAutofit/>
        </a:bodyPr>
        <a:lstStyle/>
        <a:p>
          <a:pPr marL="0" lvl="0" indent="0" algn="just" defTabSz="1111250">
            <a:lnSpc>
              <a:spcPct val="90000"/>
            </a:lnSpc>
            <a:spcBef>
              <a:spcPct val="0"/>
            </a:spcBef>
            <a:spcAft>
              <a:spcPct val="35000"/>
            </a:spcAft>
            <a:buNone/>
          </a:pPr>
          <a:r>
            <a:rPr lang="en-IN" sz="2500" kern="1200" dirty="0">
              <a:solidFill>
                <a:srgbClr val="002060"/>
              </a:solidFill>
            </a:rPr>
            <a:t>Analyse airline delay patterns over time</a:t>
          </a:r>
          <a:endParaRPr lang="en-IN" sz="2500" kern="1200" dirty="0"/>
        </a:p>
      </dsp:txBody>
      <dsp:txXfrm rot="10800000">
        <a:off x="839190" y="515"/>
        <a:ext cx="5752113" cy="689780"/>
      </dsp:txXfrm>
    </dsp:sp>
    <dsp:sp modelId="{7A722F18-0CD5-4909-BCAA-C6598DF487F3}">
      <dsp:nvSpPr>
        <dsp:cNvPr id="0" name=""/>
        <dsp:cNvSpPr/>
      </dsp:nvSpPr>
      <dsp:spPr>
        <a:xfrm>
          <a:off x="0" y="184"/>
          <a:ext cx="689780" cy="689780"/>
        </a:xfrm>
        <a:prstGeom prst="ellipse">
          <a:avLst/>
        </a:prstGeom>
        <a:blipFill dpi="0" rotWithShape="1">
          <a:blip xmlns:r="http://schemas.openxmlformats.org/officeDocument/2006/relationships" r:embed="rId1">
            <a:lum bright="40000" contrast="-40000"/>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8B06D279-CE7E-4F4C-AAC9-72C68430807E}">
      <dsp:nvSpPr>
        <dsp:cNvPr id="0" name=""/>
        <dsp:cNvSpPr/>
      </dsp:nvSpPr>
      <dsp:spPr>
        <a:xfrm rot="10800000">
          <a:off x="687644" y="896200"/>
          <a:ext cx="5882759" cy="689780"/>
        </a:xfrm>
        <a:prstGeom prst="homePlate">
          <a:avLst/>
        </a:prstGeom>
        <a:solidFill>
          <a:srgbClr val="358BCE"/>
        </a:solidFill>
        <a:ln w="12700" cap="flat" cmpd="sng" algn="ctr">
          <a:solidFill>
            <a:prstClr val="white">
              <a:hueOff val="0"/>
              <a:satOff val="0"/>
              <a:lumOff val="0"/>
              <a:alphaOff val="0"/>
            </a:prstClr>
          </a:solidFill>
          <a:prstDash val="solid"/>
          <a:miter lim="800000"/>
        </a:ln>
        <a:effectLst>
          <a:softEdge rad="38100"/>
        </a:effectLst>
      </dsp:spPr>
      <dsp:style>
        <a:lnRef idx="2">
          <a:scrgbClr r="0" g="0" b="0"/>
        </a:lnRef>
        <a:fillRef idx="1">
          <a:scrgbClr r="0" g="0" b="0"/>
        </a:fillRef>
        <a:effectRef idx="0">
          <a:scrgbClr r="0" g="0" b="0"/>
        </a:effectRef>
        <a:fontRef idx="minor">
          <a:schemeClr val="lt1"/>
        </a:fontRef>
      </dsp:style>
      <dsp:txBody>
        <a:bodyPr spcFirstLastPara="0" vert="horz" wrap="square" lIns="273888" tIns="76200" rIns="142240" bIns="76200" numCol="1" spcCol="1270" anchor="ctr" anchorCtr="0">
          <a:noAutofit/>
        </a:bodyPr>
        <a:lstStyle/>
        <a:p>
          <a:pPr marL="0" lvl="0" indent="0" algn="just" defTabSz="889000">
            <a:lnSpc>
              <a:spcPct val="90000"/>
            </a:lnSpc>
            <a:spcBef>
              <a:spcPct val="0"/>
            </a:spcBef>
            <a:spcAft>
              <a:spcPct val="35000"/>
            </a:spcAft>
            <a:buNone/>
          </a:pPr>
          <a:r>
            <a:rPr lang="en-IN" sz="2600" kern="1200" dirty="0">
              <a:solidFill>
                <a:srgbClr val="002060"/>
              </a:solidFill>
              <a:latin typeface="Calibri" panose="020F0502020204030204"/>
              <a:ea typeface="+mn-ea"/>
              <a:cs typeface="+mn-cs"/>
            </a:rPr>
            <a:t>Understand why delays occur</a:t>
          </a:r>
        </a:p>
      </dsp:txBody>
      <dsp:txXfrm rot="10800000">
        <a:off x="860089" y="896200"/>
        <a:ext cx="5710314" cy="689780"/>
      </dsp:txXfrm>
    </dsp:sp>
    <dsp:sp modelId="{61113E63-4A8C-4909-B40A-16F7B5998490}">
      <dsp:nvSpPr>
        <dsp:cNvPr id="0" name=""/>
        <dsp:cNvSpPr/>
      </dsp:nvSpPr>
      <dsp:spPr>
        <a:xfrm>
          <a:off x="0" y="919556"/>
          <a:ext cx="689780" cy="689780"/>
        </a:xfrm>
        <a:prstGeom prst="ellipse">
          <a:avLst/>
        </a:prstGeom>
        <a:blipFill>
          <a:blip xmlns:r="http://schemas.openxmlformats.org/officeDocument/2006/relationships" r:embed="rId3">
            <a:duotone>
              <a:prstClr val="black"/>
              <a:schemeClr val="tx2">
                <a:tint val="45000"/>
                <a:satMod val="400000"/>
              </a:schemeClr>
            </a:duotone>
            <a:lum contrast="100000"/>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84F8F7B9-EC8B-4665-941F-5F601E189DD0}">
      <dsp:nvSpPr>
        <dsp:cNvPr id="0" name=""/>
        <dsp:cNvSpPr/>
      </dsp:nvSpPr>
      <dsp:spPr>
        <a:xfrm rot="10800000">
          <a:off x="687644" y="1791885"/>
          <a:ext cx="5882759" cy="689780"/>
        </a:xfrm>
        <a:prstGeom prst="homePlate">
          <a:avLst/>
        </a:prstGeom>
        <a:solidFill>
          <a:srgbClr val="358BCE"/>
        </a:solidFill>
        <a:ln w="12700" cap="flat" cmpd="sng" algn="ctr">
          <a:solidFill>
            <a:prstClr val="white">
              <a:hueOff val="0"/>
              <a:satOff val="0"/>
              <a:lumOff val="0"/>
              <a:alphaOff val="0"/>
            </a:prstClr>
          </a:solidFill>
          <a:prstDash val="solid"/>
          <a:miter lim="800000"/>
        </a:ln>
        <a:effectLst>
          <a:softEdge rad="38100"/>
        </a:effectLst>
      </dsp:spPr>
      <dsp:style>
        <a:lnRef idx="2">
          <a:scrgbClr r="0" g="0" b="0"/>
        </a:lnRef>
        <a:fillRef idx="1">
          <a:scrgbClr r="0" g="0" b="0"/>
        </a:fillRef>
        <a:effectRef idx="0">
          <a:scrgbClr r="0" g="0" b="0"/>
        </a:effectRef>
        <a:fontRef idx="minor">
          <a:schemeClr val="lt1"/>
        </a:fontRef>
      </dsp:style>
      <dsp:txBody>
        <a:bodyPr spcFirstLastPara="0" vert="horz" wrap="square" lIns="273888" tIns="76200" rIns="142240" bIns="76200" numCol="1" spcCol="1270" anchor="ctr" anchorCtr="0">
          <a:noAutofit/>
        </a:bodyPr>
        <a:lstStyle/>
        <a:p>
          <a:pPr marL="0" lvl="0" indent="0" algn="just" defTabSz="889000">
            <a:lnSpc>
              <a:spcPct val="90000"/>
            </a:lnSpc>
            <a:spcBef>
              <a:spcPct val="0"/>
            </a:spcBef>
            <a:spcAft>
              <a:spcPct val="35000"/>
            </a:spcAft>
            <a:buNone/>
          </a:pPr>
          <a:r>
            <a:rPr lang="en-IN" sz="2600" kern="1200" dirty="0">
              <a:solidFill>
                <a:srgbClr val="002060"/>
              </a:solidFill>
              <a:latin typeface="Calibri" panose="020F0502020204030204"/>
              <a:ea typeface="+mn-ea"/>
              <a:cs typeface="+mn-cs"/>
            </a:rPr>
            <a:t>Compare airline operational efficiency</a:t>
          </a:r>
        </a:p>
      </dsp:txBody>
      <dsp:txXfrm rot="10800000">
        <a:off x="860089" y="1791885"/>
        <a:ext cx="5710314" cy="689780"/>
      </dsp:txXfrm>
    </dsp:sp>
    <dsp:sp modelId="{22B213BA-617C-4109-AEE2-E7CA444A7BED}">
      <dsp:nvSpPr>
        <dsp:cNvPr id="0" name=""/>
        <dsp:cNvSpPr/>
      </dsp:nvSpPr>
      <dsp:spPr>
        <a:xfrm>
          <a:off x="0" y="1838928"/>
          <a:ext cx="689780" cy="689780"/>
        </a:xfrm>
        <a:prstGeom prst="ellipse">
          <a:avLst/>
        </a:prstGeom>
        <a:blipFill>
          <a:blip xmlns:r="http://schemas.openxmlformats.org/officeDocument/2006/relationships" r:embed="rId5">
            <a:duotone>
              <a:prstClr val="black"/>
              <a:schemeClr val="tx2">
                <a:tint val="45000"/>
                <a:satMod val="400000"/>
              </a:schemeClr>
            </a:duotone>
            <a:lum contrast="100000"/>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3F7E3569-746F-4F5D-927B-0DEB9D683C68}">
      <dsp:nvSpPr>
        <dsp:cNvPr id="0" name=""/>
        <dsp:cNvSpPr/>
      </dsp:nvSpPr>
      <dsp:spPr>
        <a:xfrm rot="10800000">
          <a:off x="695801" y="2687570"/>
          <a:ext cx="5866445" cy="689780"/>
        </a:xfrm>
        <a:prstGeom prst="homePlate">
          <a:avLst/>
        </a:prstGeom>
        <a:solidFill>
          <a:srgbClr val="358BCE"/>
        </a:solidFill>
        <a:ln w="12700" cap="flat" cmpd="sng" algn="ctr">
          <a:solidFill>
            <a:prstClr val="white">
              <a:hueOff val="0"/>
              <a:satOff val="0"/>
              <a:lumOff val="0"/>
              <a:alphaOff val="0"/>
            </a:prstClr>
          </a:solidFill>
          <a:prstDash val="solid"/>
          <a:miter lim="800000"/>
        </a:ln>
        <a:effectLst>
          <a:softEdge rad="38100"/>
        </a:effectLst>
      </dsp:spPr>
      <dsp:style>
        <a:lnRef idx="2">
          <a:scrgbClr r="0" g="0" b="0"/>
        </a:lnRef>
        <a:fillRef idx="1">
          <a:scrgbClr r="0" g="0" b="0"/>
        </a:fillRef>
        <a:effectRef idx="0">
          <a:scrgbClr r="0" g="0" b="0"/>
        </a:effectRef>
        <a:fontRef idx="minor">
          <a:schemeClr val="lt1"/>
        </a:fontRef>
      </dsp:style>
      <dsp:txBody>
        <a:bodyPr spcFirstLastPara="0" vert="horz" wrap="square" lIns="273888" tIns="76200" rIns="142240" bIns="76200" numCol="1" spcCol="1270" anchor="ctr" anchorCtr="0">
          <a:noAutofit/>
        </a:bodyPr>
        <a:lstStyle/>
        <a:p>
          <a:pPr marL="0" lvl="0" indent="0" algn="just" defTabSz="889000">
            <a:lnSpc>
              <a:spcPct val="90000"/>
            </a:lnSpc>
            <a:spcBef>
              <a:spcPct val="0"/>
            </a:spcBef>
            <a:spcAft>
              <a:spcPct val="35000"/>
            </a:spcAft>
            <a:buNone/>
          </a:pPr>
          <a:r>
            <a:rPr lang="en-IN" sz="2600" kern="1200" dirty="0">
              <a:solidFill>
                <a:srgbClr val="002060"/>
              </a:solidFill>
              <a:latin typeface="Calibri" panose="020F0502020204030204"/>
              <a:ea typeface="+mn-ea"/>
              <a:cs typeface="+mn-cs"/>
            </a:rPr>
            <a:t>Build KPIs for disruption risk</a:t>
          </a:r>
        </a:p>
      </dsp:txBody>
      <dsp:txXfrm rot="10800000">
        <a:off x="868246" y="2687570"/>
        <a:ext cx="5694000" cy="689780"/>
      </dsp:txXfrm>
    </dsp:sp>
    <dsp:sp modelId="{FEA5C9EA-11F3-4D33-A07C-B64ED481A285}">
      <dsp:nvSpPr>
        <dsp:cNvPr id="0" name=""/>
        <dsp:cNvSpPr/>
      </dsp:nvSpPr>
      <dsp:spPr>
        <a:xfrm>
          <a:off x="0" y="2738862"/>
          <a:ext cx="689780" cy="689780"/>
        </a:xfrm>
        <a:prstGeom prst="ellipse">
          <a:avLst/>
        </a:prstGeom>
        <a:blipFill>
          <a:blip xmlns:r="http://schemas.openxmlformats.org/officeDocument/2006/relationships" r:embed="rId7">
            <a:duotone>
              <a:prstClr val="black"/>
              <a:schemeClr val="accent4">
                <a:tint val="45000"/>
                <a:satMod val="400000"/>
              </a:schemeClr>
            </a:duotone>
            <a:lum contrast="100000"/>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E4354883-37D9-48FE-9DFC-4981D8247075}">
      <dsp:nvSpPr>
        <dsp:cNvPr id="0" name=""/>
        <dsp:cNvSpPr/>
      </dsp:nvSpPr>
      <dsp:spPr>
        <a:xfrm rot="10800000">
          <a:off x="687644" y="3583255"/>
          <a:ext cx="5882759" cy="689780"/>
        </a:xfrm>
        <a:prstGeom prst="homePlate">
          <a:avLst/>
        </a:prstGeom>
        <a:solidFill>
          <a:srgbClr val="358BCE"/>
        </a:solidFill>
        <a:ln w="12700" cap="flat" cmpd="sng" algn="ctr">
          <a:solidFill>
            <a:prstClr val="white">
              <a:hueOff val="0"/>
              <a:satOff val="0"/>
              <a:lumOff val="0"/>
              <a:alphaOff val="0"/>
            </a:prstClr>
          </a:solidFill>
          <a:prstDash val="solid"/>
          <a:miter lim="800000"/>
        </a:ln>
        <a:effectLst>
          <a:softEdge rad="38100"/>
        </a:effectLst>
      </dsp:spPr>
      <dsp:style>
        <a:lnRef idx="2">
          <a:scrgbClr r="0" g="0" b="0"/>
        </a:lnRef>
        <a:fillRef idx="1">
          <a:scrgbClr r="0" g="0" b="0"/>
        </a:fillRef>
        <a:effectRef idx="0">
          <a:scrgbClr r="0" g="0" b="0"/>
        </a:effectRef>
        <a:fontRef idx="minor">
          <a:schemeClr val="lt1"/>
        </a:fontRef>
      </dsp:style>
      <dsp:txBody>
        <a:bodyPr spcFirstLastPara="0" vert="horz" wrap="square" lIns="273888" tIns="76200" rIns="142240" bIns="76200" numCol="1" spcCol="1270" anchor="ctr" anchorCtr="0">
          <a:noAutofit/>
        </a:bodyPr>
        <a:lstStyle/>
        <a:p>
          <a:pPr marL="0" lvl="0" indent="0" algn="just" defTabSz="889000">
            <a:lnSpc>
              <a:spcPct val="90000"/>
            </a:lnSpc>
            <a:spcBef>
              <a:spcPct val="0"/>
            </a:spcBef>
            <a:spcAft>
              <a:spcPct val="35000"/>
            </a:spcAft>
            <a:buNone/>
          </a:pPr>
          <a:r>
            <a:rPr lang="en-IN" sz="2000" kern="1200" dirty="0">
              <a:solidFill>
                <a:srgbClr val="002060"/>
              </a:solidFill>
              <a:latin typeface="Calibri" panose="020F0502020204030204"/>
              <a:ea typeface="+mn-ea"/>
              <a:cs typeface="+mn-cs"/>
            </a:rPr>
            <a:t>Convert raw operational data into business insights</a:t>
          </a:r>
        </a:p>
      </dsp:txBody>
      <dsp:txXfrm rot="10800000">
        <a:off x="860089" y="3583255"/>
        <a:ext cx="5710314" cy="689780"/>
      </dsp:txXfrm>
    </dsp:sp>
    <dsp:sp modelId="{0145D937-A3C0-4E84-96B3-DF149C69EA6A}">
      <dsp:nvSpPr>
        <dsp:cNvPr id="0" name=""/>
        <dsp:cNvSpPr/>
      </dsp:nvSpPr>
      <dsp:spPr>
        <a:xfrm>
          <a:off x="0" y="3583770"/>
          <a:ext cx="689780" cy="689780"/>
        </a:xfrm>
        <a:prstGeom prst="ellipse">
          <a:avLst/>
        </a:prstGeom>
        <a:blipFill>
          <a:blip xmlns:r="http://schemas.openxmlformats.org/officeDocument/2006/relationships" r:embed="rId9">
            <a:duotone>
              <a:prstClr val="black"/>
              <a:schemeClr val="tx2">
                <a:tint val="45000"/>
                <a:satMod val="400000"/>
              </a:schemeClr>
            </a:duotone>
            <a:lum contrast="100000"/>
            <a:extLst>
              <a:ext uri="{96DAC541-7B7A-43D3-8B79-37D633B846F1}">
                <asvg:svgBlip xmlns:asvg="http://schemas.microsoft.com/office/drawing/2016/SVG/main" r:embed="rId1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A2CD5F-E59C-49A8-A601-B33C01C9B976}">
      <dsp:nvSpPr>
        <dsp:cNvPr id="0" name=""/>
        <dsp:cNvSpPr/>
      </dsp:nvSpPr>
      <dsp:spPr>
        <a:xfrm>
          <a:off x="2567" y="262006"/>
          <a:ext cx="2284883" cy="913953"/>
        </a:xfrm>
        <a:prstGeom prst="chevron">
          <a:avLst/>
        </a:prstGeom>
        <a:solidFill>
          <a:srgbClr val="358BCE"/>
        </a:solidFill>
        <a:ln w="12700" cap="flat" cmpd="sng" algn="ctr">
          <a:solidFill>
            <a:schemeClr val="lt1">
              <a:hueOff val="0"/>
              <a:satOff val="0"/>
              <a:lumOff val="0"/>
              <a:alphaOff val="0"/>
            </a:schemeClr>
          </a:solidFill>
          <a:prstDash val="solid"/>
          <a:miter lim="800000"/>
        </a:ln>
        <a:effectLst>
          <a:softEdge rad="0"/>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kern="1200" dirty="0"/>
            <a:t>Raw Data</a:t>
          </a:r>
          <a:endParaRPr lang="en-IN" sz="1700" kern="1200" dirty="0"/>
        </a:p>
      </dsp:txBody>
      <dsp:txXfrm>
        <a:off x="459544" y="262006"/>
        <a:ext cx="1370930" cy="913953"/>
      </dsp:txXfrm>
    </dsp:sp>
    <dsp:sp modelId="{E5473929-E233-45C3-A1E7-8D2151240139}">
      <dsp:nvSpPr>
        <dsp:cNvPr id="0" name=""/>
        <dsp:cNvSpPr/>
      </dsp:nvSpPr>
      <dsp:spPr>
        <a:xfrm>
          <a:off x="2058962" y="262006"/>
          <a:ext cx="2284883" cy="913953"/>
        </a:xfrm>
        <a:prstGeom prst="chevron">
          <a:avLst/>
        </a:prstGeom>
        <a:solidFill>
          <a:srgbClr val="358BC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kern="1200" dirty="0"/>
            <a:t>Data Preprocessing</a:t>
          </a:r>
          <a:endParaRPr lang="en-IN" sz="1700" kern="1200" dirty="0"/>
        </a:p>
      </dsp:txBody>
      <dsp:txXfrm>
        <a:off x="2515939" y="262006"/>
        <a:ext cx="1370930" cy="913953"/>
      </dsp:txXfrm>
    </dsp:sp>
    <dsp:sp modelId="{52C5EBFE-F18F-42C4-BCBA-06AFCCCEB872}">
      <dsp:nvSpPr>
        <dsp:cNvPr id="0" name=""/>
        <dsp:cNvSpPr/>
      </dsp:nvSpPr>
      <dsp:spPr>
        <a:xfrm>
          <a:off x="4115358" y="262006"/>
          <a:ext cx="2284883" cy="913953"/>
        </a:xfrm>
        <a:prstGeom prst="chevron">
          <a:avLst/>
        </a:prstGeom>
        <a:solidFill>
          <a:srgbClr val="358BC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kern="1200" dirty="0"/>
            <a:t>Feature Engineering</a:t>
          </a:r>
          <a:endParaRPr lang="en-IN" sz="1700" kern="1200" dirty="0"/>
        </a:p>
      </dsp:txBody>
      <dsp:txXfrm>
        <a:off x="4572335" y="262006"/>
        <a:ext cx="1370930" cy="913953"/>
      </dsp:txXfrm>
    </dsp:sp>
    <dsp:sp modelId="{B80EA30B-1DE5-4CC4-9A1C-9C280E51ED2D}">
      <dsp:nvSpPr>
        <dsp:cNvPr id="0" name=""/>
        <dsp:cNvSpPr/>
      </dsp:nvSpPr>
      <dsp:spPr>
        <a:xfrm>
          <a:off x="6171753" y="262006"/>
          <a:ext cx="2284883" cy="913953"/>
        </a:xfrm>
        <a:prstGeom prst="chevron">
          <a:avLst/>
        </a:prstGeom>
        <a:solidFill>
          <a:srgbClr val="358BC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kern="1200" dirty="0"/>
            <a:t>KPI Creation</a:t>
          </a:r>
          <a:endParaRPr lang="en-IN" sz="1700" kern="1200" dirty="0"/>
        </a:p>
      </dsp:txBody>
      <dsp:txXfrm>
        <a:off x="6628730" y="262006"/>
        <a:ext cx="1370930" cy="913953"/>
      </dsp:txXfrm>
    </dsp:sp>
    <dsp:sp modelId="{1362CB1A-22C9-424C-B662-CC32D47818F3}">
      <dsp:nvSpPr>
        <dsp:cNvPr id="0" name=""/>
        <dsp:cNvSpPr/>
      </dsp:nvSpPr>
      <dsp:spPr>
        <a:xfrm>
          <a:off x="8228148" y="262006"/>
          <a:ext cx="2284883" cy="913953"/>
        </a:xfrm>
        <a:prstGeom prst="chevron">
          <a:avLst/>
        </a:prstGeom>
        <a:solidFill>
          <a:srgbClr val="358BC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22670" rIns="22670" bIns="22670" numCol="1" spcCol="1270" anchor="ctr" anchorCtr="0">
          <a:noAutofit/>
        </a:bodyPr>
        <a:lstStyle/>
        <a:p>
          <a:pPr marL="0" lvl="0" indent="0" algn="ctr" defTabSz="755650">
            <a:lnSpc>
              <a:spcPct val="90000"/>
            </a:lnSpc>
            <a:spcBef>
              <a:spcPct val="0"/>
            </a:spcBef>
            <a:spcAft>
              <a:spcPct val="35000"/>
            </a:spcAft>
            <a:buNone/>
          </a:pPr>
          <a:r>
            <a:rPr lang="en-US" sz="1700" kern="1200" dirty="0"/>
            <a:t>Business Insights</a:t>
          </a:r>
          <a:endParaRPr lang="en-IN" sz="1700" kern="1200" dirty="0"/>
        </a:p>
      </dsp:txBody>
      <dsp:txXfrm>
        <a:off x="8685125" y="262006"/>
        <a:ext cx="1370930" cy="9139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9CFEBD-49C5-4DD4-81A7-50F8360B0944}">
      <dsp:nvSpPr>
        <dsp:cNvPr id="0" name=""/>
        <dsp:cNvSpPr/>
      </dsp:nvSpPr>
      <dsp:spPr>
        <a:xfrm rot="5400000">
          <a:off x="6816183" y="-2945049"/>
          <a:ext cx="66884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FontTx/>
            <a:buNone/>
          </a:pPr>
          <a:r>
            <a:rPr lang="en-US" sz="3100" kern="1200" dirty="0">
              <a:solidFill>
                <a:srgbClr val="002060"/>
              </a:solidFill>
            </a:rPr>
            <a:t>Airline operational issues</a:t>
          </a:r>
          <a:endParaRPr lang="en-IN" sz="3100" kern="1200" dirty="0">
            <a:solidFill>
              <a:srgbClr val="002060"/>
            </a:solidFill>
          </a:endParaRPr>
        </a:p>
      </dsp:txBody>
      <dsp:txXfrm rot="-5400000">
        <a:off x="3785615" y="118169"/>
        <a:ext cx="6697334" cy="603548"/>
      </dsp:txXfrm>
    </dsp:sp>
    <dsp:sp modelId="{D951A3E5-48E7-4FC0-8415-24A97190A288}">
      <dsp:nvSpPr>
        <dsp:cNvPr id="0" name=""/>
        <dsp:cNvSpPr/>
      </dsp:nvSpPr>
      <dsp:spPr>
        <a:xfrm>
          <a:off x="0" y="1912"/>
          <a:ext cx="3785616" cy="836060"/>
        </a:xfrm>
        <a:prstGeom prst="roundRect">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Carrier Delay</a:t>
          </a:r>
          <a:endParaRPr lang="en-IN" sz="2300" kern="1200" dirty="0"/>
        </a:p>
      </dsp:txBody>
      <dsp:txXfrm>
        <a:off x="40813" y="42725"/>
        <a:ext cx="3703990" cy="754434"/>
      </dsp:txXfrm>
    </dsp:sp>
    <dsp:sp modelId="{BC7ED71E-8D51-42C0-91DE-40B9727221FB}">
      <dsp:nvSpPr>
        <dsp:cNvPr id="0" name=""/>
        <dsp:cNvSpPr/>
      </dsp:nvSpPr>
      <dsp:spPr>
        <a:xfrm rot="5400000">
          <a:off x="6816183" y="-2067186"/>
          <a:ext cx="66884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FontTx/>
            <a:buNone/>
          </a:pPr>
          <a:r>
            <a:rPr lang="en-US" sz="3100" kern="1200" dirty="0">
              <a:solidFill>
                <a:srgbClr val="002060"/>
              </a:solidFill>
            </a:rPr>
            <a:t>Aircraft arriving late from previous flight</a:t>
          </a:r>
          <a:endParaRPr lang="en-IN" sz="3100" kern="1200" dirty="0">
            <a:solidFill>
              <a:srgbClr val="002060"/>
            </a:solidFill>
          </a:endParaRPr>
        </a:p>
      </dsp:txBody>
      <dsp:txXfrm rot="-5400000">
        <a:off x="3785615" y="996032"/>
        <a:ext cx="6697334" cy="603548"/>
      </dsp:txXfrm>
    </dsp:sp>
    <dsp:sp modelId="{0314A38E-32D1-4BAB-BBCC-328CDDDFB136}">
      <dsp:nvSpPr>
        <dsp:cNvPr id="0" name=""/>
        <dsp:cNvSpPr/>
      </dsp:nvSpPr>
      <dsp:spPr>
        <a:xfrm>
          <a:off x="0" y="879775"/>
          <a:ext cx="3785616" cy="836060"/>
        </a:xfrm>
        <a:prstGeom prst="roundRect">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Late Aircraft Delay</a:t>
          </a:r>
          <a:endParaRPr lang="en-IN" sz="2300" kern="1200" dirty="0"/>
        </a:p>
      </dsp:txBody>
      <dsp:txXfrm>
        <a:off x="40813" y="920588"/>
        <a:ext cx="3703990" cy="754434"/>
      </dsp:txXfrm>
    </dsp:sp>
    <dsp:sp modelId="{3CF7299C-D561-45E4-9973-9986A0F241FA}">
      <dsp:nvSpPr>
        <dsp:cNvPr id="0" name=""/>
        <dsp:cNvSpPr/>
      </dsp:nvSpPr>
      <dsp:spPr>
        <a:xfrm rot="5400000">
          <a:off x="6816183" y="-1189323"/>
          <a:ext cx="66884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FontTx/>
            <a:buNone/>
          </a:pPr>
          <a:r>
            <a:rPr lang="en-US" sz="3100" kern="1200" dirty="0">
              <a:solidFill>
                <a:srgbClr val="002060"/>
              </a:solidFill>
            </a:rPr>
            <a:t>Air traffic congestion</a:t>
          </a:r>
          <a:endParaRPr lang="en-IN" sz="3100" kern="1200" dirty="0">
            <a:solidFill>
              <a:srgbClr val="002060"/>
            </a:solidFill>
          </a:endParaRPr>
        </a:p>
      </dsp:txBody>
      <dsp:txXfrm rot="-5400000">
        <a:off x="3785615" y="1873895"/>
        <a:ext cx="6697334" cy="603548"/>
      </dsp:txXfrm>
    </dsp:sp>
    <dsp:sp modelId="{38F43CE3-0186-45B4-A202-2A84CE2C59F7}">
      <dsp:nvSpPr>
        <dsp:cNvPr id="0" name=""/>
        <dsp:cNvSpPr/>
      </dsp:nvSpPr>
      <dsp:spPr>
        <a:xfrm>
          <a:off x="0" y="1757638"/>
          <a:ext cx="3785616" cy="836060"/>
        </a:xfrm>
        <a:prstGeom prst="roundRect">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NAS (National Aviation System) Delay</a:t>
          </a:r>
          <a:endParaRPr lang="en-IN" sz="2300" kern="1200" dirty="0"/>
        </a:p>
      </dsp:txBody>
      <dsp:txXfrm>
        <a:off x="40813" y="1798451"/>
        <a:ext cx="3703990" cy="754434"/>
      </dsp:txXfrm>
    </dsp:sp>
    <dsp:sp modelId="{94F9D366-758E-45BC-B047-28DCBEF829DA}">
      <dsp:nvSpPr>
        <dsp:cNvPr id="0" name=""/>
        <dsp:cNvSpPr/>
      </dsp:nvSpPr>
      <dsp:spPr>
        <a:xfrm rot="5400000">
          <a:off x="6816183" y="-311459"/>
          <a:ext cx="66884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FontTx/>
            <a:buNone/>
          </a:pPr>
          <a:r>
            <a:rPr lang="en-US" sz="3100" kern="1200" dirty="0">
              <a:solidFill>
                <a:srgbClr val="002060"/>
              </a:solidFill>
            </a:rPr>
            <a:t>Security issues</a:t>
          </a:r>
          <a:endParaRPr lang="en-IN" sz="3100" kern="1200" dirty="0">
            <a:solidFill>
              <a:srgbClr val="002060"/>
            </a:solidFill>
          </a:endParaRPr>
        </a:p>
      </dsp:txBody>
      <dsp:txXfrm rot="-5400000">
        <a:off x="3785615" y="2751759"/>
        <a:ext cx="6697334" cy="603548"/>
      </dsp:txXfrm>
    </dsp:sp>
    <dsp:sp modelId="{C9B18BE1-2DB0-474B-819F-F4BD61D23496}">
      <dsp:nvSpPr>
        <dsp:cNvPr id="0" name=""/>
        <dsp:cNvSpPr/>
      </dsp:nvSpPr>
      <dsp:spPr>
        <a:xfrm>
          <a:off x="0" y="2635502"/>
          <a:ext cx="3785616" cy="836060"/>
        </a:xfrm>
        <a:prstGeom prst="roundRect">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Security Delay</a:t>
          </a:r>
          <a:endParaRPr lang="en-IN" sz="2300" kern="1200" dirty="0"/>
        </a:p>
      </dsp:txBody>
      <dsp:txXfrm>
        <a:off x="40813" y="2676315"/>
        <a:ext cx="3703990" cy="754434"/>
      </dsp:txXfrm>
    </dsp:sp>
    <dsp:sp modelId="{28BA7FB0-5CFB-48A5-BD06-07AB0134DE59}">
      <dsp:nvSpPr>
        <dsp:cNvPr id="0" name=""/>
        <dsp:cNvSpPr/>
      </dsp:nvSpPr>
      <dsp:spPr>
        <a:xfrm rot="5400000">
          <a:off x="6816183" y="566403"/>
          <a:ext cx="668848"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59055" rIns="118110" bIns="59055" numCol="1" spcCol="1270" anchor="ctr" anchorCtr="0">
          <a:noAutofit/>
        </a:bodyPr>
        <a:lstStyle/>
        <a:p>
          <a:pPr marL="285750" lvl="1" indent="-285750" algn="l" defTabSz="1377950">
            <a:lnSpc>
              <a:spcPct val="90000"/>
            </a:lnSpc>
            <a:spcBef>
              <a:spcPct val="0"/>
            </a:spcBef>
            <a:spcAft>
              <a:spcPct val="15000"/>
            </a:spcAft>
            <a:buFontTx/>
            <a:buNone/>
          </a:pPr>
          <a:r>
            <a:rPr lang="en-US" sz="3100" kern="1200" dirty="0">
              <a:solidFill>
                <a:srgbClr val="002060"/>
              </a:solidFill>
            </a:rPr>
            <a:t>Extreme weather events</a:t>
          </a:r>
          <a:endParaRPr lang="en-IN" sz="3100" kern="1200" dirty="0">
            <a:solidFill>
              <a:srgbClr val="002060"/>
            </a:solidFill>
          </a:endParaRPr>
        </a:p>
      </dsp:txBody>
      <dsp:txXfrm rot="-5400000">
        <a:off x="3785615" y="3629621"/>
        <a:ext cx="6697334" cy="603548"/>
      </dsp:txXfrm>
    </dsp:sp>
    <dsp:sp modelId="{93081567-2CD2-4E53-81CD-AA5E06D25640}">
      <dsp:nvSpPr>
        <dsp:cNvPr id="0" name=""/>
        <dsp:cNvSpPr/>
      </dsp:nvSpPr>
      <dsp:spPr>
        <a:xfrm>
          <a:off x="0" y="3513365"/>
          <a:ext cx="3785616" cy="836060"/>
        </a:xfrm>
        <a:prstGeom prst="roundRect">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43815" rIns="87630" bIns="43815" numCol="1" spcCol="1270" anchor="ctr" anchorCtr="0">
          <a:noAutofit/>
        </a:bodyPr>
        <a:lstStyle/>
        <a:p>
          <a:pPr marL="0" lvl="0" indent="0" algn="ctr" defTabSz="1022350">
            <a:lnSpc>
              <a:spcPct val="90000"/>
            </a:lnSpc>
            <a:spcBef>
              <a:spcPct val="0"/>
            </a:spcBef>
            <a:spcAft>
              <a:spcPct val="35000"/>
            </a:spcAft>
            <a:buNone/>
          </a:pPr>
          <a:r>
            <a:rPr lang="en-US" sz="2300" kern="1200" dirty="0"/>
            <a:t>Weather Delay</a:t>
          </a:r>
          <a:endParaRPr lang="en-IN" sz="2300" kern="1200" dirty="0"/>
        </a:p>
      </dsp:txBody>
      <dsp:txXfrm>
        <a:off x="40813" y="3554178"/>
        <a:ext cx="3703990" cy="7544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2279F1-B8BA-4660-9169-3B256872C9BD}">
      <dsp:nvSpPr>
        <dsp:cNvPr id="0" name=""/>
        <dsp:cNvSpPr/>
      </dsp:nvSpPr>
      <dsp:spPr>
        <a:xfrm>
          <a:off x="3953" y="867926"/>
          <a:ext cx="2377306" cy="93828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a:softEdge rad="38100"/>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IN" sz="2600" kern="1200" dirty="0"/>
            <a:t>Delay Rate</a:t>
          </a:r>
        </a:p>
      </dsp:txBody>
      <dsp:txXfrm>
        <a:off x="3953" y="867926"/>
        <a:ext cx="2377306" cy="938289"/>
      </dsp:txXfrm>
    </dsp:sp>
    <dsp:sp modelId="{B8134C6B-C7F6-4904-9229-10AB31D71C55}">
      <dsp:nvSpPr>
        <dsp:cNvPr id="0" name=""/>
        <dsp:cNvSpPr/>
      </dsp:nvSpPr>
      <dsp:spPr>
        <a:xfrm>
          <a:off x="3953" y="1806216"/>
          <a:ext cx="2377306" cy="167719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a:softEdge rad="38100"/>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FontTx/>
            <a:buNone/>
          </a:pPr>
          <a:r>
            <a:rPr lang="en-IN" sz="2400" kern="1200" dirty="0">
              <a:solidFill>
                <a:srgbClr val="002060"/>
              </a:solidFill>
            </a:rPr>
            <a:t>	Measures Delay intensity relative to flight volume.</a:t>
          </a:r>
          <a:endParaRPr lang="en-IN" sz="2600" kern="1200" dirty="0">
            <a:solidFill>
              <a:srgbClr val="002060"/>
            </a:solidFill>
          </a:endParaRPr>
        </a:p>
      </dsp:txBody>
      <dsp:txXfrm>
        <a:off x="3953" y="1806216"/>
        <a:ext cx="2377306" cy="1677195"/>
      </dsp:txXfrm>
    </dsp:sp>
    <dsp:sp modelId="{EC78A0E1-9850-440A-9E44-38ABC5C3E357}">
      <dsp:nvSpPr>
        <dsp:cNvPr id="0" name=""/>
        <dsp:cNvSpPr/>
      </dsp:nvSpPr>
      <dsp:spPr>
        <a:xfrm>
          <a:off x="2714082" y="867926"/>
          <a:ext cx="2377306" cy="938289"/>
        </a:xfrm>
        <a:prstGeom prst="rect">
          <a:avLst/>
        </a:prstGeom>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a:softEdge rad="38100"/>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IN" sz="2600" kern="1200" dirty="0"/>
            <a:t>Delay Frequency</a:t>
          </a:r>
        </a:p>
      </dsp:txBody>
      <dsp:txXfrm>
        <a:off x="2714082" y="867926"/>
        <a:ext cx="2377306" cy="938289"/>
      </dsp:txXfrm>
    </dsp:sp>
    <dsp:sp modelId="{52E39D6E-CC30-4D8C-AD5D-8D7EDAA7EDC4}">
      <dsp:nvSpPr>
        <dsp:cNvPr id="0" name=""/>
        <dsp:cNvSpPr/>
      </dsp:nvSpPr>
      <dsp:spPr>
        <a:xfrm>
          <a:off x="2714082" y="1806216"/>
          <a:ext cx="2377306" cy="1677195"/>
        </a:xfrm>
        <a:prstGeom prst="rect">
          <a:avLst/>
        </a:prstGeom>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a:softEdge rad="38100"/>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FontTx/>
            <a:buNone/>
          </a:pPr>
          <a:r>
            <a:rPr lang="en-IN" sz="2400" kern="1200" dirty="0">
              <a:solidFill>
                <a:srgbClr val="002060"/>
              </a:solidFill>
            </a:rPr>
            <a:t>	Measures how often delays occur.</a:t>
          </a:r>
        </a:p>
      </dsp:txBody>
      <dsp:txXfrm>
        <a:off x="2714082" y="1806216"/>
        <a:ext cx="2377306" cy="1677195"/>
      </dsp:txXfrm>
    </dsp:sp>
    <dsp:sp modelId="{04BA408A-E747-40C7-9552-670A7879047F}">
      <dsp:nvSpPr>
        <dsp:cNvPr id="0" name=""/>
        <dsp:cNvSpPr/>
      </dsp:nvSpPr>
      <dsp:spPr>
        <a:xfrm>
          <a:off x="5424211" y="867926"/>
          <a:ext cx="2377306" cy="938289"/>
        </a:xfrm>
        <a:prstGeom prst="rect">
          <a:avLst/>
        </a:prstGeom>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a:softEdge rad="38100"/>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IN" sz="2600" kern="1200" dirty="0">
              <a:solidFill>
                <a:prstClr val="white"/>
              </a:solidFill>
              <a:latin typeface="Calibri" panose="020F0502020204030204"/>
              <a:ea typeface="+mn-ea"/>
              <a:cs typeface="+mn-cs"/>
            </a:rPr>
            <a:t>Delay Share</a:t>
          </a:r>
        </a:p>
      </dsp:txBody>
      <dsp:txXfrm>
        <a:off x="5424211" y="867926"/>
        <a:ext cx="2377306" cy="938289"/>
      </dsp:txXfrm>
    </dsp:sp>
    <dsp:sp modelId="{02877C36-8DD8-4840-A13B-581764BFB0A5}">
      <dsp:nvSpPr>
        <dsp:cNvPr id="0" name=""/>
        <dsp:cNvSpPr/>
      </dsp:nvSpPr>
      <dsp:spPr>
        <a:xfrm>
          <a:off x="5424211" y="1806216"/>
          <a:ext cx="2377306" cy="1677195"/>
        </a:xfrm>
        <a:prstGeom prst="rect">
          <a:avLst/>
        </a:prstGeom>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a:softEdge rad="38100"/>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FontTx/>
            <a:buNone/>
          </a:pPr>
          <a:r>
            <a:rPr lang="en-IN" sz="2400" kern="1200" dirty="0">
              <a:solidFill>
                <a:srgbClr val="002060"/>
              </a:solidFill>
              <a:latin typeface="Calibri" panose="020F0502020204030204"/>
              <a:ea typeface="+mn-ea"/>
              <a:cs typeface="+mn-cs"/>
            </a:rPr>
            <a:t>	Shows contribution of each delay cause.</a:t>
          </a:r>
        </a:p>
      </dsp:txBody>
      <dsp:txXfrm>
        <a:off x="5424211" y="1806216"/>
        <a:ext cx="2377306" cy="1677195"/>
      </dsp:txXfrm>
    </dsp:sp>
    <dsp:sp modelId="{50E2F0E0-60F8-4555-9DCD-47AB77A9A4FA}">
      <dsp:nvSpPr>
        <dsp:cNvPr id="0" name=""/>
        <dsp:cNvSpPr/>
      </dsp:nvSpPr>
      <dsp:spPr>
        <a:xfrm>
          <a:off x="8134340" y="867926"/>
          <a:ext cx="2377306" cy="938289"/>
        </a:xfrm>
        <a:prstGeom prst="rect">
          <a:avLst/>
        </a:prstGeom>
        <a:solidFill>
          <a:srgbClr val="4472C4">
            <a:hueOff val="0"/>
            <a:satOff val="0"/>
            <a:lumOff val="0"/>
            <a:alphaOff val="0"/>
          </a:srgbClr>
        </a:solidFill>
        <a:ln w="12700" cap="flat" cmpd="sng" algn="ctr">
          <a:solidFill>
            <a:srgbClr val="4472C4">
              <a:hueOff val="0"/>
              <a:satOff val="0"/>
              <a:lumOff val="0"/>
              <a:alphaOff val="0"/>
            </a:srgbClr>
          </a:solidFill>
          <a:prstDash val="solid"/>
          <a:miter lim="800000"/>
        </a:ln>
        <a:effectLst>
          <a:softEdge rad="38100"/>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IN" sz="2600" kern="1200" dirty="0">
              <a:solidFill>
                <a:prstClr val="white"/>
              </a:solidFill>
              <a:latin typeface="Calibri" panose="020F0502020204030204"/>
              <a:ea typeface="+mn-ea"/>
              <a:cs typeface="+mn-cs"/>
            </a:rPr>
            <a:t>Average Delay</a:t>
          </a:r>
        </a:p>
      </dsp:txBody>
      <dsp:txXfrm>
        <a:off x="8134340" y="867926"/>
        <a:ext cx="2377306" cy="938289"/>
      </dsp:txXfrm>
    </dsp:sp>
    <dsp:sp modelId="{942F1433-319F-49FA-A7FE-74BEE0170668}">
      <dsp:nvSpPr>
        <dsp:cNvPr id="0" name=""/>
        <dsp:cNvSpPr/>
      </dsp:nvSpPr>
      <dsp:spPr>
        <a:xfrm>
          <a:off x="8134340" y="1806216"/>
          <a:ext cx="2377306" cy="1677195"/>
        </a:xfrm>
        <a:prstGeom prst="rect">
          <a:avLst/>
        </a:prstGeom>
        <a:solidFill>
          <a:srgbClr val="4472C4">
            <a:alpha val="90000"/>
            <a:tint val="40000"/>
            <a:hueOff val="0"/>
            <a:satOff val="0"/>
            <a:lumOff val="0"/>
            <a:alphaOff val="0"/>
          </a:srgbClr>
        </a:solidFill>
        <a:ln w="12700" cap="flat" cmpd="sng" algn="ctr">
          <a:solidFill>
            <a:srgbClr val="4472C4">
              <a:alpha val="90000"/>
              <a:tint val="40000"/>
              <a:hueOff val="0"/>
              <a:satOff val="0"/>
              <a:lumOff val="0"/>
              <a:alphaOff val="0"/>
            </a:srgbClr>
          </a:solidFill>
          <a:prstDash val="solid"/>
          <a:miter lim="800000"/>
        </a:ln>
        <a:effectLst>
          <a:softEdge rad="38100"/>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FontTx/>
            <a:buNone/>
          </a:pPr>
          <a:r>
            <a:rPr lang="en-IN" sz="2400" kern="1200" dirty="0">
              <a:solidFill>
                <a:srgbClr val="002060"/>
              </a:solidFill>
              <a:latin typeface="Calibri" panose="020F0502020204030204"/>
              <a:ea typeface="+mn-ea"/>
              <a:cs typeface="+mn-cs"/>
            </a:rPr>
            <a:t>	Measures severity of each delay event.</a:t>
          </a:r>
        </a:p>
      </dsp:txBody>
      <dsp:txXfrm>
        <a:off x="8134340" y="1806216"/>
        <a:ext cx="2377306" cy="16771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B534DB-6AEF-4D33-8A05-93F2782B9258}">
      <dsp:nvSpPr>
        <dsp:cNvPr id="0" name=""/>
        <dsp:cNvSpPr/>
      </dsp:nvSpPr>
      <dsp:spPr>
        <a:xfrm>
          <a:off x="1803403" y="0"/>
          <a:ext cx="6908793" cy="4351338"/>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1503D5-4ACB-4241-B21F-D761F0E0B284}">
      <dsp:nvSpPr>
        <dsp:cNvPr id="0" name=""/>
        <dsp:cNvSpPr/>
      </dsp:nvSpPr>
      <dsp:spPr>
        <a:xfrm>
          <a:off x="2182169" y="292079"/>
          <a:ext cx="2757599" cy="1740535"/>
        </a:xfrm>
        <a:prstGeom prst="roundRect">
          <a:avLst/>
        </a:prstGeom>
        <a:solidFill>
          <a:schemeClr val="accent1">
            <a:hueOff val="0"/>
            <a:satOff val="0"/>
            <a:lumOff val="0"/>
            <a:alphaOff val="0"/>
          </a:schemeClr>
        </a:solidFill>
        <a:ln w="12700" cap="flat" cmpd="sng" algn="ctr">
          <a:noFill/>
          <a:prstDash val="solid"/>
          <a:miter lim="800000"/>
        </a:ln>
        <a:effectLst>
          <a:softEdge rad="25400"/>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dirty="0"/>
            <a:t>Airport-level performance analysis</a:t>
          </a:r>
        </a:p>
      </dsp:txBody>
      <dsp:txXfrm>
        <a:off x="2267135" y="377045"/>
        <a:ext cx="2587667" cy="1570603"/>
      </dsp:txXfrm>
    </dsp:sp>
    <dsp:sp modelId="{24F9A1FD-43D3-4DDB-8606-3C9AE7774700}">
      <dsp:nvSpPr>
        <dsp:cNvPr id="0" name=""/>
        <dsp:cNvSpPr/>
      </dsp:nvSpPr>
      <dsp:spPr>
        <a:xfrm>
          <a:off x="5538765" y="264369"/>
          <a:ext cx="2757790" cy="1740535"/>
        </a:xfrm>
        <a:prstGeom prst="roundRect">
          <a:avLst/>
        </a:prstGeom>
        <a:solidFill>
          <a:schemeClr val="accent1">
            <a:hueOff val="0"/>
            <a:satOff val="0"/>
            <a:lumOff val="0"/>
            <a:alphaOff val="0"/>
          </a:schemeClr>
        </a:solidFill>
        <a:ln w="12700" cap="flat" cmpd="sng" algn="ctr">
          <a:noFill/>
          <a:prstDash val="solid"/>
          <a:miter lim="800000"/>
        </a:ln>
        <a:effectLst>
          <a:softEdge rad="25400"/>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dirty="0"/>
            <a:t>Route-level and flight-level analysis</a:t>
          </a:r>
        </a:p>
      </dsp:txBody>
      <dsp:txXfrm>
        <a:off x="5623731" y="349335"/>
        <a:ext cx="2587858" cy="1570603"/>
      </dsp:txXfrm>
    </dsp:sp>
    <dsp:sp modelId="{E0BC53B2-E929-4AB7-951C-6978227498FB}">
      <dsp:nvSpPr>
        <dsp:cNvPr id="0" name=""/>
        <dsp:cNvSpPr/>
      </dsp:nvSpPr>
      <dsp:spPr>
        <a:xfrm>
          <a:off x="2181595" y="2327965"/>
          <a:ext cx="2757599" cy="1740535"/>
        </a:xfrm>
        <a:prstGeom prst="roundRect">
          <a:avLst/>
        </a:prstGeom>
        <a:solidFill>
          <a:schemeClr val="accent1">
            <a:hueOff val="0"/>
            <a:satOff val="0"/>
            <a:lumOff val="0"/>
            <a:alphaOff val="0"/>
          </a:schemeClr>
        </a:solidFill>
        <a:ln w="12700" cap="flat" cmpd="sng" algn="ctr">
          <a:noFill/>
          <a:prstDash val="solid"/>
          <a:miter lim="800000"/>
        </a:ln>
        <a:effectLst>
          <a:softEdge rad="25400"/>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a:t>Passenger, revenue, and cost impact analysis</a:t>
          </a:r>
        </a:p>
      </dsp:txBody>
      <dsp:txXfrm>
        <a:off x="2266561" y="2412931"/>
        <a:ext cx="2587667" cy="1570603"/>
      </dsp:txXfrm>
    </dsp:sp>
    <dsp:sp modelId="{39E689FC-8CD8-4DC3-81E2-BA424F264ACA}">
      <dsp:nvSpPr>
        <dsp:cNvPr id="0" name=""/>
        <dsp:cNvSpPr/>
      </dsp:nvSpPr>
      <dsp:spPr>
        <a:xfrm>
          <a:off x="5540393" y="2309498"/>
          <a:ext cx="2757599" cy="1740535"/>
        </a:xfrm>
        <a:prstGeom prst="roundRect">
          <a:avLst/>
        </a:prstGeom>
        <a:solidFill>
          <a:schemeClr val="accent1">
            <a:hueOff val="0"/>
            <a:satOff val="0"/>
            <a:lumOff val="0"/>
            <a:alphaOff val="0"/>
          </a:schemeClr>
        </a:solidFill>
        <a:ln w="12700" cap="flat" cmpd="sng" algn="ctr">
          <a:noFill/>
          <a:prstDash val="solid"/>
          <a:miter lim="800000"/>
        </a:ln>
        <a:effectLst>
          <a:softEdge rad="25400"/>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IN" sz="2400" kern="1200" dirty="0"/>
            <a:t>Predictive modelling and forecasting</a:t>
          </a:r>
        </a:p>
      </dsp:txBody>
      <dsp:txXfrm>
        <a:off x="5625359" y="2394464"/>
        <a:ext cx="2587667" cy="1570603"/>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13A862-4ADF-4309-BBFC-8A140A01AE40}" type="datetimeFigureOut">
              <a:rPr lang="en-IN" smtClean="0"/>
              <a:t>06-06-2026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CACB8D-B377-42AF-94BA-4D1AB3FDBD42}" type="slidenum">
              <a:rPr lang="en-IN" smtClean="0"/>
              <a:t>‹#›</a:t>
            </a:fld>
            <a:endParaRPr lang="en-IN"/>
          </a:p>
        </p:txBody>
      </p:sp>
    </p:spTree>
    <p:extLst>
      <p:ext uri="{BB962C8B-B14F-4D97-AF65-F5344CB8AC3E}">
        <p14:creationId xmlns:p14="http://schemas.microsoft.com/office/powerpoint/2010/main" val="3022463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13A862-4ADF-4309-BBFC-8A140A01AE40}" type="datetimeFigureOut">
              <a:rPr lang="en-IN" smtClean="0"/>
              <a:t>06-06-2026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CACB8D-B377-42AF-94BA-4D1AB3FDBD42}" type="slidenum">
              <a:rPr lang="en-IN" smtClean="0"/>
              <a:t>‹#›</a:t>
            </a:fld>
            <a:endParaRPr lang="en-IN"/>
          </a:p>
        </p:txBody>
      </p:sp>
    </p:spTree>
    <p:extLst>
      <p:ext uri="{BB962C8B-B14F-4D97-AF65-F5344CB8AC3E}">
        <p14:creationId xmlns:p14="http://schemas.microsoft.com/office/powerpoint/2010/main" val="4226749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13A862-4ADF-4309-BBFC-8A140A01AE40}" type="datetimeFigureOut">
              <a:rPr lang="en-IN" smtClean="0"/>
              <a:t>06-06-2026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CACB8D-B377-42AF-94BA-4D1AB3FDBD42}" type="slidenum">
              <a:rPr lang="en-IN" smtClean="0"/>
              <a:t>‹#›</a:t>
            </a:fld>
            <a:endParaRPr lang="en-IN"/>
          </a:p>
        </p:txBody>
      </p:sp>
    </p:spTree>
    <p:extLst>
      <p:ext uri="{BB962C8B-B14F-4D97-AF65-F5344CB8AC3E}">
        <p14:creationId xmlns:p14="http://schemas.microsoft.com/office/powerpoint/2010/main" val="3968379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13A862-4ADF-4309-BBFC-8A140A01AE40}" type="datetimeFigureOut">
              <a:rPr lang="en-IN" smtClean="0"/>
              <a:t>06-06-2026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CACB8D-B377-42AF-94BA-4D1AB3FDBD42}" type="slidenum">
              <a:rPr lang="en-IN" smtClean="0"/>
              <a:t>‹#›</a:t>
            </a:fld>
            <a:endParaRPr lang="en-IN"/>
          </a:p>
        </p:txBody>
      </p:sp>
    </p:spTree>
    <p:extLst>
      <p:ext uri="{BB962C8B-B14F-4D97-AF65-F5344CB8AC3E}">
        <p14:creationId xmlns:p14="http://schemas.microsoft.com/office/powerpoint/2010/main" val="4044937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13A862-4ADF-4309-BBFC-8A140A01AE40}" type="datetimeFigureOut">
              <a:rPr lang="en-IN" smtClean="0"/>
              <a:t>06-06-2026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0CACB8D-B377-42AF-94BA-4D1AB3FDBD42}" type="slidenum">
              <a:rPr lang="en-IN" smtClean="0"/>
              <a:t>‹#›</a:t>
            </a:fld>
            <a:endParaRPr lang="en-IN"/>
          </a:p>
        </p:txBody>
      </p:sp>
    </p:spTree>
    <p:extLst>
      <p:ext uri="{BB962C8B-B14F-4D97-AF65-F5344CB8AC3E}">
        <p14:creationId xmlns:p14="http://schemas.microsoft.com/office/powerpoint/2010/main" val="687699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13A862-4ADF-4309-BBFC-8A140A01AE40}" type="datetimeFigureOut">
              <a:rPr lang="en-IN" smtClean="0"/>
              <a:t>06-06-2026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0CACB8D-B377-42AF-94BA-4D1AB3FDBD42}" type="slidenum">
              <a:rPr lang="en-IN" smtClean="0"/>
              <a:t>‹#›</a:t>
            </a:fld>
            <a:endParaRPr lang="en-IN"/>
          </a:p>
        </p:txBody>
      </p:sp>
    </p:spTree>
    <p:extLst>
      <p:ext uri="{BB962C8B-B14F-4D97-AF65-F5344CB8AC3E}">
        <p14:creationId xmlns:p14="http://schemas.microsoft.com/office/powerpoint/2010/main" val="3015807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13A862-4ADF-4309-BBFC-8A140A01AE40}" type="datetimeFigureOut">
              <a:rPr lang="en-IN" smtClean="0"/>
              <a:t>06-06-2026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0CACB8D-B377-42AF-94BA-4D1AB3FDBD42}" type="slidenum">
              <a:rPr lang="en-IN" smtClean="0"/>
              <a:t>‹#›</a:t>
            </a:fld>
            <a:endParaRPr lang="en-IN"/>
          </a:p>
        </p:txBody>
      </p:sp>
    </p:spTree>
    <p:extLst>
      <p:ext uri="{BB962C8B-B14F-4D97-AF65-F5344CB8AC3E}">
        <p14:creationId xmlns:p14="http://schemas.microsoft.com/office/powerpoint/2010/main" val="1432938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13A862-4ADF-4309-BBFC-8A140A01AE40}" type="datetimeFigureOut">
              <a:rPr lang="en-IN" smtClean="0"/>
              <a:t>06-06-2026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CACB8D-B377-42AF-94BA-4D1AB3FDBD42}" type="slidenum">
              <a:rPr lang="en-IN" smtClean="0"/>
              <a:t>‹#›</a:t>
            </a:fld>
            <a:endParaRPr lang="en-IN"/>
          </a:p>
        </p:txBody>
      </p:sp>
    </p:spTree>
    <p:extLst>
      <p:ext uri="{BB962C8B-B14F-4D97-AF65-F5344CB8AC3E}">
        <p14:creationId xmlns:p14="http://schemas.microsoft.com/office/powerpoint/2010/main" val="925579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13A862-4ADF-4309-BBFC-8A140A01AE40}" type="datetimeFigureOut">
              <a:rPr lang="en-IN" smtClean="0"/>
              <a:t>06-06-2026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0CACB8D-B377-42AF-94BA-4D1AB3FDBD42}" type="slidenum">
              <a:rPr lang="en-IN" smtClean="0"/>
              <a:t>‹#›</a:t>
            </a:fld>
            <a:endParaRPr lang="en-IN"/>
          </a:p>
        </p:txBody>
      </p:sp>
    </p:spTree>
    <p:extLst>
      <p:ext uri="{BB962C8B-B14F-4D97-AF65-F5344CB8AC3E}">
        <p14:creationId xmlns:p14="http://schemas.microsoft.com/office/powerpoint/2010/main" val="1422411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13A862-4ADF-4309-BBFC-8A140A01AE40}" type="datetimeFigureOut">
              <a:rPr lang="en-IN" smtClean="0"/>
              <a:t>06-06-2026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CACB8D-B377-42AF-94BA-4D1AB3FDBD42}" type="slidenum">
              <a:rPr lang="en-IN" smtClean="0"/>
              <a:t>‹#›</a:t>
            </a:fld>
            <a:endParaRPr lang="en-IN"/>
          </a:p>
        </p:txBody>
      </p:sp>
    </p:spTree>
    <p:extLst>
      <p:ext uri="{BB962C8B-B14F-4D97-AF65-F5344CB8AC3E}">
        <p14:creationId xmlns:p14="http://schemas.microsoft.com/office/powerpoint/2010/main" val="899151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13A862-4ADF-4309-BBFC-8A140A01AE40}" type="datetimeFigureOut">
              <a:rPr lang="en-IN" smtClean="0"/>
              <a:t>06-06-2026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0CACB8D-B377-42AF-94BA-4D1AB3FDBD42}" type="slidenum">
              <a:rPr lang="en-IN" smtClean="0"/>
              <a:t>‹#›</a:t>
            </a:fld>
            <a:endParaRPr lang="en-IN"/>
          </a:p>
        </p:txBody>
      </p:sp>
    </p:spTree>
    <p:extLst>
      <p:ext uri="{BB962C8B-B14F-4D97-AF65-F5344CB8AC3E}">
        <p14:creationId xmlns:p14="http://schemas.microsoft.com/office/powerpoint/2010/main" val="804299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64000"/>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13A862-4ADF-4309-BBFC-8A140A01AE40}" type="datetimeFigureOut">
              <a:rPr lang="en-IN" smtClean="0"/>
              <a:t>06-06-2026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CACB8D-B377-42AF-94BA-4D1AB3FDBD42}" type="slidenum">
              <a:rPr lang="en-IN" smtClean="0"/>
              <a:t>‹#›</a:t>
            </a:fld>
            <a:endParaRPr lang="en-IN"/>
          </a:p>
        </p:txBody>
      </p:sp>
    </p:spTree>
    <p:extLst>
      <p:ext uri="{BB962C8B-B14F-4D97-AF65-F5344CB8AC3E}">
        <p14:creationId xmlns:p14="http://schemas.microsoft.com/office/powerpoint/2010/main" val="13785667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1B069-3432-C1C1-9954-E37DA7EDD14F}"/>
              </a:ext>
            </a:extLst>
          </p:cNvPr>
          <p:cNvSpPr>
            <a:spLocks noGrp="1"/>
          </p:cNvSpPr>
          <p:nvPr>
            <p:ph type="ctrTitle"/>
          </p:nvPr>
        </p:nvSpPr>
        <p:spPr>
          <a:xfrm>
            <a:off x="5198919" y="478125"/>
            <a:ext cx="7316932" cy="2950874"/>
          </a:xfrm>
        </p:spPr>
        <p:txBody>
          <a:bodyPr anchor="t">
            <a:normAutofit/>
          </a:bodyPr>
          <a:lstStyle/>
          <a:p>
            <a:pPr algn="l"/>
            <a:r>
              <a:rPr lang="en-IN" sz="8000" b="1" dirty="0">
                <a:solidFill>
                  <a:schemeClr val="bg1"/>
                </a:solidFill>
              </a:rPr>
              <a:t>US Airline Delay Analysis</a:t>
            </a:r>
          </a:p>
        </p:txBody>
      </p:sp>
      <p:sp>
        <p:nvSpPr>
          <p:cNvPr id="3" name="Subtitle 2">
            <a:extLst>
              <a:ext uri="{FF2B5EF4-FFF2-40B4-BE49-F238E27FC236}">
                <a16:creationId xmlns:a16="http://schemas.microsoft.com/office/drawing/2014/main" id="{55555C6A-347B-EA12-222D-3A6F3C82AC5F}"/>
              </a:ext>
            </a:extLst>
          </p:cNvPr>
          <p:cNvSpPr>
            <a:spLocks noGrp="1"/>
          </p:cNvSpPr>
          <p:nvPr>
            <p:ph type="subTitle" idx="1"/>
          </p:nvPr>
        </p:nvSpPr>
        <p:spPr>
          <a:xfrm>
            <a:off x="5198919" y="3907125"/>
            <a:ext cx="6539345" cy="1982540"/>
          </a:xfrm>
        </p:spPr>
        <p:txBody>
          <a:bodyPr>
            <a:normAutofit fontScale="85000" lnSpcReduction="20000"/>
          </a:bodyPr>
          <a:lstStyle/>
          <a:p>
            <a:pPr algn="l"/>
            <a:r>
              <a:rPr lang="en-IN" dirty="0">
                <a:solidFill>
                  <a:srgbClr val="002060"/>
                </a:solidFill>
              </a:rPr>
              <a:t>Python | Pandas | Seaborn | Power BI | DAX</a:t>
            </a:r>
          </a:p>
          <a:p>
            <a:pPr algn="l"/>
            <a:r>
              <a:rPr lang="en-IN" dirty="0">
                <a:solidFill>
                  <a:srgbClr val="002060"/>
                </a:solidFill>
              </a:rPr>
              <a:t>KPI-driven analysis of airline operational efficiency, delay severity, and disruption risk (2013–2023)</a:t>
            </a:r>
          </a:p>
          <a:p>
            <a:pPr algn="l"/>
            <a:endParaRPr lang="en-IN" dirty="0">
              <a:solidFill>
                <a:srgbClr val="002060"/>
              </a:solidFill>
            </a:endParaRPr>
          </a:p>
          <a:p>
            <a:pPr algn="l"/>
            <a:r>
              <a:rPr lang="en-IN" dirty="0">
                <a:solidFill>
                  <a:srgbClr val="002060"/>
                </a:solidFill>
              </a:rPr>
              <a:t>Tools: </a:t>
            </a:r>
            <a:r>
              <a:rPr lang="en-IN" b="1" dirty="0">
                <a:solidFill>
                  <a:srgbClr val="002060"/>
                </a:solidFill>
              </a:rPr>
              <a:t>Python, Excel, Power BI</a:t>
            </a:r>
          </a:p>
          <a:p>
            <a:pPr algn="l"/>
            <a:r>
              <a:rPr lang="en-IN" dirty="0">
                <a:solidFill>
                  <a:srgbClr val="002060"/>
                </a:solidFill>
              </a:rPr>
              <a:t>Dataset: Kaggle / US airline monthly operations</a:t>
            </a:r>
          </a:p>
        </p:txBody>
      </p:sp>
      <p:sp>
        <p:nvSpPr>
          <p:cNvPr id="8" name="Arrow: Chevron 7">
            <a:extLst>
              <a:ext uri="{FF2B5EF4-FFF2-40B4-BE49-F238E27FC236}">
                <a16:creationId xmlns:a16="http://schemas.microsoft.com/office/drawing/2014/main" id="{41ED67B7-C897-47B2-E508-67D8520C7C6D}"/>
              </a:ext>
            </a:extLst>
          </p:cNvPr>
          <p:cNvSpPr/>
          <p:nvPr/>
        </p:nvSpPr>
        <p:spPr>
          <a:xfrm>
            <a:off x="0" y="-1"/>
            <a:ext cx="5198919" cy="6858001"/>
          </a:xfrm>
          <a:prstGeom prst="chevron">
            <a:avLst>
              <a:gd name="adj" fmla="val 53124"/>
            </a:avLst>
          </a:prstGeom>
          <a:blipFill dpi="0" rotWithShape="1">
            <a:blip r:embed="rId2">
              <a:alphaModFix amt="64000"/>
              <a:extLst>
                <a:ext uri="{BEBA8EAE-BF5A-486C-A8C5-ECC9F3942E4B}">
                  <a14:imgProps xmlns:a14="http://schemas.microsoft.com/office/drawing/2010/main">
                    <a14:imgLayer r:embed="rId3">
                      <a14:imgEffect>
                        <a14:colorTemperature colorTemp="4674"/>
                      </a14:imgEffect>
                      <a14:imgEffect>
                        <a14:saturation sat="323000"/>
                      </a14:imgEffect>
                    </a14:imgLayer>
                  </a14:imgProps>
                </a:ext>
              </a:extLst>
            </a:blip>
            <a:srcRect/>
            <a:stretch>
              <a:fillRect/>
            </a:stretch>
          </a:blipFill>
          <a:ln>
            <a:noFill/>
          </a:ln>
          <a:effectLst>
            <a:outerShdw blurRad="1130300" dir="5100000" sx="113000" sy="113000" algn="ctr" rotWithShape="0">
              <a:schemeClr val="bg1">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63519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FCE8C-CB0A-82A8-BC52-9D62BA7F4F23}"/>
              </a:ext>
            </a:extLst>
          </p:cNvPr>
          <p:cNvSpPr>
            <a:spLocks noGrp="1"/>
          </p:cNvSpPr>
          <p:nvPr>
            <p:ph type="title"/>
          </p:nvPr>
        </p:nvSpPr>
        <p:spPr/>
        <p:txBody>
          <a:bodyPr>
            <a:normAutofit/>
          </a:bodyPr>
          <a:lstStyle/>
          <a:p>
            <a:r>
              <a:rPr lang="en-US" sz="7200" b="1" dirty="0">
                <a:solidFill>
                  <a:srgbClr val="FEF4E5"/>
                </a:solidFill>
              </a:rPr>
              <a:t>Business Problem</a:t>
            </a:r>
            <a:endParaRPr lang="en-IN" sz="7200" b="1" dirty="0">
              <a:solidFill>
                <a:srgbClr val="FEF4E5"/>
              </a:solidFill>
            </a:endParaRPr>
          </a:p>
        </p:txBody>
      </p:sp>
      <p:sp>
        <p:nvSpPr>
          <p:cNvPr id="3" name="Content Placeholder 2">
            <a:extLst>
              <a:ext uri="{FF2B5EF4-FFF2-40B4-BE49-F238E27FC236}">
                <a16:creationId xmlns:a16="http://schemas.microsoft.com/office/drawing/2014/main" id="{039D54BE-56B3-31A9-B27D-9D3A96F0D7CE}"/>
              </a:ext>
            </a:extLst>
          </p:cNvPr>
          <p:cNvSpPr>
            <a:spLocks noGrp="1"/>
          </p:cNvSpPr>
          <p:nvPr>
            <p:ph idx="1"/>
          </p:nvPr>
        </p:nvSpPr>
        <p:spPr/>
        <p:txBody>
          <a:bodyPr>
            <a:noAutofit/>
          </a:bodyPr>
          <a:lstStyle/>
          <a:p>
            <a:pPr marL="0" indent="0">
              <a:buNone/>
            </a:pPr>
            <a:r>
              <a:rPr lang="en-IN" sz="3200" dirty="0">
                <a:solidFill>
                  <a:srgbClr val="002060"/>
                </a:solidFill>
              </a:rPr>
              <a:t>Airline delays, cancellations, and diversions negatively impact operational efficiency and passenger experience. However, disruptions can arise from multiple causes such as carrier operations, weather conditions, air traffic congestion (NAS), security issues, and late-arriving aircraft. Understanding the frequency, severity and disruption drivers is essential for evaluating airline performance.</a:t>
            </a:r>
          </a:p>
        </p:txBody>
      </p:sp>
    </p:spTree>
    <p:extLst>
      <p:ext uri="{BB962C8B-B14F-4D97-AF65-F5344CB8AC3E}">
        <p14:creationId xmlns:p14="http://schemas.microsoft.com/office/powerpoint/2010/main" val="2699807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352E-59C8-846F-E867-8B0B70D9A299}"/>
              </a:ext>
            </a:extLst>
          </p:cNvPr>
          <p:cNvSpPr>
            <a:spLocks noGrp="1"/>
          </p:cNvSpPr>
          <p:nvPr>
            <p:ph type="title"/>
          </p:nvPr>
        </p:nvSpPr>
        <p:spPr>
          <a:xfrm>
            <a:off x="4114800" y="365125"/>
            <a:ext cx="7258049" cy="1692275"/>
          </a:xfrm>
        </p:spPr>
        <p:txBody>
          <a:bodyPr>
            <a:normAutofit/>
          </a:bodyPr>
          <a:lstStyle/>
          <a:p>
            <a:r>
              <a:rPr lang="en-IN" sz="6600" b="1" dirty="0">
                <a:solidFill>
                  <a:schemeClr val="bg1"/>
                </a:solidFill>
              </a:rPr>
              <a:t>Project Objective</a:t>
            </a:r>
          </a:p>
        </p:txBody>
      </p:sp>
      <p:graphicFrame>
        <p:nvGraphicFramePr>
          <p:cNvPr id="4" name="Diagram 3">
            <a:extLst>
              <a:ext uri="{FF2B5EF4-FFF2-40B4-BE49-F238E27FC236}">
                <a16:creationId xmlns:a16="http://schemas.microsoft.com/office/drawing/2014/main" id="{63D4257D-8C1D-03BE-F8EB-39C4DE5F62F7}"/>
              </a:ext>
            </a:extLst>
          </p:cNvPr>
          <p:cNvGraphicFramePr/>
          <p:nvPr>
            <p:extLst>
              <p:ext uri="{D42A27DB-BD31-4B8C-83A1-F6EECF244321}">
                <p14:modId xmlns:p14="http://schemas.microsoft.com/office/powerpoint/2010/main" val="1195850970"/>
              </p:ext>
            </p:extLst>
          </p:nvPr>
        </p:nvGraphicFramePr>
        <p:xfrm>
          <a:off x="4114801" y="2219324"/>
          <a:ext cx="7258049" cy="42735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Arrow: Chevron 7">
            <a:extLst>
              <a:ext uri="{FF2B5EF4-FFF2-40B4-BE49-F238E27FC236}">
                <a16:creationId xmlns:a16="http://schemas.microsoft.com/office/drawing/2014/main" id="{A4A4E4A8-1378-791D-A26D-8723CCD59F24}"/>
              </a:ext>
            </a:extLst>
          </p:cNvPr>
          <p:cNvSpPr/>
          <p:nvPr/>
        </p:nvSpPr>
        <p:spPr>
          <a:xfrm>
            <a:off x="1" y="-1"/>
            <a:ext cx="4114800" cy="6858001"/>
          </a:xfrm>
          <a:prstGeom prst="chevron">
            <a:avLst>
              <a:gd name="adj" fmla="val 53124"/>
            </a:avLst>
          </a:prstGeom>
          <a:blipFill dpi="0" rotWithShape="1">
            <a:blip r:embed="rId7">
              <a:alphaModFix amt="64000"/>
              <a:extLst>
                <a:ext uri="{BEBA8EAE-BF5A-486C-A8C5-ECC9F3942E4B}">
                  <a14:imgProps xmlns:a14="http://schemas.microsoft.com/office/drawing/2010/main">
                    <a14:imgLayer r:embed="rId8">
                      <a14:imgEffect>
                        <a14:colorTemperature colorTemp="4674"/>
                      </a14:imgEffect>
                      <a14:imgEffect>
                        <a14:saturation sat="323000"/>
                      </a14:imgEffect>
                    </a14:imgLayer>
                  </a14:imgProps>
                </a:ext>
              </a:extLst>
            </a:blip>
            <a:srcRect/>
            <a:stretch>
              <a:fillRect/>
            </a:stretch>
          </a:blipFill>
          <a:ln>
            <a:noFill/>
          </a:ln>
          <a:effectLst>
            <a:outerShdw blurRad="1130300" dir="5100000" sx="113000" sy="113000" algn="ctr" rotWithShape="0">
              <a:schemeClr val="bg1">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17937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763EE-0735-ADB9-53AB-C8A727B82857}"/>
              </a:ext>
            </a:extLst>
          </p:cNvPr>
          <p:cNvSpPr>
            <a:spLocks noGrp="1"/>
          </p:cNvSpPr>
          <p:nvPr>
            <p:ph type="title"/>
          </p:nvPr>
        </p:nvSpPr>
        <p:spPr/>
        <p:txBody>
          <a:bodyPr>
            <a:normAutofit/>
          </a:bodyPr>
          <a:lstStyle/>
          <a:p>
            <a:r>
              <a:rPr lang="en-US" sz="7200" b="1" dirty="0">
                <a:solidFill>
                  <a:schemeClr val="bg1"/>
                </a:solidFill>
              </a:rPr>
              <a:t>Project Scope</a:t>
            </a:r>
            <a:endParaRPr lang="en-IN" sz="7200" b="1" dirty="0">
              <a:solidFill>
                <a:schemeClr val="bg1"/>
              </a:solidFill>
            </a:endParaRPr>
          </a:p>
        </p:txBody>
      </p:sp>
      <p:sp>
        <p:nvSpPr>
          <p:cNvPr id="3" name="Content Placeholder 2">
            <a:extLst>
              <a:ext uri="{FF2B5EF4-FFF2-40B4-BE49-F238E27FC236}">
                <a16:creationId xmlns:a16="http://schemas.microsoft.com/office/drawing/2014/main" id="{F33B6050-6428-66F8-4B95-C042F5CC0FDC}"/>
              </a:ext>
            </a:extLst>
          </p:cNvPr>
          <p:cNvSpPr>
            <a:spLocks noGrp="1"/>
          </p:cNvSpPr>
          <p:nvPr>
            <p:ph idx="1"/>
          </p:nvPr>
        </p:nvSpPr>
        <p:spPr/>
        <p:txBody>
          <a:bodyPr>
            <a:normAutofit/>
          </a:bodyPr>
          <a:lstStyle/>
          <a:p>
            <a:r>
              <a:rPr lang="en-IN" sz="4000" dirty="0">
                <a:solidFill>
                  <a:srgbClr val="002060"/>
                </a:solidFill>
              </a:rPr>
              <a:t>Airline-level performance and risk analysis</a:t>
            </a:r>
          </a:p>
          <a:p>
            <a:r>
              <a:rPr lang="en-IN" sz="4000" dirty="0">
                <a:solidFill>
                  <a:srgbClr val="002060"/>
                </a:solidFill>
              </a:rPr>
              <a:t>Delay frequency and severity analysis</a:t>
            </a:r>
          </a:p>
          <a:p>
            <a:r>
              <a:rPr lang="en-IN" sz="4000" dirty="0">
                <a:solidFill>
                  <a:srgbClr val="002060"/>
                </a:solidFill>
              </a:rPr>
              <a:t>Delay cause decomposition (Carrier, Weather, NAS, Security, Late Aircraft)</a:t>
            </a:r>
          </a:p>
        </p:txBody>
      </p:sp>
    </p:spTree>
    <p:extLst>
      <p:ext uri="{BB962C8B-B14F-4D97-AF65-F5344CB8AC3E}">
        <p14:creationId xmlns:p14="http://schemas.microsoft.com/office/powerpoint/2010/main" val="2935718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37624-E825-098E-19CD-EDB8147114FF}"/>
              </a:ext>
            </a:extLst>
          </p:cNvPr>
          <p:cNvSpPr>
            <a:spLocks noGrp="1"/>
          </p:cNvSpPr>
          <p:nvPr>
            <p:ph type="title"/>
          </p:nvPr>
        </p:nvSpPr>
        <p:spPr>
          <a:xfrm>
            <a:off x="838200" y="436870"/>
            <a:ext cx="10515600" cy="948585"/>
          </a:xfrm>
        </p:spPr>
        <p:txBody>
          <a:bodyPr vert="horz" lIns="91440" tIns="45720" rIns="91440" bIns="45720" rtlCol="0" anchor="t">
            <a:noAutofit/>
          </a:bodyPr>
          <a:lstStyle/>
          <a:p>
            <a:r>
              <a:rPr lang="en-IN" sz="5400" b="1" dirty="0">
                <a:solidFill>
                  <a:schemeClr val="bg1"/>
                </a:solidFill>
              </a:rPr>
              <a:t>Data &amp; Analytical Framework</a:t>
            </a:r>
          </a:p>
        </p:txBody>
      </p:sp>
      <p:graphicFrame>
        <p:nvGraphicFramePr>
          <p:cNvPr id="4" name="Content Placeholder 3">
            <a:extLst>
              <a:ext uri="{FF2B5EF4-FFF2-40B4-BE49-F238E27FC236}">
                <a16:creationId xmlns:a16="http://schemas.microsoft.com/office/drawing/2014/main" id="{95333F6C-56AC-D5CB-E3BA-F9C7102DAD39}"/>
              </a:ext>
            </a:extLst>
          </p:cNvPr>
          <p:cNvGraphicFramePr>
            <a:graphicFrameLocks noGrp="1"/>
          </p:cNvGraphicFramePr>
          <p:nvPr>
            <p:ph idx="1"/>
            <p:extLst>
              <p:ext uri="{D42A27DB-BD31-4B8C-83A1-F6EECF244321}">
                <p14:modId xmlns:p14="http://schemas.microsoft.com/office/powerpoint/2010/main" val="570762179"/>
              </p:ext>
            </p:extLst>
          </p:nvPr>
        </p:nvGraphicFramePr>
        <p:xfrm>
          <a:off x="838200" y="1501506"/>
          <a:ext cx="10515600" cy="14379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5B300395-9755-886B-466C-049CAC3A54E0}"/>
              </a:ext>
            </a:extLst>
          </p:cNvPr>
          <p:cNvSpPr txBox="1"/>
          <p:nvPr/>
        </p:nvSpPr>
        <p:spPr>
          <a:xfrm>
            <a:off x="838200" y="3657600"/>
            <a:ext cx="2671916" cy="2677656"/>
          </a:xfrm>
          <a:prstGeom prst="rect">
            <a:avLst/>
          </a:prstGeom>
          <a:noFill/>
        </p:spPr>
        <p:txBody>
          <a:bodyPr wrap="square" rtlCol="0">
            <a:spAutoFit/>
          </a:bodyPr>
          <a:lstStyle/>
          <a:p>
            <a:r>
              <a:rPr lang="en-IN" sz="2400" b="1" dirty="0">
                <a:solidFill>
                  <a:srgbClr val="002060"/>
                </a:solidFill>
              </a:rPr>
              <a:t>Original Metrics</a:t>
            </a:r>
          </a:p>
          <a:p>
            <a:endParaRPr lang="en-IN" sz="2400" dirty="0">
              <a:solidFill>
                <a:srgbClr val="002060"/>
              </a:solidFill>
            </a:endParaRPr>
          </a:p>
          <a:p>
            <a:pPr marL="285750" indent="-285750">
              <a:buFont typeface="Arial" panose="020B0604020202020204" pitchFamily="34" charset="0"/>
              <a:buChar char="•"/>
            </a:pPr>
            <a:r>
              <a:rPr lang="en-IN" sz="2400" dirty="0">
                <a:solidFill>
                  <a:srgbClr val="002060"/>
                </a:solidFill>
              </a:rPr>
              <a:t>Flight volume</a:t>
            </a:r>
          </a:p>
          <a:p>
            <a:pPr marL="285750" indent="-285750">
              <a:buFont typeface="Arial" panose="020B0604020202020204" pitchFamily="34" charset="0"/>
              <a:buChar char="•"/>
            </a:pPr>
            <a:r>
              <a:rPr lang="en-IN" sz="2400" dirty="0">
                <a:solidFill>
                  <a:srgbClr val="002060"/>
                </a:solidFill>
              </a:rPr>
              <a:t>Delay counts</a:t>
            </a:r>
          </a:p>
          <a:p>
            <a:pPr marL="285750" indent="-285750">
              <a:buFont typeface="Arial" panose="020B0604020202020204" pitchFamily="34" charset="0"/>
              <a:buChar char="•"/>
            </a:pPr>
            <a:r>
              <a:rPr lang="en-IN" sz="2400" dirty="0">
                <a:solidFill>
                  <a:srgbClr val="002060"/>
                </a:solidFill>
              </a:rPr>
              <a:t>Delay minutes</a:t>
            </a:r>
          </a:p>
          <a:p>
            <a:pPr marL="285750" indent="-285750">
              <a:buFont typeface="Arial" panose="020B0604020202020204" pitchFamily="34" charset="0"/>
              <a:buChar char="•"/>
            </a:pPr>
            <a:r>
              <a:rPr lang="en-IN" sz="2400" dirty="0">
                <a:solidFill>
                  <a:srgbClr val="002060"/>
                </a:solidFill>
              </a:rPr>
              <a:t>Cancellation/ diversion</a:t>
            </a:r>
          </a:p>
        </p:txBody>
      </p:sp>
      <p:sp>
        <p:nvSpPr>
          <p:cNvPr id="11" name="TextBox 10">
            <a:extLst>
              <a:ext uri="{FF2B5EF4-FFF2-40B4-BE49-F238E27FC236}">
                <a16:creationId xmlns:a16="http://schemas.microsoft.com/office/drawing/2014/main" id="{560C23AB-D73B-0386-1278-AE990FA63911}"/>
              </a:ext>
            </a:extLst>
          </p:cNvPr>
          <p:cNvSpPr txBox="1"/>
          <p:nvPr/>
        </p:nvSpPr>
        <p:spPr>
          <a:xfrm>
            <a:off x="3742403" y="3657600"/>
            <a:ext cx="3261852" cy="2677656"/>
          </a:xfrm>
          <a:prstGeom prst="rect">
            <a:avLst/>
          </a:prstGeom>
          <a:noFill/>
        </p:spPr>
        <p:txBody>
          <a:bodyPr wrap="square" rtlCol="0">
            <a:spAutoFit/>
          </a:bodyPr>
          <a:lstStyle/>
          <a:p>
            <a:r>
              <a:rPr lang="en-IN" sz="2400" b="1" dirty="0">
                <a:solidFill>
                  <a:srgbClr val="002060"/>
                </a:solidFill>
              </a:rPr>
              <a:t>Engineered Metrics</a:t>
            </a:r>
          </a:p>
          <a:p>
            <a:endParaRPr lang="en-IN" sz="2400" dirty="0">
              <a:solidFill>
                <a:srgbClr val="002060"/>
              </a:solidFill>
            </a:endParaRPr>
          </a:p>
          <a:p>
            <a:pPr marL="342900" indent="-342900">
              <a:buFont typeface="Arial" panose="020B0604020202020204" pitchFamily="34" charset="0"/>
              <a:buChar char="•"/>
            </a:pPr>
            <a:r>
              <a:rPr lang="en-IN" sz="2400" dirty="0">
                <a:solidFill>
                  <a:srgbClr val="002060"/>
                </a:solidFill>
              </a:rPr>
              <a:t>Delay rate</a:t>
            </a:r>
          </a:p>
          <a:p>
            <a:pPr marL="342900" indent="-342900">
              <a:buFont typeface="Arial" panose="020B0604020202020204" pitchFamily="34" charset="0"/>
              <a:buChar char="•"/>
            </a:pPr>
            <a:r>
              <a:rPr lang="en-IN" sz="2400" dirty="0">
                <a:solidFill>
                  <a:srgbClr val="002060"/>
                </a:solidFill>
              </a:rPr>
              <a:t>Delay severity</a:t>
            </a:r>
          </a:p>
          <a:p>
            <a:pPr marL="342900" indent="-342900">
              <a:buFont typeface="Arial" panose="020B0604020202020204" pitchFamily="34" charset="0"/>
              <a:buChar char="•"/>
            </a:pPr>
            <a:r>
              <a:rPr lang="en-IN" sz="2400" dirty="0">
                <a:solidFill>
                  <a:srgbClr val="002060"/>
                </a:solidFill>
              </a:rPr>
              <a:t>Delay composition</a:t>
            </a:r>
          </a:p>
          <a:p>
            <a:pPr marL="342900" indent="-342900">
              <a:buFont typeface="Arial" panose="020B0604020202020204" pitchFamily="34" charset="0"/>
              <a:buChar char="•"/>
            </a:pPr>
            <a:r>
              <a:rPr lang="en-IN" sz="2400" dirty="0">
                <a:solidFill>
                  <a:srgbClr val="002060"/>
                </a:solidFill>
              </a:rPr>
              <a:t>Disruption score</a:t>
            </a:r>
          </a:p>
          <a:p>
            <a:pPr marL="342900" indent="-342900">
              <a:buFont typeface="Arial" panose="020B0604020202020204" pitchFamily="34" charset="0"/>
              <a:buChar char="•"/>
            </a:pPr>
            <a:r>
              <a:rPr lang="en-IN" sz="2400" dirty="0">
                <a:solidFill>
                  <a:srgbClr val="002060"/>
                </a:solidFill>
              </a:rPr>
              <a:t>Impax% </a:t>
            </a:r>
          </a:p>
        </p:txBody>
      </p:sp>
      <p:sp>
        <p:nvSpPr>
          <p:cNvPr id="12" name="TextBox 11">
            <a:extLst>
              <a:ext uri="{FF2B5EF4-FFF2-40B4-BE49-F238E27FC236}">
                <a16:creationId xmlns:a16="http://schemas.microsoft.com/office/drawing/2014/main" id="{E96B9F06-1034-F579-59DE-A7A6582775C2}"/>
              </a:ext>
            </a:extLst>
          </p:cNvPr>
          <p:cNvSpPr txBox="1"/>
          <p:nvPr/>
        </p:nvSpPr>
        <p:spPr>
          <a:xfrm>
            <a:off x="7236542" y="3657600"/>
            <a:ext cx="4117258" cy="2677656"/>
          </a:xfrm>
          <a:prstGeom prst="rect">
            <a:avLst/>
          </a:prstGeom>
          <a:noFill/>
        </p:spPr>
        <p:txBody>
          <a:bodyPr wrap="square" rtlCol="0">
            <a:spAutoFit/>
          </a:bodyPr>
          <a:lstStyle/>
          <a:p>
            <a:r>
              <a:rPr lang="en-IN" sz="2400" b="1" dirty="0">
                <a:solidFill>
                  <a:srgbClr val="002060"/>
                </a:solidFill>
              </a:rPr>
              <a:t>Tools</a:t>
            </a:r>
          </a:p>
          <a:p>
            <a:endParaRPr lang="en-IN" sz="2400" dirty="0">
              <a:solidFill>
                <a:srgbClr val="002060"/>
              </a:solidFill>
            </a:endParaRPr>
          </a:p>
          <a:p>
            <a:pPr marL="285750" indent="-285750">
              <a:buFont typeface="Arial" panose="020B0604020202020204" pitchFamily="34" charset="0"/>
              <a:buChar char="•"/>
            </a:pPr>
            <a:r>
              <a:rPr lang="en-IN" sz="2400" dirty="0">
                <a:solidFill>
                  <a:srgbClr val="002060"/>
                </a:solidFill>
              </a:rPr>
              <a:t>Python → cleaning &amp; feature engineering</a:t>
            </a:r>
          </a:p>
          <a:p>
            <a:pPr marL="285750" indent="-285750">
              <a:buFont typeface="Arial" panose="020B0604020202020204" pitchFamily="34" charset="0"/>
              <a:buChar char="•"/>
            </a:pPr>
            <a:r>
              <a:rPr lang="en-IN" sz="2400" dirty="0">
                <a:solidFill>
                  <a:srgbClr val="002060"/>
                </a:solidFill>
              </a:rPr>
              <a:t>Power BI → dashboarding</a:t>
            </a:r>
          </a:p>
          <a:p>
            <a:pPr marL="285750" indent="-285750">
              <a:buFont typeface="Arial" panose="020B0604020202020204" pitchFamily="34" charset="0"/>
              <a:buChar char="•"/>
            </a:pPr>
            <a:r>
              <a:rPr lang="en-IN" sz="2400" dirty="0">
                <a:solidFill>
                  <a:srgbClr val="002060"/>
                </a:solidFill>
              </a:rPr>
              <a:t>DAX → KPI modelling</a:t>
            </a:r>
          </a:p>
          <a:p>
            <a:endParaRPr lang="en-IN" sz="2400" dirty="0">
              <a:solidFill>
                <a:srgbClr val="002060"/>
              </a:solidFill>
            </a:endParaRPr>
          </a:p>
        </p:txBody>
      </p:sp>
    </p:spTree>
    <p:extLst>
      <p:ext uri="{BB962C8B-B14F-4D97-AF65-F5344CB8AC3E}">
        <p14:creationId xmlns:p14="http://schemas.microsoft.com/office/powerpoint/2010/main" val="2452618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A6967-CA01-C11A-0565-0DBBC9970A13}"/>
              </a:ext>
            </a:extLst>
          </p:cNvPr>
          <p:cNvSpPr>
            <a:spLocks noGrp="1"/>
          </p:cNvSpPr>
          <p:nvPr>
            <p:ph type="title"/>
          </p:nvPr>
        </p:nvSpPr>
        <p:spPr>
          <a:xfrm>
            <a:off x="838200" y="104775"/>
            <a:ext cx="10515600" cy="466725"/>
          </a:xfrm>
        </p:spPr>
        <p:txBody>
          <a:bodyPr>
            <a:normAutofit fontScale="90000"/>
          </a:bodyPr>
          <a:lstStyle/>
          <a:p>
            <a:pPr algn="ctr"/>
            <a:r>
              <a:rPr lang="en-IN" sz="3600" b="1" dirty="0">
                <a:solidFill>
                  <a:schemeClr val="bg1"/>
                </a:solidFill>
              </a:rPr>
              <a:t>Data Dictionary (Original Features)</a:t>
            </a:r>
          </a:p>
        </p:txBody>
      </p:sp>
      <p:graphicFrame>
        <p:nvGraphicFramePr>
          <p:cNvPr id="4" name="Content Placeholder 3">
            <a:extLst>
              <a:ext uri="{FF2B5EF4-FFF2-40B4-BE49-F238E27FC236}">
                <a16:creationId xmlns:a16="http://schemas.microsoft.com/office/drawing/2014/main" id="{C03954E6-129D-C92D-8B92-B250866348B0}"/>
              </a:ext>
            </a:extLst>
          </p:cNvPr>
          <p:cNvGraphicFramePr>
            <a:graphicFrameLocks noGrp="1"/>
          </p:cNvGraphicFramePr>
          <p:nvPr>
            <p:ph idx="1"/>
            <p:extLst>
              <p:ext uri="{D42A27DB-BD31-4B8C-83A1-F6EECF244321}">
                <p14:modId xmlns:p14="http://schemas.microsoft.com/office/powerpoint/2010/main" val="1364223011"/>
              </p:ext>
            </p:extLst>
          </p:nvPr>
        </p:nvGraphicFramePr>
        <p:xfrm>
          <a:off x="1200150" y="571500"/>
          <a:ext cx="9401175" cy="6181736"/>
        </p:xfrm>
        <a:graphic>
          <a:graphicData uri="http://schemas.openxmlformats.org/drawingml/2006/table">
            <a:tbl>
              <a:tblPr firstRow="1" firstCol="1" bandRow="1">
                <a:tableStyleId>{5C22544A-7EE6-4342-B048-85BDC9FD1C3A}</a:tableStyleId>
              </a:tblPr>
              <a:tblGrid>
                <a:gridCol w="2588730">
                  <a:extLst>
                    <a:ext uri="{9D8B030D-6E8A-4147-A177-3AD203B41FA5}">
                      <a16:colId xmlns:a16="http://schemas.microsoft.com/office/drawing/2014/main" val="3066339053"/>
                    </a:ext>
                  </a:extLst>
                </a:gridCol>
                <a:gridCol w="6812445">
                  <a:extLst>
                    <a:ext uri="{9D8B030D-6E8A-4147-A177-3AD203B41FA5}">
                      <a16:colId xmlns:a16="http://schemas.microsoft.com/office/drawing/2014/main" val="1839950459"/>
                    </a:ext>
                  </a:extLst>
                </a:gridCol>
              </a:tblGrid>
              <a:tr h="280988">
                <a:tc>
                  <a:txBody>
                    <a:bodyPr/>
                    <a:lstStyle/>
                    <a:p>
                      <a:pPr algn="ctr"/>
                      <a:r>
                        <a:rPr lang="en-IN" sz="1200" dirty="0"/>
                        <a:t>Feature Name</a:t>
                      </a:r>
                    </a:p>
                  </a:txBody>
                  <a:tcPr/>
                </a:tc>
                <a:tc>
                  <a:txBody>
                    <a:bodyPr/>
                    <a:lstStyle/>
                    <a:p>
                      <a:pPr algn="ctr"/>
                      <a:r>
                        <a:rPr lang="en-IN" sz="1200" dirty="0"/>
                        <a:t>Definition</a:t>
                      </a:r>
                    </a:p>
                  </a:txBody>
                  <a:tcPr/>
                </a:tc>
                <a:extLst>
                  <a:ext uri="{0D108BD9-81ED-4DB2-BD59-A6C34878D82A}">
                    <a16:rowId xmlns:a16="http://schemas.microsoft.com/office/drawing/2014/main" val="653067435"/>
                  </a:ext>
                </a:extLst>
              </a:tr>
              <a:tr h="280988">
                <a:tc>
                  <a:txBody>
                    <a:bodyPr/>
                    <a:lstStyle/>
                    <a:p>
                      <a:pPr algn="ctr"/>
                      <a:r>
                        <a:rPr lang="en-IN" sz="1200" dirty="0"/>
                        <a:t>year</a:t>
                      </a:r>
                    </a:p>
                  </a:txBody>
                  <a:tcPr/>
                </a:tc>
                <a:tc>
                  <a:txBody>
                    <a:bodyPr/>
                    <a:lstStyle/>
                    <a:p>
                      <a:pPr algn="ctr"/>
                      <a:r>
                        <a:rPr lang="en-IN" sz="1200" dirty="0"/>
                        <a:t>Year in which flights were recorded</a:t>
                      </a:r>
                    </a:p>
                  </a:txBody>
                  <a:tcPr/>
                </a:tc>
                <a:extLst>
                  <a:ext uri="{0D108BD9-81ED-4DB2-BD59-A6C34878D82A}">
                    <a16:rowId xmlns:a16="http://schemas.microsoft.com/office/drawing/2014/main" val="1823189255"/>
                  </a:ext>
                </a:extLst>
              </a:tr>
              <a:tr h="280988">
                <a:tc>
                  <a:txBody>
                    <a:bodyPr/>
                    <a:lstStyle/>
                    <a:p>
                      <a:pPr algn="ctr"/>
                      <a:r>
                        <a:rPr lang="en-IN" sz="1200" dirty="0"/>
                        <a:t>Month</a:t>
                      </a:r>
                    </a:p>
                  </a:txBody>
                  <a:tcPr/>
                </a:tc>
                <a:tc>
                  <a:txBody>
                    <a:bodyPr/>
                    <a:lstStyle/>
                    <a:p>
                      <a:pPr algn="ctr"/>
                      <a:r>
                        <a:rPr lang="en-IN" sz="1200" dirty="0"/>
                        <a:t>Month of operation (1–12)</a:t>
                      </a:r>
                    </a:p>
                  </a:txBody>
                  <a:tcPr/>
                </a:tc>
                <a:extLst>
                  <a:ext uri="{0D108BD9-81ED-4DB2-BD59-A6C34878D82A}">
                    <a16:rowId xmlns:a16="http://schemas.microsoft.com/office/drawing/2014/main" val="4093023893"/>
                  </a:ext>
                </a:extLst>
              </a:tr>
              <a:tr h="280988">
                <a:tc>
                  <a:txBody>
                    <a:bodyPr/>
                    <a:lstStyle/>
                    <a:p>
                      <a:pPr algn="ctr"/>
                      <a:r>
                        <a:rPr lang="en-IN" sz="1200" dirty="0"/>
                        <a:t>Carrier</a:t>
                      </a:r>
                    </a:p>
                  </a:txBody>
                  <a:tcPr/>
                </a:tc>
                <a:tc>
                  <a:txBody>
                    <a:bodyPr/>
                    <a:lstStyle/>
                    <a:p>
                      <a:pPr algn="ctr"/>
                      <a:r>
                        <a:rPr lang="en-IN" sz="1200" dirty="0"/>
                        <a:t>Airline code identifier</a:t>
                      </a:r>
                    </a:p>
                  </a:txBody>
                  <a:tcPr/>
                </a:tc>
                <a:extLst>
                  <a:ext uri="{0D108BD9-81ED-4DB2-BD59-A6C34878D82A}">
                    <a16:rowId xmlns:a16="http://schemas.microsoft.com/office/drawing/2014/main" val="864355792"/>
                  </a:ext>
                </a:extLst>
              </a:tr>
              <a:tr h="280988">
                <a:tc>
                  <a:txBody>
                    <a:bodyPr/>
                    <a:lstStyle/>
                    <a:p>
                      <a:pPr algn="ctr"/>
                      <a:r>
                        <a:rPr lang="en-IN" sz="1200" dirty="0" err="1"/>
                        <a:t>carrier_name</a:t>
                      </a:r>
                      <a:endParaRPr lang="en-IN" sz="1200" dirty="0"/>
                    </a:p>
                  </a:txBody>
                  <a:tcPr/>
                </a:tc>
                <a:tc>
                  <a:txBody>
                    <a:bodyPr/>
                    <a:lstStyle/>
                    <a:p>
                      <a:pPr algn="ctr"/>
                      <a:r>
                        <a:rPr lang="en-IN" sz="1200" dirty="0"/>
                        <a:t>Full airline name</a:t>
                      </a:r>
                    </a:p>
                  </a:txBody>
                  <a:tcPr/>
                </a:tc>
                <a:extLst>
                  <a:ext uri="{0D108BD9-81ED-4DB2-BD59-A6C34878D82A}">
                    <a16:rowId xmlns:a16="http://schemas.microsoft.com/office/drawing/2014/main" val="2014835222"/>
                  </a:ext>
                </a:extLst>
              </a:tr>
              <a:tr h="280988">
                <a:tc>
                  <a:txBody>
                    <a:bodyPr/>
                    <a:lstStyle/>
                    <a:p>
                      <a:pPr algn="ctr"/>
                      <a:r>
                        <a:rPr lang="en-IN" sz="1200" dirty="0"/>
                        <a:t>Airport</a:t>
                      </a:r>
                    </a:p>
                  </a:txBody>
                  <a:tcPr/>
                </a:tc>
                <a:tc>
                  <a:txBody>
                    <a:bodyPr/>
                    <a:lstStyle/>
                    <a:p>
                      <a:pPr algn="ctr"/>
                      <a:r>
                        <a:rPr lang="en-IN" sz="1200" dirty="0"/>
                        <a:t>Airport IATA code</a:t>
                      </a:r>
                    </a:p>
                  </a:txBody>
                  <a:tcPr/>
                </a:tc>
                <a:extLst>
                  <a:ext uri="{0D108BD9-81ED-4DB2-BD59-A6C34878D82A}">
                    <a16:rowId xmlns:a16="http://schemas.microsoft.com/office/drawing/2014/main" val="1327237449"/>
                  </a:ext>
                </a:extLst>
              </a:tr>
              <a:tr h="280988">
                <a:tc>
                  <a:txBody>
                    <a:bodyPr/>
                    <a:lstStyle/>
                    <a:p>
                      <a:pPr algn="ctr"/>
                      <a:r>
                        <a:rPr lang="en-IN" sz="1200" dirty="0" err="1"/>
                        <a:t>airport_name</a:t>
                      </a:r>
                      <a:endParaRPr lang="en-IN" sz="1200" dirty="0"/>
                    </a:p>
                  </a:txBody>
                  <a:tcPr/>
                </a:tc>
                <a:tc>
                  <a:txBody>
                    <a:bodyPr/>
                    <a:lstStyle/>
                    <a:p>
                      <a:pPr algn="ctr"/>
                      <a:r>
                        <a:rPr lang="en-IN" sz="1200" dirty="0"/>
                        <a:t>Full airport name and location</a:t>
                      </a:r>
                    </a:p>
                  </a:txBody>
                  <a:tcPr/>
                </a:tc>
                <a:extLst>
                  <a:ext uri="{0D108BD9-81ED-4DB2-BD59-A6C34878D82A}">
                    <a16:rowId xmlns:a16="http://schemas.microsoft.com/office/drawing/2014/main" val="2386343877"/>
                  </a:ext>
                </a:extLst>
              </a:tr>
              <a:tr h="280988">
                <a:tc>
                  <a:txBody>
                    <a:bodyPr/>
                    <a:lstStyle/>
                    <a:p>
                      <a:pPr algn="ctr"/>
                      <a:r>
                        <a:rPr lang="en-IN" sz="1200" dirty="0" err="1"/>
                        <a:t>arr_flights</a:t>
                      </a:r>
                      <a:endParaRPr lang="en-IN" sz="1200" dirty="0"/>
                    </a:p>
                  </a:txBody>
                  <a:tcPr/>
                </a:tc>
                <a:tc>
                  <a:txBody>
                    <a:bodyPr/>
                    <a:lstStyle/>
                    <a:p>
                      <a:pPr algn="ctr"/>
                      <a:r>
                        <a:rPr lang="en-IN" sz="1200" dirty="0"/>
                        <a:t>Total arriving flights</a:t>
                      </a:r>
                    </a:p>
                  </a:txBody>
                  <a:tcPr/>
                </a:tc>
                <a:extLst>
                  <a:ext uri="{0D108BD9-81ED-4DB2-BD59-A6C34878D82A}">
                    <a16:rowId xmlns:a16="http://schemas.microsoft.com/office/drawing/2014/main" val="4203051381"/>
                  </a:ext>
                </a:extLst>
              </a:tr>
              <a:tr h="280988">
                <a:tc>
                  <a:txBody>
                    <a:bodyPr/>
                    <a:lstStyle/>
                    <a:p>
                      <a:pPr algn="ctr"/>
                      <a:r>
                        <a:rPr lang="en-IN" sz="1200" dirty="0" err="1"/>
                        <a:t>arr_cancelled</a:t>
                      </a:r>
                      <a:endParaRPr lang="en-IN" sz="1200" dirty="0"/>
                    </a:p>
                  </a:txBody>
                  <a:tcPr/>
                </a:tc>
                <a:tc>
                  <a:txBody>
                    <a:bodyPr/>
                    <a:lstStyle/>
                    <a:p>
                      <a:pPr algn="ctr"/>
                      <a:r>
                        <a:rPr lang="en-IN" sz="1200" dirty="0"/>
                        <a:t>Total cancelled flights</a:t>
                      </a:r>
                    </a:p>
                  </a:txBody>
                  <a:tcPr/>
                </a:tc>
                <a:extLst>
                  <a:ext uri="{0D108BD9-81ED-4DB2-BD59-A6C34878D82A}">
                    <a16:rowId xmlns:a16="http://schemas.microsoft.com/office/drawing/2014/main" val="251277225"/>
                  </a:ext>
                </a:extLst>
              </a:tr>
              <a:tr h="280988">
                <a:tc>
                  <a:txBody>
                    <a:bodyPr/>
                    <a:lstStyle/>
                    <a:p>
                      <a:pPr algn="ctr"/>
                      <a:r>
                        <a:rPr lang="en-IN" sz="1200" dirty="0" err="1"/>
                        <a:t>arr_diverted</a:t>
                      </a:r>
                      <a:endParaRPr lang="en-IN" sz="1200" dirty="0"/>
                    </a:p>
                  </a:txBody>
                  <a:tcPr/>
                </a:tc>
                <a:tc>
                  <a:txBody>
                    <a:bodyPr/>
                    <a:lstStyle/>
                    <a:p>
                      <a:pPr algn="ctr"/>
                      <a:r>
                        <a:rPr lang="en-IN" sz="1200" dirty="0"/>
                        <a:t>Total diverted flights</a:t>
                      </a:r>
                    </a:p>
                  </a:txBody>
                  <a:tcPr/>
                </a:tc>
                <a:extLst>
                  <a:ext uri="{0D108BD9-81ED-4DB2-BD59-A6C34878D82A}">
                    <a16:rowId xmlns:a16="http://schemas.microsoft.com/office/drawing/2014/main" val="1572210101"/>
                  </a:ext>
                </a:extLst>
              </a:tr>
              <a:tr h="280988">
                <a:tc>
                  <a:txBody>
                    <a:bodyPr/>
                    <a:lstStyle/>
                    <a:p>
                      <a:pPr algn="ctr"/>
                      <a:r>
                        <a:rPr lang="en-IN" sz="1200" dirty="0"/>
                        <a:t>arr_del15</a:t>
                      </a:r>
                    </a:p>
                  </a:txBody>
                  <a:tcPr/>
                </a:tc>
                <a:tc>
                  <a:txBody>
                    <a:bodyPr/>
                    <a:lstStyle/>
                    <a:p>
                      <a:pPr algn="ctr"/>
                      <a:r>
                        <a:rPr lang="en-IN" sz="1200" dirty="0"/>
                        <a:t>Flights delayed by </a:t>
                      </a:r>
                      <a:r>
                        <a:rPr lang="en-IN" sz="1200" b="0" dirty="0"/>
                        <a:t>15+ minutes</a:t>
                      </a:r>
                    </a:p>
                  </a:txBody>
                  <a:tcPr/>
                </a:tc>
                <a:extLst>
                  <a:ext uri="{0D108BD9-81ED-4DB2-BD59-A6C34878D82A}">
                    <a16:rowId xmlns:a16="http://schemas.microsoft.com/office/drawing/2014/main" val="3357333742"/>
                  </a:ext>
                </a:extLst>
              </a:tr>
              <a:tr h="280988">
                <a:tc>
                  <a:txBody>
                    <a:bodyPr/>
                    <a:lstStyle/>
                    <a:p>
                      <a:pPr algn="ctr"/>
                      <a:r>
                        <a:rPr lang="en-IN" sz="1200" dirty="0" err="1"/>
                        <a:t>arr_delay</a:t>
                      </a:r>
                      <a:endParaRPr lang="en-IN" sz="1200" dirty="0"/>
                    </a:p>
                  </a:txBody>
                  <a:tcPr/>
                </a:tc>
                <a:tc>
                  <a:txBody>
                    <a:bodyPr/>
                    <a:lstStyle/>
                    <a:p>
                      <a:pPr algn="ctr"/>
                      <a:r>
                        <a:rPr lang="en-IN" sz="1200" dirty="0"/>
                        <a:t>Total arrival delay minutes</a:t>
                      </a:r>
                    </a:p>
                  </a:txBody>
                  <a:tcPr/>
                </a:tc>
                <a:extLst>
                  <a:ext uri="{0D108BD9-81ED-4DB2-BD59-A6C34878D82A}">
                    <a16:rowId xmlns:a16="http://schemas.microsoft.com/office/drawing/2014/main" val="2108704195"/>
                  </a:ext>
                </a:extLst>
              </a:tr>
              <a:tr h="280988">
                <a:tc>
                  <a:txBody>
                    <a:bodyPr/>
                    <a:lstStyle/>
                    <a:p>
                      <a:pPr algn="ctr"/>
                      <a:r>
                        <a:rPr lang="en-IN" sz="1200" dirty="0" err="1"/>
                        <a:t>carrier_ct</a:t>
                      </a:r>
                      <a:endParaRPr lang="en-IN" sz="1200" dirty="0"/>
                    </a:p>
                  </a:txBody>
                  <a:tcPr/>
                </a:tc>
                <a:tc>
                  <a:txBody>
                    <a:bodyPr/>
                    <a:lstStyle/>
                    <a:p>
                      <a:pPr algn="ctr"/>
                      <a:r>
                        <a:rPr lang="en-IN" sz="1200" dirty="0"/>
                        <a:t>Delayed flights caused by airline operations</a:t>
                      </a:r>
                    </a:p>
                  </a:txBody>
                  <a:tcPr/>
                </a:tc>
                <a:extLst>
                  <a:ext uri="{0D108BD9-81ED-4DB2-BD59-A6C34878D82A}">
                    <a16:rowId xmlns:a16="http://schemas.microsoft.com/office/drawing/2014/main" val="4259799948"/>
                  </a:ext>
                </a:extLst>
              </a:tr>
              <a:tr h="280988">
                <a:tc>
                  <a:txBody>
                    <a:bodyPr/>
                    <a:lstStyle/>
                    <a:p>
                      <a:pPr algn="ctr"/>
                      <a:r>
                        <a:rPr lang="en-IN" sz="1200" dirty="0" err="1"/>
                        <a:t>weather_ct</a:t>
                      </a:r>
                      <a:endParaRPr lang="en-IN" sz="1200" dirty="0"/>
                    </a:p>
                  </a:txBody>
                  <a:tcPr/>
                </a:tc>
                <a:tc>
                  <a:txBody>
                    <a:bodyPr/>
                    <a:lstStyle/>
                    <a:p>
                      <a:pPr algn="ctr"/>
                      <a:r>
                        <a:rPr lang="en-IN" sz="1200" dirty="0"/>
                        <a:t>Delayed flights caused by weather</a:t>
                      </a:r>
                    </a:p>
                  </a:txBody>
                  <a:tcPr/>
                </a:tc>
                <a:extLst>
                  <a:ext uri="{0D108BD9-81ED-4DB2-BD59-A6C34878D82A}">
                    <a16:rowId xmlns:a16="http://schemas.microsoft.com/office/drawing/2014/main" val="994926675"/>
                  </a:ext>
                </a:extLst>
              </a:tr>
              <a:tr h="280988">
                <a:tc>
                  <a:txBody>
                    <a:bodyPr/>
                    <a:lstStyle/>
                    <a:p>
                      <a:pPr algn="ctr"/>
                      <a:r>
                        <a:rPr lang="en-IN" sz="1200" dirty="0" err="1"/>
                        <a:t>nas_ct</a:t>
                      </a:r>
                      <a:endParaRPr lang="en-IN" sz="1200" dirty="0"/>
                    </a:p>
                  </a:txBody>
                  <a:tcPr/>
                </a:tc>
                <a:tc>
                  <a:txBody>
                    <a:bodyPr/>
                    <a:lstStyle/>
                    <a:p>
                      <a:pPr algn="ctr"/>
                      <a:r>
                        <a:rPr lang="en-IN" sz="1200" dirty="0"/>
                        <a:t>Delays caused by National Airspace System congestion</a:t>
                      </a:r>
                    </a:p>
                  </a:txBody>
                  <a:tcPr/>
                </a:tc>
                <a:extLst>
                  <a:ext uri="{0D108BD9-81ED-4DB2-BD59-A6C34878D82A}">
                    <a16:rowId xmlns:a16="http://schemas.microsoft.com/office/drawing/2014/main" val="1101537485"/>
                  </a:ext>
                </a:extLst>
              </a:tr>
              <a:tr h="280988">
                <a:tc>
                  <a:txBody>
                    <a:bodyPr/>
                    <a:lstStyle/>
                    <a:p>
                      <a:pPr algn="ctr"/>
                      <a:r>
                        <a:rPr lang="en-IN" sz="1200" dirty="0" err="1"/>
                        <a:t>security_ct</a:t>
                      </a:r>
                      <a:endParaRPr lang="en-IN" sz="1200" dirty="0"/>
                    </a:p>
                  </a:txBody>
                  <a:tcPr/>
                </a:tc>
                <a:tc>
                  <a:txBody>
                    <a:bodyPr/>
                    <a:lstStyle/>
                    <a:p>
                      <a:pPr algn="ctr"/>
                      <a:r>
                        <a:rPr lang="en-IN" sz="1200" dirty="0"/>
                        <a:t>Delays caused by security issues</a:t>
                      </a:r>
                    </a:p>
                  </a:txBody>
                  <a:tcPr/>
                </a:tc>
                <a:extLst>
                  <a:ext uri="{0D108BD9-81ED-4DB2-BD59-A6C34878D82A}">
                    <a16:rowId xmlns:a16="http://schemas.microsoft.com/office/drawing/2014/main" val="1866305201"/>
                  </a:ext>
                </a:extLst>
              </a:tr>
              <a:tr h="280988">
                <a:tc>
                  <a:txBody>
                    <a:bodyPr/>
                    <a:lstStyle/>
                    <a:p>
                      <a:pPr algn="ctr"/>
                      <a:r>
                        <a:rPr lang="en-IN" sz="1200" dirty="0" err="1"/>
                        <a:t>late_aircraft_ct</a:t>
                      </a:r>
                      <a:endParaRPr lang="en-IN" sz="1200" dirty="0"/>
                    </a:p>
                  </a:txBody>
                  <a:tcPr/>
                </a:tc>
                <a:tc>
                  <a:txBody>
                    <a:bodyPr/>
                    <a:lstStyle/>
                    <a:p>
                      <a:pPr algn="ctr"/>
                      <a:r>
                        <a:rPr lang="en-IN" sz="1200" dirty="0"/>
                        <a:t>Delays caused by late incoming aircraft</a:t>
                      </a:r>
                    </a:p>
                  </a:txBody>
                  <a:tcPr/>
                </a:tc>
                <a:extLst>
                  <a:ext uri="{0D108BD9-81ED-4DB2-BD59-A6C34878D82A}">
                    <a16:rowId xmlns:a16="http://schemas.microsoft.com/office/drawing/2014/main" val="3117185286"/>
                  </a:ext>
                </a:extLst>
              </a:tr>
              <a:tr h="280988">
                <a:tc>
                  <a:txBody>
                    <a:bodyPr/>
                    <a:lstStyle/>
                    <a:p>
                      <a:pPr algn="ctr"/>
                      <a:r>
                        <a:rPr lang="en-IN" sz="1200" dirty="0" err="1"/>
                        <a:t>carrier_delay</a:t>
                      </a:r>
                      <a:endParaRPr lang="en-IN" sz="1200" dirty="0"/>
                    </a:p>
                  </a:txBody>
                  <a:tcPr/>
                </a:tc>
                <a:tc>
                  <a:txBody>
                    <a:bodyPr/>
                    <a:lstStyle/>
                    <a:p>
                      <a:pPr algn="ctr"/>
                      <a:r>
                        <a:rPr lang="en-IN" sz="1200" dirty="0"/>
                        <a:t>Total airline-caused delay minutes</a:t>
                      </a:r>
                    </a:p>
                  </a:txBody>
                  <a:tcPr/>
                </a:tc>
                <a:extLst>
                  <a:ext uri="{0D108BD9-81ED-4DB2-BD59-A6C34878D82A}">
                    <a16:rowId xmlns:a16="http://schemas.microsoft.com/office/drawing/2014/main" val="1895519915"/>
                  </a:ext>
                </a:extLst>
              </a:tr>
              <a:tr h="280988">
                <a:tc>
                  <a:txBody>
                    <a:bodyPr/>
                    <a:lstStyle/>
                    <a:p>
                      <a:pPr algn="ctr"/>
                      <a:r>
                        <a:rPr lang="en-IN" sz="1200" dirty="0" err="1"/>
                        <a:t>weather_delay</a:t>
                      </a:r>
                      <a:endParaRPr lang="en-IN" sz="1200" dirty="0"/>
                    </a:p>
                  </a:txBody>
                  <a:tcPr/>
                </a:tc>
                <a:tc>
                  <a:txBody>
                    <a:bodyPr/>
                    <a:lstStyle/>
                    <a:p>
                      <a:pPr algn="ctr"/>
                      <a:r>
                        <a:rPr lang="en-IN" sz="1200" dirty="0"/>
                        <a:t>Total weather-caused delay minutes</a:t>
                      </a:r>
                    </a:p>
                  </a:txBody>
                  <a:tcPr/>
                </a:tc>
                <a:extLst>
                  <a:ext uri="{0D108BD9-81ED-4DB2-BD59-A6C34878D82A}">
                    <a16:rowId xmlns:a16="http://schemas.microsoft.com/office/drawing/2014/main" val="1164941571"/>
                  </a:ext>
                </a:extLst>
              </a:tr>
              <a:tr h="280988">
                <a:tc>
                  <a:txBody>
                    <a:bodyPr/>
                    <a:lstStyle/>
                    <a:p>
                      <a:pPr algn="ctr"/>
                      <a:r>
                        <a:rPr lang="en-IN" sz="1200" dirty="0" err="1"/>
                        <a:t>nas_delay</a:t>
                      </a:r>
                      <a:endParaRPr lang="en-IN" sz="1200" dirty="0"/>
                    </a:p>
                  </a:txBody>
                  <a:tcPr/>
                </a:tc>
                <a:tc>
                  <a:txBody>
                    <a:bodyPr/>
                    <a:lstStyle/>
                    <a:p>
                      <a:pPr algn="ctr"/>
                      <a:r>
                        <a:rPr lang="en-IN" sz="1200" dirty="0"/>
                        <a:t>Total NAS delay minutes</a:t>
                      </a:r>
                    </a:p>
                  </a:txBody>
                  <a:tcPr/>
                </a:tc>
                <a:extLst>
                  <a:ext uri="{0D108BD9-81ED-4DB2-BD59-A6C34878D82A}">
                    <a16:rowId xmlns:a16="http://schemas.microsoft.com/office/drawing/2014/main" val="3794663673"/>
                  </a:ext>
                </a:extLst>
              </a:tr>
              <a:tr h="280988">
                <a:tc>
                  <a:txBody>
                    <a:bodyPr/>
                    <a:lstStyle/>
                    <a:p>
                      <a:pPr algn="ctr"/>
                      <a:r>
                        <a:rPr lang="en-IN" sz="1200" dirty="0" err="1"/>
                        <a:t>security_delay</a:t>
                      </a:r>
                      <a:endParaRPr lang="en-IN" sz="1200" dirty="0"/>
                    </a:p>
                  </a:txBody>
                  <a:tcPr/>
                </a:tc>
                <a:tc>
                  <a:txBody>
                    <a:bodyPr/>
                    <a:lstStyle/>
                    <a:p>
                      <a:pPr algn="ctr"/>
                      <a:r>
                        <a:rPr lang="en-IN" sz="1200" dirty="0"/>
                        <a:t>Total security delay minutes</a:t>
                      </a:r>
                    </a:p>
                  </a:txBody>
                  <a:tcPr/>
                </a:tc>
                <a:extLst>
                  <a:ext uri="{0D108BD9-81ED-4DB2-BD59-A6C34878D82A}">
                    <a16:rowId xmlns:a16="http://schemas.microsoft.com/office/drawing/2014/main" val="3203747569"/>
                  </a:ext>
                </a:extLst>
              </a:tr>
              <a:tr h="280988">
                <a:tc>
                  <a:txBody>
                    <a:bodyPr/>
                    <a:lstStyle/>
                    <a:p>
                      <a:pPr algn="ctr"/>
                      <a:r>
                        <a:rPr lang="en-IN" sz="1200" dirty="0" err="1"/>
                        <a:t>late_aircraft_delay</a:t>
                      </a:r>
                      <a:endParaRPr lang="en-IN" sz="1200" dirty="0"/>
                    </a:p>
                  </a:txBody>
                  <a:tcPr/>
                </a:tc>
                <a:tc>
                  <a:txBody>
                    <a:bodyPr/>
                    <a:lstStyle/>
                    <a:p>
                      <a:pPr algn="ctr"/>
                      <a:r>
                        <a:rPr lang="en-IN" sz="1200" dirty="0"/>
                        <a:t>Total late aircraft delay minutes</a:t>
                      </a:r>
                    </a:p>
                  </a:txBody>
                  <a:tcPr/>
                </a:tc>
                <a:extLst>
                  <a:ext uri="{0D108BD9-81ED-4DB2-BD59-A6C34878D82A}">
                    <a16:rowId xmlns:a16="http://schemas.microsoft.com/office/drawing/2014/main" val="1736847700"/>
                  </a:ext>
                </a:extLst>
              </a:tr>
            </a:tbl>
          </a:graphicData>
        </a:graphic>
      </p:graphicFrame>
    </p:spTree>
    <p:extLst>
      <p:ext uri="{BB962C8B-B14F-4D97-AF65-F5344CB8AC3E}">
        <p14:creationId xmlns:p14="http://schemas.microsoft.com/office/powerpoint/2010/main" val="3030033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0AE0-756F-5C35-6C49-C905F099711D}"/>
              </a:ext>
            </a:extLst>
          </p:cNvPr>
          <p:cNvSpPr>
            <a:spLocks noGrp="1"/>
          </p:cNvSpPr>
          <p:nvPr>
            <p:ph type="title"/>
          </p:nvPr>
        </p:nvSpPr>
        <p:spPr/>
        <p:txBody>
          <a:bodyPr>
            <a:normAutofit/>
          </a:bodyPr>
          <a:lstStyle/>
          <a:p>
            <a:r>
              <a:rPr lang="en-US" sz="7200" b="1" dirty="0">
                <a:solidFill>
                  <a:schemeClr val="bg1"/>
                </a:solidFill>
              </a:rPr>
              <a:t>Delay Types and their causes</a:t>
            </a:r>
            <a:endParaRPr lang="en-IN" sz="7200" b="1" dirty="0">
              <a:solidFill>
                <a:schemeClr val="bg1"/>
              </a:solidFill>
            </a:endParaRPr>
          </a:p>
        </p:txBody>
      </p:sp>
      <p:graphicFrame>
        <p:nvGraphicFramePr>
          <p:cNvPr id="4" name="Content Placeholder 3">
            <a:extLst>
              <a:ext uri="{FF2B5EF4-FFF2-40B4-BE49-F238E27FC236}">
                <a16:creationId xmlns:a16="http://schemas.microsoft.com/office/drawing/2014/main" id="{BA5F2D0F-4B8E-6704-8577-8413D4CDF13F}"/>
              </a:ext>
            </a:extLst>
          </p:cNvPr>
          <p:cNvGraphicFramePr>
            <a:graphicFrameLocks noGrp="1"/>
          </p:cNvGraphicFramePr>
          <p:nvPr>
            <p:ph idx="1"/>
            <p:extLst>
              <p:ext uri="{D42A27DB-BD31-4B8C-83A1-F6EECF244321}">
                <p14:modId xmlns:p14="http://schemas.microsoft.com/office/powerpoint/2010/main" val="381854582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7309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2EA7-96B8-978E-09E7-D89BC943B85E}"/>
              </a:ext>
            </a:extLst>
          </p:cNvPr>
          <p:cNvSpPr>
            <a:spLocks noGrp="1"/>
          </p:cNvSpPr>
          <p:nvPr>
            <p:ph type="title"/>
          </p:nvPr>
        </p:nvSpPr>
        <p:spPr>
          <a:xfrm>
            <a:off x="838200" y="365126"/>
            <a:ext cx="10669968" cy="502140"/>
          </a:xfrm>
        </p:spPr>
        <p:txBody>
          <a:bodyPr>
            <a:normAutofit fontScale="90000"/>
          </a:bodyPr>
          <a:lstStyle/>
          <a:p>
            <a:r>
              <a:rPr lang="en-US" b="1" dirty="0">
                <a:solidFill>
                  <a:schemeClr val="bg1"/>
                </a:solidFill>
              </a:rPr>
              <a:t>Data Preprocessing</a:t>
            </a:r>
            <a:endParaRPr lang="en-IN" b="1" dirty="0">
              <a:solidFill>
                <a:schemeClr val="bg1"/>
              </a:solidFill>
            </a:endParaRPr>
          </a:p>
        </p:txBody>
      </p:sp>
      <p:sp>
        <p:nvSpPr>
          <p:cNvPr id="3" name="Content Placeholder 2">
            <a:extLst>
              <a:ext uri="{FF2B5EF4-FFF2-40B4-BE49-F238E27FC236}">
                <a16:creationId xmlns:a16="http://schemas.microsoft.com/office/drawing/2014/main" id="{252EA8C5-A4DD-E59F-D9DD-141D8D75266F}"/>
              </a:ext>
            </a:extLst>
          </p:cNvPr>
          <p:cNvSpPr>
            <a:spLocks noGrp="1"/>
          </p:cNvSpPr>
          <p:nvPr>
            <p:ph idx="1"/>
          </p:nvPr>
        </p:nvSpPr>
        <p:spPr>
          <a:xfrm>
            <a:off x="838201" y="1006931"/>
            <a:ext cx="4846162" cy="1208368"/>
          </a:xfrm>
        </p:spPr>
        <p:txBody>
          <a:bodyPr>
            <a:normAutofit fontScale="70000" lnSpcReduction="20000"/>
          </a:bodyPr>
          <a:lstStyle/>
          <a:p>
            <a:r>
              <a:rPr lang="en-US" dirty="0">
                <a:solidFill>
                  <a:srgbClr val="002060"/>
                </a:solidFill>
              </a:rPr>
              <a:t>Missing rows deleted</a:t>
            </a:r>
          </a:p>
          <a:p>
            <a:pPr lvl="1"/>
            <a:r>
              <a:rPr lang="en-US" dirty="0">
                <a:solidFill>
                  <a:srgbClr val="002060"/>
                </a:solidFill>
              </a:rPr>
              <a:t>Code output clearly shows 240 rows with missing values in the numeric columns.</a:t>
            </a:r>
          </a:p>
          <a:p>
            <a:pPr lvl="1"/>
            <a:r>
              <a:rPr lang="en-US" dirty="0">
                <a:solidFill>
                  <a:srgbClr val="002060"/>
                </a:solidFill>
              </a:rPr>
              <a:t>All 240 rows were dropped.</a:t>
            </a:r>
            <a:endParaRPr lang="en-IN" dirty="0">
              <a:solidFill>
                <a:srgbClr val="002060"/>
              </a:solidFill>
            </a:endParaRPr>
          </a:p>
        </p:txBody>
      </p:sp>
      <p:pic>
        <p:nvPicPr>
          <p:cNvPr id="9" name="Picture 8">
            <a:extLst>
              <a:ext uri="{FF2B5EF4-FFF2-40B4-BE49-F238E27FC236}">
                <a16:creationId xmlns:a16="http://schemas.microsoft.com/office/drawing/2014/main" id="{FC300209-434B-C927-3DCF-AA635C8433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318993"/>
            <a:ext cx="4846163" cy="3987539"/>
          </a:xfrm>
          <a:prstGeom prst="rect">
            <a:avLst/>
          </a:prstGeom>
          <a:effectLst>
            <a:softEdge rad="25400"/>
          </a:effectLst>
        </p:spPr>
      </p:pic>
      <p:pic>
        <p:nvPicPr>
          <p:cNvPr id="13" name="Picture 12">
            <a:extLst>
              <a:ext uri="{FF2B5EF4-FFF2-40B4-BE49-F238E27FC236}">
                <a16:creationId xmlns:a16="http://schemas.microsoft.com/office/drawing/2014/main" id="{F1ADB430-226E-5C8F-BB13-158D0567ECF2}"/>
              </a:ext>
            </a:extLst>
          </p:cNvPr>
          <p:cNvPicPr>
            <a:picLocks noChangeAspect="1"/>
          </p:cNvPicPr>
          <p:nvPr/>
        </p:nvPicPr>
        <p:blipFill>
          <a:blip r:embed="rId3"/>
          <a:stretch>
            <a:fillRect/>
          </a:stretch>
        </p:blipFill>
        <p:spPr>
          <a:xfrm>
            <a:off x="5891753" y="1006932"/>
            <a:ext cx="5616415" cy="5299602"/>
          </a:xfrm>
          <a:prstGeom prst="rect">
            <a:avLst/>
          </a:prstGeom>
          <a:effectLst>
            <a:softEdge rad="25400"/>
          </a:effectLst>
        </p:spPr>
      </p:pic>
    </p:spTree>
    <p:extLst>
      <p:ext uri="{BB962C8B-B14F-4D97-AF65-F5344CB8AC3E}">
        <p14:creationId xmlns:p14="http://schemas.microsoft.com/office/powerpoint/2010/main" val="3321657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16E4E-F29E-0E7E-E8DA-C8EC9B09AD18}"/>
              </a:ext>
            </a:extLst>
          </p:cNvPr>
          <p:cNvSpPr>
            <a:spLocks noGrp="1"/>
          </p:cNvSpPr>
          <p:nvPr>
            <p:ph type="title"/>
          </p:nvPr>
        </p:nvSpPr>
        <p:spPr>
          <a:xfrm>
            <a:off x="838200" y="365126"/>
            <a:ext cx="10515600" cy="652970"/>
          </a:xfrm>
        </p:spPr>
        <p:txBody>
          <a:bodyPr>
            <a:normAutofit fontScale="90000"/>
          </a:bodyPr>
          <a:lstStyle/>
          <a:p>
            <a:r>
              <a:rPr lang="en-US" b="1" dirty="0">
                <a:solidFill>
                  <a:schemeClr val="bg1"/>
                </a:solidFill>
              </a:rPr>
              <a:t>Data Preprocessing</a:t>
            </a:r>
            <a:endParaRPr lang="en-IN" b="1" dirty="0">
              <a:solidFill>
                <a:schemeClr val="bg1"/>
              </a:solidFill>
            </a:endParaRPr>
          </a:p>
        </p:txBody>
      </p:sp>
      <p:sp>
        <p:nvSpPr>
          <p:cNvPr id="3" name="Content Placeholder 2">
            <a:extLst>
              <a:ext uri="{FF2B5EF4-FFF2-40B4-BE49-F238E27FC236}">
                <a16:creationId xmlns:a16="http://schemas.microsoft.com/office/drawing/2014/main" id="{E7F620CF-DCD2-4619-4372-759599272B26}"/>
              </a:ext>
            </a:extLst>
          </p:cNvPr>
          <p:cNvSpPr>
            <a:spLocks noGrp="1"/>
          </p:cNvSpPr>
          <p:nvPr>
            <p:ph idx="1"/>
          </p:nvPr>
        </p:nvSpPr>
        <p:spPr>
          <a:xfrm>
            <a:off x="838200" y="1172655"/>
            <a:ext cx="10515600" cy="806973"/>
          </a:xfrm>
        </p:spPr>
        <p:txBody>
          <a:bodyPr>
            <a:normAutofit fontScale="70000" lnSpcReduction="20000"/>
          </a:bodyPr>
          <a:lstStyle/>
          <a:p>
            <a:r>
              <a:rPr lang="en-US" dirty="0">
                <a:solidFill>
                  <a:srgbClr val="002060"/>
                </a:solidFill>
              </a:rPr>
              <a:t>Missing value imputation</a:t>
            </a:r>
          </a:p>
          <a:p>
            <a:pPr lvl="1"/>
            <a:r>
              <a:rPr lang="en-US" dirty="0">
                <a:solidFill>
                  <a:srgbClr val="002060"/>
                </a:solidFill>
              </a:rPr>
              <a:t>203 rows in arr_del15 still remained empty.</a:t>
            </a:r>
          </a:p>
          <a:p>
            <a:pPr lvl="1"/>
            <a:r>
              <a:rPr lang="en-US" dirty="0">
                <a:solidFill>
                  <a:srgbClr val="002060"/>
                </a:solidFill>
              </a:rPr>
              <a:t>They were imputed with constant value 0, implying no delay.</a:t>
            </a:r>
            <a:endParaRPr lang="en-IN" dirty="0">
              <a:solidFill>
                <a:srgbClr val="002060"/>
              </a:solidFill>
            </a:endParaRPr>
          </a:p>
        </p:txBody>
      </p:sp>
      <p:pic>
        <p:nvPicPr>
          <p:cNvPr id="5" name="Picture 4">
            <a:extLst>
              <a:ext uri="{FF2B5EF4-FFF2-40B4-BE49-F238E27FC236}">
                <a16:creationId xmlns:a16="http://schemas.microsoft.com/office/drawing/2014/main" id="{64C3D56A-1C20-46A7-6C2C-1609ECB71694}"/>
              </a:ext>
            </a:extLst>
          </p:cNvPr>
          <p:cNvPicPr>
            <a:picLocks noChangeAspect="1"/>
          </p:cNvPicPr>
          <p:nvPr/>
        </p:nvPicPr>
        <p:blipFill>
          <a:blip r:embed="rId2"/>
          <a:srcRect r="24048"/>
          <a:stretch>
            <a:fillRect/>
          </a:stretch>
        </p:blipFill>
        <p:spPr>
          <a:xfrm>
            <a:off x="838201" y="2134187"/>
            <a:ext cx="4601065" cy="4358687"/>
          </a:xfrm>
          <a:prstGeom prst="rect">
            <a:avLst/>
          </a:prstGeom>
          <a:effectLst>
            <a:softEdge rad="25400"/>
          </a:effectLst>
        </p:spPr>
      </p:pic>
      <p:pic>
        <p:nvPicPr>
          <p:cNvPr id="7" name="Picture 6">
            <a:extLst>
              <a:ext uri="{FF2B5EF4-FFF2-40B4-BE49-F238E27FC236}">
                <a16:creationId xmlns:a16="http://schemas.microsoft.com/office/drawing/2014/main" id="{E86EDB2E-1B95-C7CE-F350-74C315A840C7}"/>
              </a:ext>
            </a:extLst>
          </p:cNvPr>
          <p:cNvPicPr>
            <a:picLocks noChangeAspect="1"/>
          </p:cNvPicPr>
          <p:nvPr/>
        </p:nvPicPr>
        <p:blipFill>
          <a:blip r:embed="rId3"/>
          <a:stretch>
            <a:fillRect/>
          </a:stretch>
        </p:blipFill>
        <p:spPr>
          <a:xfrm>
            <a:off x="5571242" y="2134187"/>
            <a:ext cx="5782558" cy="4358687"/>
          </a:xfrm>
          <a:prstGeom prst="rect">
            <a:avLst/>
          </a:prstGeom>
          <a:effectLst>
            <a:softEdge rad="25400"/>
          </a:effectLst>
        </p:spPr>
      </p:pic>
    </p:spTree>
    <p:extLst>
      <p:ext uri="{BB962C8B-B14F-4D97-AF65-F5344CB8AC3E}">
        <p14:creationId xmlns:p14="http://schemas.microsoft.com/office/powerpoint/2010/main" val="3016844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B7D79-9D6A-C06F-D066-ADBD1524D3D7}"/>
              </a:ext>
            </a:extLst>
          </p:cNvPr>
          <p:cNvSpPr>
            <a:spLocks noGrp="1"/>
          </p:cNvSpPr>
          <p:nvPr>
            <p:ph type="title"/>
          </p:nvPr>
        </p:nvSpPr>
        <p:spPr>
          <a:xfrm>
            <a:off x="838200" y="365125"/>
            <a:ext cx="10515600" cy="835601"/>
          </a:xfrm>
        </p:spPr>
        <p:txBody>
          <a:bodyPr>
            <a:normAutofit/>
          </a:bodyPr>
          <a:lstStyle/>
          <a:p>
            <a:r>
              <a:rPr lang="en-US" sz="4800" b="1" dirty="0">
                <a:solidFill>
                  <a:schemeClr val="bg1"/>
                </a:solidFill>
              </a:rPr>
              <a:t>Data Preprocessing</a:t>
            </a:r>
            <a:endParaRPr lang="en-IN" sz="4800" b="1" dirty="0">
              <a:solidFill>
                <a:schemeClr val="bg1"/>
              </a:solidFill>
            </a:endParaRPr>
          </a:p>
        </p:txBody>
      </p:sp>
      <p:sp>
        <p:nvSpPr>
          <p:cNvPr id="3" name="Content Placeholder 2">
            <a:extLst>
              <a:ext uri="{FF2B5EF4-FFF2-40B4-BE49-F238E27FC236}">
                <a16:creationId xmlns:a16="http://schemas.microsoft.com/office/drawing/2014/main" id="{9A21336C-A850-231E-CBEC-C0F292EDB3A2}"/>
              </a:ext>
            </a:extLst>
          </p:cNvPr>
          <p:cNvSpPr>
            <a:spLocks noGrp="1"/>
          </p:cNvSpPr>
          <p:nvPr>
            <p:ph idx="1"/>
          </p:nvPr>
        </p:nvSpPr>
        <p:spPr>
          <a:xfrm>
            <a:off x="838200" y="1328522"/>
            <a:ext cx="10515600" cy="2416437"/>
          </a:xfrm>
        </p:spPr>
        <p:txBody>
          <a:bodyPr/>
          <a:lstStyle/>
          <a:p>
            <a:r>
              <a:rPr lang="en-US" dirty="0">
                <a:solidFill>
                  <a:srgbClr val="002060"/>
                </a:solidFill>
              </a:rPr>
              <a:t>Extremely right skewed delay features presence detected with boxplot and distribution plot itself.</a:t>
            </a:r>
          </a:p>
          <a:p>
            <a:r>
              <a:rPr lang="en-US" dirty="0">
                <a:solidFill>
                  <a:srgbClr val="002060"/>
                </a:solidFill>
              </a:rPr>
              <a:t>Only delay features were considered for outlier capping to prevent extreme spikes.</a:t>
            </a:r>
          </a:p>
          <a:p>
            <a:r>
              <a:rPr lang="en-US" dirty="0">
                <a:solidFill>
                  <a:srgbClr val="002060"/>
                </a:solidFill>
              </a:rPr>
              <a:t>Rest all values kept as is - business signal.</a:t>
            </a:r>
            <a:endParaRPr lang="en-IN" dirty="0">
              <a:solidFill>
                <a:srgbClr val="002060"/>
              </a:solidFill>
            </a:endParaRPr>
          </a:p>
        </p:txBody>
      </p:sp>
      <p:pic>
        <p:nvPicPr>
          <p:cNvPr id="5" name="Picture 4">
            <a:extLst>
              <a:ext uri="{FF2B5EF4-FFF2-40B4-BE49-F238E27FC236}">
                <a16:creationId xmlns:a16="http://schemas.microsoft.com/office/drawing/2014/main" id="{436079C1-0763-E51C-BAA8-45A9D993B6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008251"/>
            <a:ext cx="8013569" cy="1919334"/>
          </a:xfrm>
          <a:prstGeom prst="rect">
            <a:avLst/>
          </a:prstGeom>
          <a:effectLst>
            <a:softEdge rad="38100"/>
          </a:effectLst>
        </p:spPr>
      </p:pic>
    </p:spTree>
    <p:extLst>
      <p:ext uri="{BB962C8B-B14F-4D97-AF65-F5344CB8AC3E}">
        <p14:creationId xmlns:p14="http://schemas.microsoft.com/office/powerpoint/2010/main" val="258189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D163C-AB97-CDD8-58AF-AE674A41D25E}"/>
              </a:ext>
            </a:extLst>
          </p:cNvPr>
          <p:cNvSpPr>
            <a:spLocks noGrp="1"/>
          </p:cNvSpPr>
          <p:nvPr>
            <p:ph type="title"/>
          </p:nvPr>
        </p:nvSpPr>
        <p:spPr>
          <a:xfrm>
            <a:off x="838200" y="155575"/>
            <a:ext cx="10515600" cy="473075"/>
          </a:xfrm>
        </p:spPr>
        <p:txBody>
          <a:bodyPr>
            <a:noAutofit/>
          </a:bodyPr>
          <a:lstStyle/>
          <a:p>
            <a:pPr algn="ctr"/>
            <a:r>
              <a:rPr lang="en-IN" sz="3200" b="1" dirty="0">
                <a:solidFill>
                  <a:schemeClr val="bg1"/>
                </a:solidFill>
              </a:rPr>
              <a:t>Data Dictionary (Engineered Features)</a:t>
            </a:r>
          </a:p>
        </p:txBody>
      </p:sp>
      <p:graphicFrame>
        <p:nvGraphicFramePr>
          <p:cNvPr id="7" name="Content Placeholder 6">
            <a:extLst>
              <a:ext uri="{FF2B5EF4-FFF2-40B4-BE49-F238E27FC236}">
                <a16:creationId xmlns:a16="http://schemas.microsoft.com/office/drawing/2014/main" id="{17D0B579-2F82-3EA8-F803-79ECA33A1A8C}"/>
              </a:ext>
            </a:extLst>
          </p:cNvPr>
          <p:cNvGraphicFramePr>
            <a:graphicFrameLocks noGrp="1"/>
          </p:cNvGraphicFramePr>
          <p:nvPr>
            <p:ph idx="1"/>
            <p:extLst>
              <p:ext uri="{D42A27DB-BD31-4B8C-83A1-F6EECF244321}">
                <p14:modId xmlns:p14="http://schemas.microsoft.com/office/powerpoint/2010/main" val="4274078372"/>
              </p:ext>
            </p:extLst>
          </p:nvPr>
        </p:nvGraphicFramePr>
        <p:xfrm>
          <a:off x="1123950" y="615281"/>
          <a:ext cx="9524999" cy="5958717"/>
        </p:xfrm>
        <a:graphic>
          <a:graphicData uri="http://schemas.openxmlformats.org/drawingml/2006/table">
            <a:tbl>
              <a:tblPr firstRow="1" firstCol="1" bandRow="1">
                <a:tableStyleId>{5C22544A-7EE6-4342-B048-85BDC9FD1C3A}</a:tableStyleId>
              </a:tblPr>
              <a:tblGrid>
                <a:gridCol w="2881657">
                  <a:extLst>
                    <a:ext uri="{9D8B030D-6E8A-4147-A177-3AD203B41FA5}">
                      <a16:colId xmlns:a16="http://schemas.microsoft.com/office/drawing/2014/main" val="1358788138"/>
                    </a:ext>
                  </a:extLst>
                </a:gridCol>
                <a:gridCol w="6643342">
                  <a:extLst>
                    <a:ext uri="{9D8B030D-6E8A-4147-A177-3AD203B41FA5}">
                      <a16:colId xmlns:a16="http://schemas.microsoft.com/office/drawing/2014/main" val="1591813182"/>
                    </a:ext>
                  </a:extLst>
                </a:gridCol>
              </a:tblGrid>
              <a:tr h="219740">
                <a:tc>
                  <a:txBody>
                    <a:bodyPr/>
                    <a:lstStyle/>
                    <a:p>
                      <a:pPr algn="ctr"/>
                      <a:r>
                        <a:rPr lang="en-IN" sz="900" dirty="0"/>
                        <a:t>Feature Name</a:t>
                      </a:r>
                    </a:p>
                  </a:txBody>
                  <a:tcPr/>
                </a:tc>
                <a:tc>
                  <a:txBody>
                    <a:bodyPr/>
                    <a:lstStyle/>
                    <a:p>
                      <a:pPr algn="ctr"/>
                      <a:r>
                        <a:rPr lang="en-IN" sz="900" dirty="0"/>
                        <a:t>Formula / Definition</a:t>
                      </a:r>
                    </a:p>
                  </a:txBody>
                  <a:tcPr/>
                </a:tc>
                <a:extLst>
                  <a:ext uri="{0D108BD9-81ED-4DB2-BD59-A6C34878D82A}">
                    <a16:rowId xmlns:a16="http://schemas.microsoft.com/office/drawing/2014/main" val="2873912272"/>
                  </a:ext>
                </a:extLst>
              </a:tr>
              <a:tr h="219740">
                <a:tc>
                  <a:txBody>
                    <a:bodyPr/>
                    <a:lstStyle/>
                    <a:p>
                      <a:pPr algn="ctr"/>
                      <a:r>
                        <a:rPr lang="en-US" sz="900" dirty="0" err="1"/>
                        <a:t>Airline_group</a:t>
                      </a:r>
                      <a:endParaRPr lang="en-IN" sz="900" dirty="0"/>
                    </a:p>
                  </a:txBody>
                  <a:tcPr/>
                </a:tc>
                <a:tc>
                  <a:txBody>
                    <a:bodyPr/>
                    <a:lstStyle/>
                    <a:p>
                      <a:pPr algn="ctr"/>
                      <a:r>
                        <a:rPr lang="en-US" sz="900" dirty="0"/>
                        <a:t>Short name for airline</a:t>
                      </a:r>
                      <a:endParaRPr lang="en-IN" sz="900" dirty="0"/>
                    </a:p>
                  </a:txBody>
                  <a:tcPr/>
                </a:tc>
                <a:extLst>
                  <a:ext uri="{0D108BD9-81ED-4DB2-BD59-A6C34878D82A}">
                    <a16:rowId xmlns:a16="http://schemas.microsoft.com/office/drawing/2014/main" val="3696179656"/>
                  </a:ext>
                </a:extLst>
              </a:tr>
              <a:tr h="219740">
                <a:tc>
                  <a:txBody>
                    <a:bodyPr/>
                    <a:lstStyle/>
                    <a:p>
                      <a:pPr algn="ctr"/>
                      <a:r>
                        <a:rPr lang="en-IN" sz="900" dirty="0" err="1"/>
                        <a:t>delay_rate</a:t>
                      </a:r>
                      <a:endParaRPr lang="en-IN" sz="900" dirty="0"/>
                    </a:p>
                  </a:txBody>
                  <a:tcPr/>
                </a:tc>
                <a:tc>
                  <a:txBody>
                    <a:bodyPr/>
                    <a:lstStyle/>
                    <a:p>
                      <a:pPr algn="ctr"/>
                      <a:r>
                        <a:rPr lang="en-IN" sz="900" dirty="0" err="1"/>
                        <a:t>arr_delay</a:t>
                      </a:r>
                      <a:r>
                        <a:rPr lang="en-IN" sz="900" dirty="0"/>
                        <a:t> ÷ </a:t>
                      </a:r>
                      <a:r>
                        <a:rPr lang="en-IN" sz="900" dirty="0" err="1"/>
                        <a:t>arr_flights</a:t>
                      </a:r>
                      <a:endParaRPr lang="en-IN" sz="900" dirty="0"/>
                    </a:p>
                  </a:txBody>
                  <a:tcPr/>
                </a:tc>
                <a:extLst>
                  <a:ext uri="{0D108BD9-81ED-4DB2-BD59-A6C34878D82A}">
                    <a16:rowId xmlns:a16="http://schemas.microsoft.com/office/drawing/2014/main" val="2178957824"/>
                  </a:ext>
                </a:extLst>
              </a:tr>
              <a:tr h="219740">
                <a:tc>
                  <a:txBody>
                    <a:bodyPr/>
                    <a:lstStyle/>
                    <a:p>
                      <a:pPr algn="ctr"/>
                      <a:r>
                        <a:rPr lang="en-IN" sz="900" dirty="0" err="1"/>
                        <a:t>cancel_rate</a:t>
                      </a:r>
                      <a:endParaRPr lang="en-IN" sz="900" dirty="0"/>
                    </a:p>
                  </a:txBody>
                  <a:tcPr/>
                </a:tc>
                <a:tc>
                  <a:txBody>
                    <a:bodyPr/>
                    <a:lstStyle/>
                    <a:p>
                      <a:pPr algn="ctr"/>
                      <a:r>
                        <a:rPr lang="en-IN" sz="900" dirty="0" err="1"/>
                        <a:t>arr_cancelled</a:t>
                      </a:r>
                      <a:r>
                        <a:rPr lang="en-IN" sz="900" dirty="0"/>
                        <a:t> ÷ </a:t>
                      </a:r>
                      <a:r>
                        <a:rPr lang="en-IN" sz="900" dirty="0" err="1"/>
                        <a:t>arr_flights</a:t>
                      </a:r>
                      <a:endParaRPr lang="en-IN" sz="900" dirty="0"/>
                    </a:p>
                  </a:txBody>
                  <a:tcPr/>
                </a:tc>
                <a:extLst>
                  <a:ext uri="{0D108BD9-81ED-4DB2-BD59-A6C34878D82A}">
                    <a16:rowId xmlns:a16="http://schemas.microsoft.com/office/drawing/2014/main" val="1400243993"/>
                  </a:ext>
                </a:extLst>
              </a:tr>
              <a:tr h="219740">
                <a:tc>
                  <a:txBody>
                    <a:bodyPr/>
                    <a:lstStyle/>
                    <a:p>
                      <a:pPr algn="ctr"/>
                      <a:r>
                        <a:rPr lang="en-IN" sz="900" dirty="0" err="1"/>
                        <a:t>divert_rate</a:t>
                      </a:r>
                      <a:endParaRPr lang="en-IN" sz="900" dirty="0"/>
                    </a:p>
                  </a:txBody>
                  <a:tcPr/>
                </a:tc>
                <a:tc>
                  <a:txBody>
                    <a:bodyPr/>
                    <a:lstStyle/>
                    <a:p>
                      <a:pPr algn="ctr"/>
                      <a:r>
                        <a:rPr lang="en-IN" sz="900" dirty="0" err="1"/>
                        <a:t>arr_diverted</a:t>
                      </a:r>
                      <a:r>
                        <a:rPr lang="en-IN" sz="900" dirty="0"/>
                        <a:t> ÷ </a:t>
                      </a:r>
                      <a:r>
                        <a:rPr lang="en-IN" sz="900" dirty="0" err="1"/>
                        <a:t>arr_flights</a:t>
                      </a:r>
                      <a:endParaRPr lang="en-IN" sz="900" dirty="0"/>
                    </a:p>
                  </a:txBody>
                  <a:tcPr/>
                </a:tc>
                <a:extLst>
                  <a:ext uri="{0D108BD9-81ED-4DB2-BD59-A6C34878D82A}">
                    <a16:rowId xmlns:a16="http://schemas.microsoft.com/office/drawing/2014/main" val="1441105198"/>
                  </a:ext>
                </a:extLst>
              </a:tr>
              <a:tr h="219740">
                <a:tc>
                  <a:txBody>
                    <a:bodyPr/>
                    <a:lstStyle/>
                    <a:p>
                      <a:pPr algn="ctr"/>
                      <a:r>
                        <a:rPr lang="en-IN" sz="900" dirty="0" err="1"/>
                        <a:t>carrier_delay_share</a:t>
                      </a:r>
                      <a:endParaRPr lang="en-IN" sz="900" dirty="0"/>
                    </a:p>
                  </a:txBody>
                  <a:tcPr/>
                </a:tc>
                <a:tc>
                  <a:txBody>
                    <a:bodyPr/>
                    <a:lstStyle/>
                    <a:p>
                      <a:pPr algn="ctr"/>
                      <a:r>
                        <a:rPr lang="en-IN" sz="900" dirty="0" err="1"/>
                        <a:t>carrier_delay</a:t>
                      </a:r>
                      <a:r>
                        <a:rPr lang="en-IN" sz="900" dirty="0"/>
                        <a:t> ÷ </a:t>
                      </a:r>
                      <a:r>
                        <a:rPr lang="en-IN" sz="900" dirty="0" err="1"/>
                        <a:t>arr_delay</a:t>
                      </a:r>
                      <a:endParaRPr lang="en-IN" sz="900" dirty="0"/>
                    </a:p>
                  </a:txBody>
                  <a:tcPr/>
                </a:tc>
                <a:extLst>
                  <a:ext uri="{0D108BD9-81ED-4DB2-BD59-A6C34878D82A}">
                    <a16:rowId xmlns:a16="http://schemas.microsoft.com/office/drawing/2014/main" val="2647008565"/>
                  </a:ext>
                </a:extLst>
              </a:tr>
              <a:tr h="219740">
                <a:tc>
                  <a:txBody>
                    <a:bodyPr/>
                    <a:lstStyle/>
                    <a:p>
                      <a:pPr algn="ctr"/>
                      <a:r>
                        <a:rPr lang="en-IN" sz="900" dirty="0" err="1"/>
                        <a:t>weather_delay_share</a:t>
                      </a:r>
                      <a:endParaRPr lang="en-IN" sz="900" dirty="0"/>
                    </a:p>
                  </a:txBody>
                  <a:tcPr/>
                </a:tc>
                <a:tc>
                  <a:txBody>
                    <a:bodyPr/>
                    <a:lstStyle/>
                    <a:p>
                      <a:pPr algn="ctr"/>
                      <a:r>
                        <a:rPr lang="en-IN" sz="900" dirty="0" err="1"/>
                        <a:t>weather_delay</a:t>
                      </a:r>
                      <a:r>
                        <a:rPr lang="en-IN" sz="900" dirty="0"/>
                        <a:t> ÷ </a:t>
                      </a:r>
                      <a:r>
                        <a:rPr lang="en-IN" sz="900" dirty="0" err="1"/>
                        <a:t>arr_delay</a:t>
                      </a:r>
                      <a:endParaRPr lang="en-IN" sz="900" dirty="0"/>
                    </a:p>
                  </a:txBody>
                  <a:tcPr/>
                </a:tc>
                <a:extLst>
                  <a:ext uri="{0D108BD9-81ED-4DB2-BD59-A6C34878D82A}">
                    <a16:rowId xmlns:a16="http://schemas.microsoft.com/office/drawing/2014/main" val="3822160420"/>
                  </a:ext>
                </a:extLst>
              </a:tr>
              <a:tr h="219740">
                <a:tc>
                  <a:txBody>
                    <a:bodyPr/>
                    <a:lstStyle/>
                    <a:p>
                      <a:pPr algn="ctr"/>
                      <a:r>
                        <a:rPr lang="en-IN" sz="900" dirty="0" err="1"/>
                        <a:t>nas_delay_share</a:t>
                      </a:r>
                      <a:endParaRPr lang="en-IN" sz="900" dirty="0"/>
                    </a:p>
                  </a:txBody>
                  <a:tcPr/>
                </a:tc>
                <a:tc>
                  <a:txBody>
                    <a:bodyPr/>
                    <a:lstStyle/>
                    <a:p>
                      <a:pPr algn="ctr"/>
                      <a:r>
                        <a:rPr lang="en-IN" sz="900" dirty="0" err="1"/>
                        <a:t>nas_delay</a:t>
                      </a:r>
                      <a:r>
                        <a:rPr lang="en-IN" sz="900" dirty="0"/>
                        <a:t> ÷ </a:t>
                      </a:r>
                      <a:r>
                        <a:rPr lang="en-IN" sz="900" dirty="0" err="1"/>
                        <a:t>arr_delay</a:t>
                      </a:r>
                      <a:endParaRPr lang="en-IN" sz="900" dirty="0"/>
                    </a:p>
                  </a:txBody>
                  <a:tcPr/>
                </a:tc>
                <a:extLst>
                  <a:ext uri="{0D108BD9-81ED-4DB2-BD59-A6C34878D82A}">
                    <a16:rowId xmlns:a16="http://schemas.microsoft.com/office/drawing/2014/main" val="3814573437"/>
                  </a:ext>
                </a:extLst>
              </a:tr>
              <a:tr h="219740">
                <a:tc>
                  <a:txBody>
                    <a:bodyPr/>
                    <a:lstStyle/>
                    <a:p>
                      <a:pPr algn="ctr"/>
                      <a:r>
                        <a:rPr lang="en-IN" sz="900" dirty="0" err="1"/>
                        <a:t>security_delay_share</a:t>
                      </a:r>
                      <a:endParaRPr lang="en-IN" sz="900" dirty="0"/>
                    </a:p>
                  </a:txBody>
                  <a:tcPr/>
                </a:tc>
                <a:tc>
                  <a:txBody>
                    <a:bodyPr/>
                    <a:lstStyle/>
                    <a:p>
                      <a:pPr algn="ctr"/>
                      <a:r>
                        <a:rPr lang="en-IN" sz="900" dirty="0" err="1"/>
                        <a:t>security_delay</a:t>
                      </a:r>
                      <a:r>
                        <a:rPr lang="en-IN" sz="900" dirty="0"/>
                        <a:t> ÷ </a:t>
                      </a:r>
                      <a:r>
                        <a:rPr lang="en-IN" sz="900" dirty="0" err="1"/>
                        <a:t>arr_delay</a:t>
                      </a:r>
                      <a:endParaRPr lang="en-IN" sz="900" dirty="0"/>
                    </a:p>
                  </a:txBody>
                  <a:tcPr/>
                </a:tc>
                <a:extLst>
                  <a:ext uri="{0D108BD9-81ED-4DB2-BD59-A6C34878D82A}">
                    <a16:rowId xmlns:a16="http://schemas.microsoft.com/office/drawing/2014/main" val="2676249173"/>
                  </a:ext>
                </a:extLst>
              </a:tr>
              <a:tr h="219740">
                <a:tc>
                  <a:txBody>
                    <a:bodyPr/>
                    <a:lstStyle/>
                    <a:p>
                      <a:pPr algn="ctr"/>
                      <a:r>
                        <a:rPr lang="en-IN" sz="900" dirty="0" err="1"/>
                        <a:t>late_aircraft_delay_share</a:t>
                      </a:r>
                      <a:endParaRPr lang="en-IN" sz="900" dirty="0"/>
                    </a:p>
                  </a:txBody>
                  <a:tcPr/>
                </a:tc>
                <a:tc>
                  <a:txBody>
                    <a:bodyPr/>
                    <a:lstStyle/>
                    <a:p>
                      <a:pPr algn="ctr"/>
                      <a:r>
                        <a:rPr lang="en-IN" sz="900" dirty="0" err="1"/>
                        <a:t>late_aircraft_delay</a:t>
                      </a:r>
                      <a:r>
                        <a:rPr lang="en-IN" sz="900" dirty="0"/>
                        <a:t> ÷ </a:t>
                      </a:r>
                      <a:r>
                        <a:rPr lang="en-IN" sz="900" dirty="0" err="1"/>
                        <a:t>arr_delay</a:t>
                      </a:r>
                      <a:endParaRPr lang="en-IN" sz="900" dirty="0"/>
                    </a:p>
                  </a:txBody>
                  <a:tcPr/>
                </a:tc>
                <a:extLst>
                  <a:ext uri="{0D108BD9-81ED-4DB2-BD59-A6C34878D82A}">
                    <a16:rowId xmlns:a16="http://schemas.microsoft.com/office/drawing/2014/main" val="3806039577"/>
                  </a:ext>
                </a:extLst>
              </a:tr>
              <a:tr h="219740">
                <a:tc>
                  <a:txBody>
                    <a:bodyPr/>
                    <a:lstStyle/>
                    <a:p>
                      <a:pPr algn="ctr"/>
                      <a:r>
                        <a:rPr lang="en-IN" sz="900" dirty="0" err="1"/>
                        <a:t>carrier_delay_freq</a:t>
                      </a:r>
                      <a:endParaRPr lang="en-IN" sz="900" dirty="0"/>
                    </a:p>
                  </a:txBody>
                  <a:tcPr/>
                </a:tc>
                <a:tc>
                  <a:txBody>
                    <a:bodyPr/>
                    <a:lstStyle/>
                    <a:p>
                      <a:pPr algn="ctr"/>
                      <a:r>
                        <a:rPr lang="en-IN" sz="900" dirty="0" err="1"/>
                        <a:t>carrier_ct</a:t>
                      </a:r>
                      <a:r>
                        <a:rPr lang="en-IN" sz="900" dirty="0"/>
                        <a:t> ÷ </a:t>
                      </a:r>
                      <a:r>
                        <a:rPr lang="en-IN" sz="900" dirty="0" err="1"/>
                        <a:t>arr_flights</a:t>
                      </a:r>
                      <a:endParaRPr lang="en-IN" sz="900" dirty="0"/>
                    </a:p>
                  </a:txBody>
                  <a:tcPr/>
                </a:tc>
                <a:extLst>
                  <a:ext uri="{0D108BD9-81ED-4DB2-BD59-A6C34878D82A}">
                    <a16:rowId xmlns:a16="http://schemas.microsoft.com/office/drawing/2014/main" val="1050139592"/>
                  </a:ext>
                </a:extLst>
              </a:tr>
              <a:tr h="219740">
                <a:tc>
                  <a:txBody>
                    <a:bodyPr/>
                    <a:lstStyle/>
                    <a:p>
                      <a:pPr algn="ctr"/>
                      <a:r>
                        <a:rPr lang="en-IN" sz="900" dirty="0" err="1"/>
                        <a:t>weather_delay_freq</a:t>
                      </a:r>
                      <a:endParaRPr lang="en-IN" sz="900" dirty="0"/>
                    </a:p>
                  </a:txBody>
                  <a:tcPr/>
                </a:tc>
                <a:tc>
                  <a:txBody>
                    <a:bodyPr/>
                    <a:lstStyle/>
                    <a:p>
                      <a:pPr algn="ctr"/>
                      <a:r>
                        <a:rPr lang="en-IN" sz="900" dirty="0" err="1"/>
                        <a:t>weather_ct</a:t>
                      </a:r>
                      <a:r>
                        <a:rPr lang="en-IN" sz="900" dirty="0"/>
                        <a:t> ÷ </a:t>
                      </a:r>
                      <a:r>
                        <a:rPr lang="en-IN" sz="900" dirty="0" err="1"/>
                        <a:t>arr_flights</a:t>
                      </a:r>
                      <a:endParaRPr lang="en-IN" sz="900" dirty="0"/>
                    </a:p>
                  </a:txBody>
                  <a:tcPr/>
                </a:tc>
                <a:extLst>
                  <a:ext uri="{0D108BD9-81ED-4DB2-BD59-A6C34878D82A}">
                    <a16:rowId xmlns:a16="http://schemas.microsoft.com/office/drawing/2014/main" val="826396682"/>
                  </a:ext>
                </a:extLst>
              </a:tr>
              <a:tr h="219740">
                <a:tc>
                  <a:txBody>
                    <a:bodyPr/>
                    <a:lstStyle/>
                    <a:p>
                      <a:pPr algn="ctr"/>
                      <a:r>
                        <a:rPr lang="en-IN" sz="900" dirty="0" err="1"/>
                        <a:t>nas_delay_freq</a:t>
                      </a:r>
                      <a:endParaRPr lang="en-IN" sz="900" dirty="0"/>
                    </a:p>
                  </a:txBody>
                  <a:tcPr/>
                </a:tc>
                <a:tc>
                  <a:txBody>
                    <a:bodyPr/>
                    <a:lstStyle/>
                    <a:p>
                      <a:pPr algn="ctr"/>
                      <a:r>
                        <a:rPr lang="en-IN" sz="900" dirty="0" err="1"/>
                        <a:t>nas_ct</a:t>
                      </a:r>
                      <a:r>
                        <a:rPr lang="en-IN" sz="900" dirty="0"/>
                        <a:t> ÷ </a:t>
                      </a:r>
                      <a:r>
                        <a:rPr lang="en-IN" sz="900" dirty="0" err="1"/>
                        <a:t>arr_flights</a:t>
                      </a:r>
                      <a:endParaRPr lang="en-IN" sz="900" dirty="0"/>
                    </a:p>
                  </a:txBody>
                  <a:tcPr/>
                </a:tc>
                <a:extLst>
                  <a:ext uri="{0D108BD9-81ED-4DB2-BD59-A6C34878D82A}">
                    <a16:rowId xmlns:a16="http://schemas.microsoft.com/office/drawing/2014/main" val="4282109101"/>
                  </a:ext>
                </a:extLst>
              </a:tr>
              <a:tr h="219740">
                <a:tc>
                  <a:txBody>
                    <a:bodyPr/>
                    <a:lstStyle/>
                    <a:p>
                      <a:pPr algn="ctr"/>
                      <a:r>
                        <a:rPr lang="en-IN" sz="900" dirty="0" err="1"/>
                        <a:t>security_delay_freq</a:t>
                      </a:r>
                      <a:endParaRPr lang="en-IN" sz="900" dirty="0"/>
                    </a:p>
                  </a:txBody>
                  <a:tcPr/>
                </a:tc>
                <a:tc>
                  <a:txBody>
                    <a:bodyPr/>
                    <a:lstStyle/>
                    <a:p>
                      <a:pPr algn="ctr"/>
                      <a:r>
                        <a:rPr lang="en-IN" sz="900" dirty="0" err="1"/>
                        <a:t>security_ct</a:t>
                      </a:r>
                      <a:r>
                        <a:rPr lang="en-IN" sz="900" dirty="0"/>
                        <a:t> ÷ </a:t>
                      </a:r>
                      <a:r>
                        <a:rPr lang="en-IN" sz="900" dirty="0" err="1"/>
                        <a:t>arr_flights</a:t>
                      </a:r>
                      <a:endParaRPr lang="en-IN" sz="900" dirty="0"/>
                    </a:p>
                  </a:txBody>
                  <a:tcPr/>
                </a:tc>
                <a:extLst>
                  <a:ext uri="{0D108BD9-81ED-4DB2-BD59-A6C34878D82A}">
                    <a16:rowId xmlns:a16="http://schemas.microsoft.com/office/drawing/2014/main" val="2273286084"/>
                  </a:ext>
                </a:extLst>
              </a:tr>
              <a:tr h="219740">
                <a:tc>
                  <a:txBody>
                    <a:bodyPr/>
                    <a:lstStyle/>
                    <a:p>
                      <a:pPr algn="ctr"/>
                      <a:r>
                        <a:rPr lang="en-IN" sz="900" dirty="0" err="1"/>
                        <a:t>late_aircraft_delay_freq</a:t>
                      </a:r>
                      <a:endParaRPr lang="en-IN" sz="900" dirty="0"/>
                    </a:p>
                  </a:txBody>
                  <a:tcPr/>
                </a:tc>
                <a:tc>
                  <a:txBody>
                    <a:bodyPr/>
                    <a:lstStyle/>
                    <a:p>
                      <a:pPr algn="ctr"/>
                      <a:r>
                        <a:rPr lang="en-IN" sz="900" dirty="0" err="1"/>
                        <a:t>late_aircraft_ct</a:t>
                      </a:r>
                      <a:r>
                        <a:rPr lang="en-IN" sz="900" dirty="0"/>
                        <a:t> ÷ </a:t>
                      </a:r>
                      <a:r>
                        <a:rPr lang="en-IN" sz="900" dirty="0" err="1"/>
                        <a:t>arr_flights</a:t>
                      </a:r>
                      <a:endParaRPr lang="en-IN" sz="900" dirty="0"/>
                    </a:p>
                  </a:txBody>
                  <a:tcPr/>
                </a:tc>
                <a:extLst>
                  <a:ext uri="{0D108BD9-81ED-4DB2-BD59-A6C34878D82A}">
                    <a16:rowId xmlns:a16="http://schemas.microsoft.com/office/drawing/2014/main" val="3156316168"/>
                  </a:ext>
                </a:extLst>
              </a:tr>
              <a:tr h="219740">
                <a:tc>
                  <a:txBody>
                    <a:bodyPr/>
                    <a:lstStyle/>
                    <a:p>
                      <a:pPr algn="ctr"/>
                      <a:r>
                        <a:rPr lang="en-IN" sz="900" dirty="0" err="1"/>
                        <a:t>delay_frequency</a:t>
                      </a:r>
                      <a:endParaRPr lang="en-IN" sz="900" dirty="0"/>
                    </a:p>
                  </a:txBody>
                  <a:tcPr/>
                </a:tc>
                <a:tc>
                  <a:txBody>
                    <a:bodyPr/>
                    <a:lstStyle/>
                    <a:p>
                      <a:pPr algn="ctr"/>
                      <a:r>
                        <a:rPr lang="en-IN" sz="900" dirty="0"/>
                        <a:t>arr_del15 ÷ </a:t>
                      </a:r>
                      <a:r>
                        <a:rPr lang="en-IN" sz="900" dirty="0" err="1"/>
                        <a:t>arr_flights</a:t>
                      </a:r>
                      <a:endParaRPr lang="en-IN" sz="900" dirty="0"/>
                    </a:p>
                  </a:txBody>
                  <a:tcPr/>
                </a:tc>
                <a:extLst>
                  <a:ext uri="{0D108BD9-81ED-4DB2-BD59-A6C34878D82A}">
                    <a16:rowId xmlns:a16="http://schemas.microsoft.com/office/drawing/2014/main" val="2872975677"/>
                  </a:ext>
                </a:extLst>
              </a:tr>
              <a:tr h="219740">
                <a:tc>
                  <a:txBody>
                    <a:bodyPr/>
                    <a:lstStyle/>
                    <a:p>
                      <a:pPr algn="ctr"/>
                      <a:r>
                        <a:rPr lang="en-IN" sz="900" dirty="0" err="1"/>
                        <a:t>carrier_avg_delay</a:t>
                      </a:r>
                      <a:endParaRPr lang="en-IN" sz="900" dirty="0"/>
                    </a:p>
                  </a:txBody>
                  <a:tcPr/>
                </a:tc>
                <a:tc>
                  <a:txBody>
                    <a:bodyPr/>
                    <a:lstStyle/>
                    <a:p>
                      <a:pPr algn="ctr"/>
                      <a:r>
                        <a:rPr lang="en-IN" sz="900" dirty="0" err="1"/>
                        <a:t>carrier_delay</a:t>
                      </a:r>
                      <a:r>
                        <a:rPr lang="en-IN" sz="900" dirty="0"/>
                        <a:t> ÷ </a:t>
                      </a:r>
                      <a:r>
                        <a:rPr lang="en-IN" sz="900" dirty="0" err="1"/>
                        <a:t>carrier_ct</a:t>
                      </a:r>
                      <a:endParaRPr lang="en-IN" sz="900" dirty="0"/>
                    </a:p>
                  </a:txBody>
                  <a:tcPr/>
                </a:tc>
                <a:extLst>
                  <a:ext uri="{0D108BD9-81ED-4DB2-BD59-A6C34878D82A}">
                    <a16:rowId xmlns:a16="http://schemas.microsoft.com/office/drawing/2014/main" val="1783497744"/>
                  </a:ext>
                </a:extLst>
              </a:tr>
              <a:tr h="219740">
                <a:tc>
                  <a:txBody>
                    <a:bodyPr/>
                    <a:lstStyle/>
                    <a:p>
                      <a:pPr algn="ctr"/>
                      <a:r>
                        <a:rPr lang="en-IN" sz="900" dirty="0" err="1"/>
                        <a:t>weather_avg_delay</a:t>
                      </a:r>
                      <a:endParaRPr lang="en-IN" sz="900" dirty="0"/>
                    </a:p>
                  </a:txBody>
                  <a:tcPr/>
                </a:tc>
                <a:tc>
                  <a:txBody>
                    <a:bodyPr/>
                    <a:lstStyle/>
                    <a:p>
                      <a:pPr algn="ctr"/>
                      <a:r>
                        <a:rPr lang="en-IN" sz="900" dirty="0" err="1"/>
                        <a:t>weather_delay</a:t>
                      </a:r>
                      <a:r>
                        <a:rPr lang="en-IN" sz="900" dirty="0"/>
                        <a:t> ÷ </a:t>
                      </a:r>
                      <a:r>
                        <a:rPr lang="en-IN" sz="900" dirty="0" err="1"/>
                        <a:t>weather_ct</a:t>
                      </a:r>
                      <a:endParaRPr lang="en-IN" sz="900" dirty="0"/>
                    </a:p>
                  </a:txBody>
                  <a:tcPr/>
                </a:tc>
                <a:extLst>
                  <a:ext uri="{0D108BD9-81ED-4DB2-BD59-A6C34878D82A}">
                    <a16:rowId xmlns:a16="http://schemas.microsoft.com/office/drawing/2014/main" val="1253274065"/>
                  </a:ext>
                </a:extLst>
              </a:tr>
              <a:tr h="219740">
                <a:tc>
                  <a:txBody>
                    <a:bodyPr/>
                    <a:lstStyle/>
                    <a:p>
                      <a:pPr algn="ctr"/>
                      <a:r>
                        <a:rPr lang="en-IN" sz="900" dirty="0" err="1"/>
                        <a:t>nas_avg_delay</a:t>
                      </a:r>
                      <a:endParaRPr lang="en-IN" sz="900" dirty="0"/>
                    </a:p>
                  </a:txBody>
                  <a:tcPr/>
                </a:tc>
                <a:tc>
                  <a:txBody>
                    <a:bodyPr/>
                    <a:lstStyle/>
                    <a:p>
                      <a:pPr algn="ctr"/>
                      <a:r>
                        <a:rPr lang="en-IN" sz="900" dirty="0" err="1"/>
                        <a:t>nas_delay</a:t>
                      </a:r>
                      <a:r>
                        <a:rPr lang="en-IN" sz="900" dirty="0"/>
                        <a:t> ÷ </a:t>
                      </a:r>
                      <a:r>
                        <a:rPr lang="en-IN" sz="900" dirty="0" err="1"/>
                        <a:t>nas_ct</a:t>
                      </a:r>
                      <a:endParaRPr lang="en-IN" sz="900" dirty="0"/>
                    </a:p>
                  </a:txBody>
                  <a:tcPr/>
                </a:tc>
                <a:extLst>
                  <a:ext uri="{0D108BD9-81ED-4DB2-BD59-A6C34878D82A}">
                    <a16:rowId xmlns:a16="http://schemas.microsoft.com/office/drawing/2014/main" val="157078355"/>
                  </a:ext>
                </a:extLst>
              </a:tr>
              <a:tr h="219740">
                <a:tc>
                  <a:txBody>
                    <a:bodyPr/>
                    <a:lstStyle/>
                    <a:p>
                      <a:pPr algn="ctr"/>
                      <a:r>
                        <a:rPr lang="en-IN" sz="900" dirty="0" err="1"/>
                        <a:t>security_avg_delay</a:t>
                      </a:r>
                      <a:endParaRPr lang="en-IN" sz="900" dirty="0"/>
                    </a:p>
                  </a:txBody>
                  <a:tcPr/>
                </a:tc>
                <a:tc>
                  <a:txBody>
                    <a:bodyPr/>
                    <a:lstStyle/>
                    <a:p>
                      <a:pPr algn="ctr"/>
                      <a:r>
                        <a:rPr lang="en-IN" sz="900" dirty="0" err="1"/>
                        <a:t>security_delay</a:t>
                      </a:r>
                      <a:r>
                        <a:rPr lang="en-IN" sz="900" dirty="0"/>
                        <a:t> ÷ </a:t>
                      </a:r>
                      <a:r>
                        <a:rPr lang="en-IN" sz="900" dirty="0" err="1"/>
                        <a:t>security_ct</a:t>
                      </a:r>
                      <a:endParaRPr lang="en-IN" sz="900" dirty="0"/>
                    </a:p>
                  </a:txBody>
                  <a:tcPr/>
                </a:tc>
                <a:extLst>
                  <a:ext uri="{0D108BD9-81ED-4DB2-BD59-A6C34878D82A}">
                    <a16:rowId xmlns:a16="http://schemas.microsoft.com/office/drawing/2014/main" val="2501911916"/>
                  </a:ext>
                </a:extLst>
              </a:tr>
              <a:tr h="219740">
                <a:tc>
                  <a:txBody>
                    <a:bodyPr/>
                    <a:lstStyle/>
                    <a:p>
                      <a:pPr algn="ctr"/>
                      <a:r>
                        <a:rPr lang="en-IN" sz="900" dirty="0" err="1"/>
                        <a:t>late_aircraft_avg_delay</a:t>
                      </a:r>
                      <a:endParaRPr lang="en-IN" sz="900" dirty="0"/>
                    </a:p>
                  </a:txBody>
                  <a:tcPr/>
                </a:tc>
                <a:tc>
                  <a:txBody>
                    <a:bodyPr/>
                    <a:lstStyle/>
                    <a:p>
                      <a:pPr algn="ctr"/>
                      <a:r>
                        <a:rPr lang="en-IN" sz="900" dirty="0" err="1"/>
                        <a:t>late_aircraft_delay</a:t>
                      </a:r>
                      <a:r>
                        <a:rPr lang="en-IN" sz="900" dirty="0"/>
                        <a:t> ÷ </a:t>
                      </a:r>
                      <a:r>
                        <a:rPr lang="en-IN" sz="900" dirty="0" err="1"/>
                        <a:t>late_aircraft_ct</a:t>
                      </a:r>
                      <a:endParaRPr lang="en-IN" sz="900" dirty="0"/>
                    </a:p>
                  </a:txBody>
                  <a:tcPr/>
                </a:tc>
                <a:extLst>
                  <a:ext uri="{0D108BD9-81ED-4DB2-BD59-A6C34878D82A}">
                    <a16:rowId xmlns:a16="http://schemas.microsoft.com/office/drawing/2014/main" val="1992371344"/>
                  </a:ext>
                </a:extLst>
              </a:tr>
              <a:tr h="219740">
                <a:tc>
                  <a:txBody>
                    <a:bodyPr/>
                    <a:lstStyle/>
                    <a:p>
                      <a:pPr algn="ctr"/>
                      <a:r>
                        <a:rPr lang="en-IN" sz="900" dirty="0" err="1"/>
                        <a:t>avg_delay_per_delayed_flight</a:t>
                      </a:r>
                      <a:endParaRPr lang="en-IN" sz="900" dirty="0"/>
                    </a:p>
                  </a:txBody>
                  <a:tcPr/>
                </a:tc>
                <a:tc>
                  <a:txBody>
                    <a:bodyPr/>
                    <a:lstStyle/>
                    <a:p>
                      <a:pPr algn="ctr"/>
                      <a:r>
                        <a:rPr lang="en-IN" sz="900" dirty="0" err="1"/>
                        <a:t>arr_delay</a:t>
                      </a:r>
                      <a:r>
                        <a:rPr lang="en-IN" sz="900" dirty="0"/>
                        <a:t> ÷ arr_del15</a:t>
                      </a:r>
                    </a:p>
                  </a:txBody>
                  <a:tcPr/>
                </a:tc>
                <a:extLst>
                  <a:ext uri="{0D108BD9-81ED-4DB2-BD59-A6C34878D82A}">
                    <a16:rowId xmlns:a16="http://schemas.microsoft.com/office/drawing/2014/main" val="2047837968"/>
                  </a:ext>
                </a:extLst>
              </a:tr>
              <a:tr h="219740">
                <a:tc>
                  <a:txBody>
                    <a:bodyPr/>
                    <a:lstStyle/>
                    <a:p>
                      <a:pPr algn="ctr"/>
                      <a:r>
                        <a:rPr lang="en-IN" sz="900" dirty="0" err="1"/>
                        <a:t>disruption_score</a:t>
                      </a:r>
                      <a:endParaRPr lang="en-IN" sz="900" dirty="0"/>
                    </a:p>
                  </a:txBody>
                  <a:tcPr/>
                </a:tc>
                <a:tc>
                  <a:txBody>
                    <a:bodyPr/>
                    <a:lstStyle/>
                    <a:p>
                      <a:pPr algn="ctr"/>
                      <a:r>
                        <a:rPr lang="en-IN" sz="900" dirty="0"/>
                        <a:t>Weighted operational disruption metric</a:t>
                      </a:r>
                    </a:p>
                  </a:txBody>
                  <a:tcPr/>
                </a:tc>
                <a:extLst>
                  <a:ext uri="{0D108BD9-81ED-4DB2-BD59-A6C34878D82A}">
                    <a16:rowId xmlns:a16="http://schemas.microsoft.com/office/drawing/2014/main" val="3873604217"/>
                  </a:ext>
                </a:extLst>
              </a:tr>
              <a:tr h="219740">
                <a:tc>
                  <a:txBody>
                    <a:bodyPr/>
                    <a:lstStyle/>
                    <a:p>
                      <a:pPr algn="ctr"/>
                      <a:r>
                        <a:rPr lang="en-IN" sz="900" dirty="0" err="1"/>
                        <a:t>severe_delay_flag</a:t>
                      </a:r>
                      <a:endParaRPr lang="en-IN" sz="900" dirty="0"/>
                    </a:p>
                  </a:txBody>
                  <a:tcPr/>
                </a:tc>
                <a:tc>
                  <a:txBody>
                    <a:bodyPr/>
                    <a:lstStyle/>
                    <a:p>
                      <a:pPr algn="ctr"/>
                      <a:r>
                        <a:rPr lang="en-IN" sz="900" dirty="0"/>
                        <a:t>Flags delays exceeding </a:t>
                      </a:r>
                      <a:r>
                        <a:rPr lang="en-IN" sz="900" b="0" dirty="0"/>
                        <a:t>60 mins</a:t>
                      </a:r>
                    </a:p>
                  </a:txBody>
                  <a:tcPr/>
                </a:tc>
                <a:extLst>
                  <a:ext uri="{0D108BD9-81ED-4DB2-BD59-A6C34878D82A}">
                    <a16:rowId xmlns:a16="http://schemas.microsoft.com/office/drawing/2014/main" val="4180414666"/>
                  </a:ext>
                </a:extLst>
              </a:tr>
              <a:tr h="219740">
                <a:tc>
                  <a:txBody>
                    <a:bodyPr/>
                    <a:lstStyle/>
                    <a:p>
                      <a:pPr algn="ctr"/>
                      <a:r>
                        <a:rPr lang="en-IN" sz="900" dirty="0" err="1"/>
                        <a:t>severe_delay_flights</a:t>
                      </a:r>
                      <a:endParaRPr lang="en-IN" sz="900" dirty="0"/>
                    </a:p>
                  </a:txBody>
                  <a:tcPr/>
                </a:tc>
                <a:tc>
                  <a:txBody>
                    <a:bodyPr/>
                    <a:lstStyle/>
                    <a:p>
                      <a:pPr algn="ctr"/>
                      <a:r>
                        <a:rPr lang="en-IN" sz="900" dirty="0"/>
                        <a:t>Estimated count of severe delayed flights</a:t>
                      </a:r>
                    </a:p>
                  </a:txBody>
                  <a:tcPr/>
                </a:tc>
                <a:extLst>
                  <a:ext uri="{0D108BD9-81ED-4DB2-BD59-A6C34878D82A}">
                    <a16:rowId xmlns:a16="http://schemas.microsoft.com/office/drawing/2014/main" val="1832450090"/>
                  </a:ext>
                </a:extLst>
              </a:tr>
              <a:tr h="243717">
                <a:tc>
                  <a:txBody>
                    <a:bodyPr/>
                    <a:lstStyle/>
                    <a:p>
                      <a:pPr algn="ctr"/>
                      <a:r>
                        <a:rPr lang="en-IN" sz="900" dirty="0"/>
                        <a:t>date</a:t>
                      </a:r>
                    </a:p>
                  </a:txBody>
                  <a:tcPr/>
                </a:tc>
                <a:tc>
                  <a:txBody>
                    <a:bodyPr/>
                    <a:lstStyle/>
                    <a:p>
                      <a:pPr algn="ctr"/>
                      <a:r>
                        <a:rPr lang="en-IN" sz="900" dirty="0"/>
                        <a:t>Combined </a:t>
                      </a:r>
                      <a:r>
                        <a:rPr lang="en-IN" sz="900" kern="1200" dirty="0">
                          <a:solidFill>
                            <a:schemeClr val="dk1"/>
                          </a:solidFill>
                          <a:latin typeface="+mn-lt"/>
                          <a:ea typeface="+mn-ea"/>
                          <a:cs typeface="+mn-cs"/>
                        </a:rPr>
                        <a:t>year + month</a:t>
                      </a:r>
                      <a:r>
                        <a:rPr lang="en-IN" sz="900" dirty="0"/>
                        <a:t> time feature</a:t>
                      </a:r>
                    </a:p>
                  </a:txBody>
                  <a:tcPr/>
                </a:tc>
                <a:extLst>
                  <a:ext uri="{0D108BD9-81ED-4DB2-BD59-A6C34878D82A}">
                    <a16:rowId xmlns:a16="http://schemas.microsoft.com/office/drawing/2014/main" val="1984294562"/>
                  </a:ext>
                </a:extLst>
              </a:tr>
            </a:tbl>
          </a:graphicData>
        </a:graphic>
      </p:graphicFrame>
    </p:spTree>
    <p:extLst>
      <p:ext uri="{BB962C8B-B14F-4D97-AF65-F5344CB8AC3E}">
        <p14:creationId xmlns:p14="http://schemas.microsoft.com/office/powerpoint/2010/main" val="4132960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9934-1CD5-3853-02F2-604CDC7B247D}"/>
              </a:ext>
            </a:extLst>
          </p:cNvPr>
          <p:cNvSpPr>
            <a:spLocks noGrp="1"/>
          </p:cNvSpPr>
          <p:nvPr>
            <p:ph type="title"/>
          </p:nvPr>
        </p:nvSpPr>
        <p:spPr/>
        <p:txBody>
          <a:bodyPr>
            <a:normAutofit/>
          </a:bodyPr>
          <a:lstStyle/>
          <a:p>
            <a:r>
              <a:rPr lang="en-US" sz="7200" b="1" dirty="0">
                <a:solidFill>
                  <a:schemeClr val="bg1"/>
                </a:solidFill>
              </a:rPr>
              <a:t>Engineered delay features</a:t>
            </a:r>
            <a:endParaRPr lang="en-IN" sz="7200" b="1" dirty="0">
              <a:solidFill>
                <a:schemeClr val="bg1"/>
              </a:solidFill>
            </a:endParaRPr>
          </a:p>
        </p:txBody>
      </p:sp>
      <p:graphicFrame>
        <p:nvGraphicFramePr>
          <p:cNvPr id="4" name="Content Placeholder 3">
            <a:extLst>
              <a:ext uri="{FF2B5EF4-FFF2-40B4-BE49-F238E27FC236}">
                <a16:creationId xmlns:a16="http://schemas.microsoft.com/office/drawing/2014/main" id="{246CEC41-9A97-01DE-54FF-6D424EC62968}"/>
              </a:ext>
            </a:extLst>
          </p:cNvPr>
          <p:cNvGraphicFramePr>
            <a:graphicFrameLocks noGrp="1"/>
          </p:cNvGraphicFramePr>
          <p:nvPr>
            <p:ph idx="1"/>
            <p:extLst>
              <p:ext uri="{D42A27DB-BD31-4B8C-83A1-F6EECF244321}">
                <p14:modId xmlns:p14="http://schemas.microsoft.com/office/powerpoint/2010/main" val="385484126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4364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965A1-0D9E-49D8-3062-208E37CECA44}"/>
              </a:ext>
            </a:extLst>
          </p:cNvPr>
          <p:cNvSpPr>
            <a:spLocks noGrp="1"/>
          </p:cNvSpPr>
          <p:nvPr>
            <p:ph type="title"/>
          </p:nvPr>
        </p:nvSpPr>
        <p:spPr>
          <a:xfrm>
            <a:off x="838200" y="365126"/>
            <a:ext cx="10515600" cy="891020"/>
          </a:xfrm>
        </p:spPr>
        <p:txBody>
          <a:bodyPr/>
          <a:lstStyle/>
          <a:p>
            <a:r>
              <a:rPr lang="en-US" b="1" dirty="0">
                <a:solidFill>
                  <a:schemeClr val="bg1"/>
                </a:solidFill>
              </a:rPr>
              <a:t>Exploratory Data Analysis</a:t>
            </a:r>
            <a:endParaRPr lang="en-IN" b="1" dirty="0">
              <a:solidFill>
                <a:schemeClr val="bg1"/>
              </a:solidFill>
            </a:endParaRPr>
          </a:p>
        </p:txBody>
      </p:sp>
      <p:graphicFrame>
        <p:nvGraphicFramePr>
          <p:cNvPr id="7" name="Content Placeholder 6">
            <a:extLst>
              <a:ext uri="{FF2B5EF4-FFF2-40B4-BE49-F238E27FC236}">
                <a16:creationId xmlns:a16="http://schemas.microsoft.com/office/drawing/2014/main" id="{B4ED130F-2251-9194-9F32-BC062767D7CB}"/>
              </a:ext>
            </a:extLst>
          </p:cNvPr>
          <p:cNvGraphicFramePr>
            <a:graphicFrameLocks noGrp="1"/>
          </p:cNvGraphicFramePr>
          <p:nvPr>
            <p:ph idx="1"/>
            <p:extLst>
              <p:ext uri="{D42A27DB-BD31-4B8C-83A1-F6EECF244321}">
                <p14:modId xmlns:p14="http://schemas.microsoft.com/office/powerpoint/2010/main" val="559740161"/>
              </p:ext>
            </p:extLst>
          </p:nvPr>
        </p:nvGraphicFramePr>
        <p:xfrm>
          <a:off x="838200" y="1459344"/>
          <a:ext cx="10515596" cy="5033536"/>
        </p:xfrm>
        <a:graphic>
          <a:graphicData uri="http://schemas.openxmlformats.org/drawingml/2006/table">
            <a:tbl>
              <a:tblPr firstRow="1" firstCol="1">
                <a:tableStyleId>{FABFCF23-3B69-468F-B69F-88F6DE6A72F2}</a:tableStyleId>
              </a:tblPr>
              <a:tblGrid>
                <a:gridCol w="1492854">
                  <a:extLst>
                    <a:ext uri="{9D8B030D-6E8A-4147-A177-3AD203B41FA5}">
                      <a16:colId xmlns:a16="http://schemas.microsoft.com/office/drawing/2014/main" val="1648030495"/>
                    </a:ext>
                  </a:extLst>
                </a:gridCol>
                <a:gridCol w="623390">
                  <a:extLst>
                    <a:ext uri="{9D8B030D-6E8A-4147-A177-3AD203B41FA5}">
                      <a16:colId xmlns:a16="http://schemas.microsoft.com/office/drawing/2014/main" val="1393160009"/>
                    </a:ext>
                  </a:extLst>
                </a:gridCol>
                <a:gridCol w="672604">
                  <a:extLst>
                    <a:ext uri="{9D8B030D-6E8A-4147-A177-3AD203B41FA5}">
                      <a16:colId xmlns:a16="http://schemas.microsoft.com/office/drawing/2014/main" val="230492621"/>
                    </a:ext>
                  </a:extLst>
                </a:gridCol>
                <a:gridCol w="377314">
                  <a:extLst>
                    <a:ext uri="{9D8B030D-6E8A-4147-A177-3AD203B41FA5}">
                      <a16:colId xmlns:a16="http://schemas.microsoft.com/office/drawing/2014/main" val="3807078223"/>
                    </a:ext>
                  </a:extLst>
                </a:gridCol>
                <a:gridCol w="442934">
                  <a:extLst>
                    <a:ext uri="{9D8B030D-6E8A-4147-A177-3AD203B41FA5}">
                      <a16:colId xmlns:a16="http://schemas.microsoft.com/office/drawing/2014/main" val="2130473859"/>
                    </a:ext>
                  </a:extLst>
                </a:gridCol>
                <a:gridCol w="442934">
                  <a:extLst>
                    <a:ext uri="{9D8B030D-6E8A-4147-A177-3AD203B41FA5}">
                      <a16:colId xmlns:a16="http://schemas.microsoft.com/office/drawing/2014/main" val="1980215101"/>
                    </a:ext>
                  </a:extLst>
                </a:gridCol>
                <a:gridCol w="524960">
                  <a:extLst>
                    <a:ext uri="{9D8B030D-6E8A-4147-A177-3AD203B41FA5}">
                      <a16:colId xmlns:a16="http://schemas.microsoft.com/office/drawing/2014/main" val="3221141847"/>
                    </a:ext>
                  </a:extLst>
                </a:gridCol>
                <a:gridCol w="803844">
                  <a:extLst>
                    <a:ext uri="{9D8B030D-6E8A-4147-A177-3AD203B41FA5}">
                      <a16:colId xmlns:a16="http://schemas.microsoft.com/office/drawing/2014/main" val="3249331610"/>
                    </a:ext>
                  </a:extLst>
                </a:gridCol>
                <a:gridCol w="672604">
                  <a:extLst>
                    <a:ext uri="{9D8B030D-6E8A-4147-A177-3AD203B41FA5}">
                      <a16:colId xmlns:a16="http://schemas.microsoft.com/office/drawing/2014/main" val="4292926853"/>
                    </a:ext>
                  </a:extLst>
                </a:gridCol>
                <a:gridCol w="656200">
                  <a:extLst>
                    <a:ext uri="{9D8B030D-6E8A-4147-A177-3AD203B41FA5}">
                      <a16:colId xmlns:a16="http://schemas.microsoft.com/office/drawing/2014/main" val="528597357"/>
                    </a:ext>
                  </a:extLst>
                </a:gridCol>
                <a:gridCol w="524960">
                  <a:extLst>
                    <a:ext uri="{9D8B030D-6E8A-4147-A177-3AD203B41FA5}">
                      <a16:colId xmlns:a16="http://schemas.microsoft.com/office/drawing/2014/main" val="394432652"/>
                    </a:ext>
                  </a:extLst>
                </a:gridCol>
                <a:gridCol w="803844">
                  <a:extLst>
                    <a:ext uri="{9D8B030D-6E8A-4147-A177-3AD203B41FA5}">
                      <a16:colId xmlns:a16="http://schemas.microsoft.com/office/drawing/2014/main" val="2846509334"/>
                    </a:ext>
                  </a:extLst>
                </a:gridCol>
                <a:gridCol w="1017110">
                  <a:extLst>
                    <a:ext uri="{9D8B030D-6E8A-4147-A177-3AD203B41FA5}">
                      <a16:colId xmlns:a16="http://schemas.microsoft.com/office/drawing/2014/main" val="4129255194"/>
                    </a:ext>
                  </a:extLst>
                </a:gridCol>
                <a:gridCol w="787440">
                  <a:extLst>
                    <a:ext uri="{9D8B030D-6E8A-4147-A177-3AD203B41FA5}">
                      <a16:colId xmlns:a16="http://schemas.microsoft.com/office/drawing/2014/main" val="3447878570"/>
                    </a:ext>
                  </a:extLst>
                </a:gridCol>
                <a:gridCol w="672604">
                  <a:extLst>
                    <a:ext uri="{9D8B030D-6E8A-4147-A177-3AD203B41FA5}">
                      <a16:colId xmlns:a16="http://schemas.microsoft.com/office/drawing/2014/main" val="2572433316"/>
                    </a:ext>
                  </a:extLst>
                </a:gridCol>
              </a:tblGrid>
              <a:tr h="314596">
                <a:tc>
                  <a:txBody>
                    <a:bodyPr/>
                    <a:lstStyle/>
                    <a:p>
                      <a:pPr algn="ctr" fontAlgn="t">
                        <a:buNone/>
                      </a:pPr>
                      <a:r>
                        <a:rPr lang="en-IN" sz="1200" u="none" strike="noStrike" dirty="0">
                          <a:effectLst/>
                        </a:rPr>
                        <a:t>Feature</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count</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mean</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min</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25%</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50%</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75%</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max</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std</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median</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mode</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range</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variance</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skewness</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kurtosis</a:t>
                      </a:r>
                      <a:endParaRPr lang="en-IN" sz="1100" b="1"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57390212"/>
                  </a:ext>
                </a:extLst>
              </a:tr>
              <a:tr h="314596">
                <a:tc>
                  <a:txBody>
                    <a:bodyPr/>
                    <a:lstStyle/>
                    <a:p>
                      <a:pPr algn="ctr" fontAlgn="t">
                        <a:buNone/>
                      </a:pPr>
                      <a:r>
                        <a:rPr lang="en-IN" sz="1200" u="none" strike="noStrike" dirty="0" err="1">
                          <a:effectLst/>
                        </a:rPr>
                        <a:t>arr_flights</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dirty="0">
                          <a:effectLst/>
                        </a:rPr>
                        <a:t>362.53</a:t>
                      </a:r>
                      <a:endParaRPr lang="en-IN" sz="1100" b="0"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250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21977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992.89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21976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985839.81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8.44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114.38</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267271839"/>
                  </a:ext>
                </a:extLst>
              </a:tr>
              <a:tr h="314596">
                <a:tc>
                  <a:txBody>
                    <a:bodyPr/>
                    <a:lstStyle/>
                    <a:p>
                      <a:pPr algn="ctr" fontAlgn="t">
                        <a:buNone/>
                      </a:pPr>
                      <a:r>
                        <a:rPr lang="en-IN" sz="1200" u="none" strike="noStrike" dirty="0">
                          <a:effectLst/>
                        </a:rPr>
                        <a:t>arr_del15</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66.36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4176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179.45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4176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32201.91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78.70</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1455244510"/>
                  </a:ext>
                </a:extLst>
              </a:tr>
              <a:tr h="314596">
                <a:tc>
                  <a:txBody>
                    <a:bodyPr/>
                    <a:lstStyle/>
                    <a:p>
                      <a:pPr algn="ctr" fontAlgn="t">
                        <a:buNone/>
                      </a:pPr>
                      <a:r>
                        <a:rPr lang="en-IN" sz="1200" u="none" strike="noStrike" dirty="0" err="1">
                          <a:effectLst/>
                        </a:rPr>
                        <a:t>carrier_ct</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20.80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2.16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1293.91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50.32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1293.91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2531.62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75.51</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94820495"/>
                  </a:ext>
                </a:extLst>
              </a:tr>
              <a:tr h="314596">
                <a:tc>
                  <a:txBody>
                    <a:bodyPr/>
                    <a:lstStyle/>
                    <a:p>
                      <a:pPr algn="ctr" fontAlgn="t">
                        <a:buNone/>
                      </a:pPr>
                      <a:r>
                        <a:rPr lang="en-IN" sz="1200" u="none" strike="noStrike" dirty="0" err="1">
                          <a:effectLst/>
                        </a:rPr>
                        <a:t>weather_ct</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2.25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1.86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266.42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7.31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266.42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53.50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10.79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182.78</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869842274"/>
                  </a:ext>
                </a:extLst>
              </a:tr>
              <a:tr h="314596">
                <a:tc>
                  <a:txBody>
                    <a:bodyPr/>
                    <a:lstStyle/>
                    <a:p>
                      <a:pPr algn="ctr" fontAlgn="t">
                        <a:buNone/>
                      </a:pPr>
                      <a:r>
                        <a:rPr lang="en-IN" sz="1200" u="none" strike="noStrike" dirty="0" err="1">
                          <a:effectLst/>
                        </a:rPr>
                        <a:t>nas_ct</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19.38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3.91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11.71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1884.42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61.68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3.91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1884.42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3803.84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8.07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93.77</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053738752"/>
                  </a:ext>
                </a:extLst>
              </a:tr>
              <a:tr h="314596">
                <a:tc>
                  <a:txBody>
                    <a:bodyPr/>
                    <a:lstStyle/>
                    <a:p>
                      <a:pPr algn="ctr" fontAlgn="t">
                        <a:buNone/>
                      </a:pPr>
                      <a:r>
                        <a:rPr lang="en-IN" sz="1200" u="none" strike="noStrike">
                          <a:effectLst/>
                        </a:rPr>
                        <a:t>security_ct</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58.69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0.72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58.69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0.51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15.12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576.47</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1061421971"/>
                  </a:ext>
                </a:extLst>
              </a:tr>
              <a:tr h="314596">
                <a:tc>
                  <a:txBody>
                    <a:bodyPr/>
                    <a:lstStyle/>
                    <a:p>
                      <a:pPr algn="ctr" fontAlgn="t">
                        <a:buNone/>
                      </a:pPr>
                      <a:r>
                        <a:rPr lang="en-IN" sz="1200" u="none" strike="noStrike" dirty="0" err="1">
                          <a:effectLst/>
                        </a:rPr>
                        <a:t>late_aircraft_ct</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23.77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1.23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2069.07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72.39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2069.07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5240.82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7.84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90.10</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97008485"/>
                  </a:ext>
                </a:extLst>
              </a:tr>
              <a:tr h="314596">
                <a:tc>
                  <a:txBody>
                    <a:bodyPr/>
                    <a:lstStyle/>
                    <a:p>
                      <a:pPr algn="ctr" fontAlgn="t">
                        <a:buNone/>
                      </a:pPr>
                      <a:r>
                        <a:rPr lang="en-IN" sz="1200" u="none" strike="noStrike" dirty="0" err="1">
                          <a:effectLst/>
                        </a:rPr>
                        <a:t>arr_cancelled</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7.53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4951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43.65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4951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1905.75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33.55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2079.00</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906635148"/>
                  </a:ext>
                </a:extLst>
              </a:tr>
              <a:tr h="314596">
                <a:tc>
                  <a:txBody>
                    <a:bodyPr/>
                    <a:lstStyle/>
                    <a:p>
                      <a:pPr algn="ctr" fontAlgn="t">
                        <a:buNone/>
                      </a:pPr>
                      <a:r>
                        <a:rPr lang="en-IN" sz="1200" u="none" strike="noStrike" dirty="0" err="1">
                          <a:effectLst/>
                        </a:rPr>
                        <a:t>arr_diverted</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0.86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197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3.77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197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14.23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14.55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340.61</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2192708224"/>
                  </a:ext>
                </a:extLst>
              </a:tr>
              <a:tr h="314596">
                <a:tc>
                  <a:txBody>
                    <a:bodyPr/>
                    <a:lstStyle/>
                    <a:p>
                      <a:pPr algn="ctr" fontAlgn="t">
                        <a:buNone/>
                      </a:pPr>
                      <a:r>
                        <a:rPr lang="en-IN" sz="1200" u="none" strike="noStrike" dirty="0" err="1">
                          <a:effectLst/>
                        </a:rPr>
                        <a:t>arr_delay</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3869.11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335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1018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2884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60358.75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9050.02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1018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60358.75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81902884.57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4.41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21.17</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1635651244"/>
                  </a:ext>
                </a:extLst>
              </a:tr>
              <a:tr h="314596">
                <a:tc>
                  <a:txBody>
                    <a:bodyPr/>
                    <a:lstStyle/>
                    <a:p>
                      <a:pPr algn="ctr" fontAlgn="t">
                        <a:buNone/>
                      </a:pPr>
                      <a:r>
                        <a:rPr lang="en-IN" sz="1200" u="none" strike="noStrike" dirty="0" err="1">
                          <a:effectLst/>
                        </a:rPr>
                        <a:t>carrier_delay</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1301.27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110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375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1109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18450.5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2818.51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375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18450.5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7944025.52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4.18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19.29</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1063326371"/>
                  </a:ext>
                </a:extLst>
              </a:tr>
              <a:tr h="314596">
                <a:tc>
                  <a:txBody>
                    <a:bodyPr/>
                    <a:lstStyle/>
                    <a:p>
                      <a:pPr algn="ctr" fontAlgn="t">
                        <a:buNone/>
                      </a:pPr>
                      <a:r>
                        <a:rPr lang="en-IN" sz="1200" u="none" strike="noStrike" dirty="0" err="1">
                          <a:effectLst/>
                        </a:rPr>
                        <a:t>weather_delay</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190.16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146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3282.5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478.52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3282.5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228981.36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4.44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22.27</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394011316"/>
                  </a:ext>
                </a:extLst>
              </a:tr>
              <a:tr h="314596">
                <a:tc>
                  <a:txBody>
                    <a:bodyPr/>
                    <a:lstStyle/>
                    <a:p>
                      <a:pPr algn="ctr" fontAlgn="t">
                        <a:buNone/>
                      </a:pPr>
                      <a:r>
                        <a:rPr lang="en-IN" sz="1200" u="none" strike="noStrike">
                          <a:effectLst/>
                        </a:rPr>
                        <a:t>nas_delay</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795.97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146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477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15328.75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2189.10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146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15328.75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4792147.46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4.85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25.61</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84213998"/>
                  </a:ext>
                </a:extLst>
              </a:tr>
              <a:tr h="314596">
                <a:tc>
                  <a:txBody>
                    <a:bodyPr/>
                    <a:lstStyle/>
                    <a:p>
                      <a:pPr algn="ctr" fontAlgn="t">
                        <a:buNone/>
                      </a:pPr>
                      <a:r>
                        <a:rPr lang="en-IN" sz="1200" u="none" strike="noStrike" dirty="0" err="1">
                          <a:effectLst/>
                        </a:rPr>
                        <a:t>security_delay</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5.97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157.75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22.81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157.75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520.47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4.95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26.12</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606121283"/>
                  </a:ext>
                </a:extLst>
              </a:tr>
              <a:tr h="314596">
                <a:tc>
                  <a:txBody>
                    <a:bodyPr/>
                    <a:lstStyle/>
                    <a:p>
                      <a:pPr algn="ctr" fontAlgn="t">
                        <a:buNone/>
                      </a:pPr>
                      <a:r>
                        <a:rPr lang="en-IN" sz="1200" u="none" strike="noStrike" dirty="0" err="1">
                          <a:effectLst/>
                        </a:rPr>
                        <a:t>late_aircraft_delay</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1497.42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320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1070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25101.25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3722.40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320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25101.25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13856263.95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4.51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dirty="0">
                          <a:effectLst/>
                        </a:rPr>
                        <a:t>22.19</a:t>
                      </a:r>
                      <a:endParaRPr lang="en-IN" sz="1100" b="0" i="0" u="none" strike="noStrike" dirty="0">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1776507158"/>
                  </a:ext>
                </a:extLst>
              </a:tr>
            </a:tbl>
          </a:graphicData>
        </a:graphic>
      </p:graphicFrame>
    </p:spTree>
    <p:extLst>
      <p:ext uri="{BB962C8B-B14F-4D97-AF65-F5344CB8AC3E}">
        <p14:creationId xmlns:p14="http://schemas.microsoft.com/office/powerpoint/2010/main" val="2984071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A1F605D-5919-C9C0-C328-C40AC41865F0}"/>
              </a:ext>
            </a:extLst>
          </p:cNvPr>
          <p:cNvSpPr>
            <a:spLocks noGrp="1"/>
          </p:cNvSpPr>
          <p:nvPr>
            <p:ph type="title"/>
          </p:nvPr>
        </p:nvSpPr>
        <p:spPr>
          <a:xfrm>
            <a:off x="838200" y="365125"/>
            <a:ext cx="10515600" cy="844839"/>
          </a:xfrm>
        </p:spPr>
        <p:txBody>
          <a:bodyPr/>
          <a:lstStyle/>
          <a:p>
            <a:r>
              <a:rPr lang="en-US" b="1" dirty="0">
                <a:solidFill>
                  <a:schemeClr val="bg1"/>
                </a:solidFill>
              </a:rPr>
              <a:t>Exploratory Data Analysis</a:t>
            </a:r>
            <a:endParaRPr lang="en-IN" b="1" dirty="0">
              <a:solidFill>
                <a:schemeClr val="bg1"/>
              </a:solidFill>
            </a:endParaRPr>
          </a:p>
        </p:txBody>
      </p:sp>
      <p:graphicFrame>
        <p:nvGraphicFramePr>
          <p:cNvPr id="4" name="Content Placeholder 3">
            <a:extLst>
              <a:ext uri="{FF2B5EF4-FFF2-40B4-BE49-F238E27FC236}">
                <a16:creationId xmlns:a16="http://schemas.microsoft.com/office/drawing/2014/main" id="{BC0E5846-5621-7DA9-DF85-EB13A2DD687A}"/>
              </a:ext>
            </a:extLst>
          </p:cNvPr>
          <p:cNvGraphicFramePr>
            <a:graphicFrameLocks noGrp="1"/>
          </p:cNvGraphicFramePr>
          <p:nvPr>
            <p:ph idx="1"/>
            <p:extLst>
              <p:ext uri="{D42A27DB-BD31-4B8C-83A1-F6EECF244321}">
                <p14:modId xmlns:p14="http://schemas.microsoft.com/office/powerpoint/2010/main" val="2370445214"/>
              </p:ext>
            </p:extLst>
          </p:nvPr>
        </p:nvGraphicFramePr>
        <p:xfrm>
          <a:off x="838200" y="1357746"/>
          <a:ext cx="10515600" cy="4911874"/>
        </p:xfrm>
        <a:graphic>
          <a:graphicData uri="http://schemas.openxmlformats.org/drawingml/2006/table">
            <a:tbl>
              <a:tblPr firstRow="1" firstCol="1">
                <a:tableStyleId>{FABFCF23-3B69-468F-B69F-88F6DE6A72F2}</a:tableStyleId>
              </a:tblPr>
              <a:tblGrid>
                <a:gridCol w="2367642">
                  <a:extLst>
                    <a:ext uri="{9D8B030D-6E8A-4147-A177-3AD203B41FA5}">
                      <a16:colId xmlns:a16="http://schemas.microsoft.com/office/drawing/2014/main" val="2831254881"/>
                    </a:ext>
                  </a:extLst>
                </a:gridCol>
                <a:gridCol w="620486">
                  <a:extLst>
                    <a:ext uri="{9D8B030D-6E8A-4147-A177-3AD203B41FA5}">
                      <a16:colId xmlns:a16="http://schemas.microsoft.com/office/drawing/2014/main" val="938658681"/>
                    </a:ext>
                  </a:extLst>
                </a:gridCol>
                <a:gridCol w="506186">
                  <a:extLst>
                    <a:ext uri="{9D8B030D-6E8A-4147-A177-3AD203B41FA5}">
                      <a16:colId xmlns:a16="http://schemas.microsoft.com/office/drawing/2014/main" val="3295016634"/>
                    </a:ext>
                  </a:extLst>
                </a:gridCol>
                <a:gridCol w="375558">
                  <a:extLst>
                    <a:ext uri="{9D8B030D-6E8A-4147-A177-3AD203B41FA5}">
                      <a16:colId xmlns:a16="http://schemas.microsoft.com/office/drawing/2014/main" val="1828663831"/>
                    </a:ext>
                  </a:extLst>
                </a:gridCol>
                <a:gridCol w="489857">
                  <a:extLst>
                    <a:ext uri="{9D8B030D-6E8A-4147-A177-3AD203B41FA5}">
                      <a16:colId xmlns:a16="http://schemas.microsoft.com/office/drawing/2014/main" val="3929376304"/>
                    </a:ext>
                  </a:extLst>
                </a:gridCol>
                <a:gridCol w="489857">
                  <a:extLst>
                    <a:ext uri="{9D8B030D-6E8A-4147-A177-3AD203B41FA5}">
                      <a16:colId xmlns:a16="http://schemas.microsoft.com/office/drawing/2014/main" val="226725926"/>
                    </a:ext>
                  </a:extLst>
                </a:gridCol>
                <a:gridCol w="489857">
                  <a:extLst>
                    <a:ext uri="{9D8B030D-6E8A-4147-A177-3AD203B41FA5}">
                      <a16:colId xmlns:a16="http://schemas.microsoft.com/office/drawing/2014/main" val="2791638147"/>
                    </a:ext>
                  </a:extLst>
                </a:gridCol>
                <a:gridCol w="669472">
                  <a:extLst>
                    <a:ext uri="{9D8B030D-6E8A-4147-A177-3AD203B41FA5}">
                      <a16:colId xmlns:a16="http://schemas.microsoft.com/office/drawing/2014/main" val="1006433597"/>
                    </a:ext>
                  </a:extLst>
                </a:gridCol>
                <a:gridCol w="489857">
                  <a:extLst>
                    <a:ext uri="{9D8B030D-6E8A-4147-A177-3AD203B41FA5}">
                      <a16:colId xmlns:a16="http://schemas.microsoft.com/office/drawing/2014/main" val="1217848450"/>
                    </a:ext>
                  </a:extLst>
                </a:gridCol>
                <a:gridCol w="653142">
                  <a:extLst>
                    <a:ext uri="{9D8B030D-6E8A-4147-A177-3AD203B41FA5}">
                      <a16:colId xmlns:a16="http://schemas.microsoft.com/office/drawing/2014/main" val="3951542904"/>
                    </a:ext>
                  </a:extLst>
                </a:gridCol>
                <a:gridCol w="522514">
                  <a:extLst>
                    <a:ext uri="{9D8B030D-6E8A-4147-A177-3AD203B41FA5}">
                      <a16:colId xmlns:a16="http://schemas.microsoft.com/office/drawing/2014/main" val="3828092073"/>
                    </a:ext>
                  </a:extLst>
                </a:gridCol>
                <a:gridCol w="669472">
                  <a:extLst>
                    <a:ext uri="{9D8B030D-6E8A-4147-A177-3AD203B41FA5}">
                      <a16:colId xmlns:a16="http://schemas.microsoft.com/office/drawing/2014/main" val="1374968202"/>
                    </a:ext>
                  </a:extLst>
                </a:gridCol>
                <a:gridCol w="718457">
                  <a:extLst>
                    <a:ext uri="{9D8B030D-6E8A-4147-A177-3AD203B41FA5}">
                      <a16:colId xmlns:a16="http://schemas.microsoft.com/office/drawing/2014/main" val="820246662"/>
                    </a:ext>
                  </a:extLst>
                </a:gridCol>
                <a:gridCol w="783771">
                  <a:extLst>
                    <a:ext uri="{9D8B030D-6E8A-4147-A177-3AD203B41FA5}">
                      <a16:colId xmlns:a16="http://schemas.microsoft.com/office/drawing/2014/main" val="2878565299"/>
                    </a:ext>
                  </a:extLst>
                </a:gridCol>
                <a:gridCol w="669472">
                  <a:extLst>
                    <a:ext uri="{9D8B030D-6E8A-4147-A177-3AD203B41FA5}">
                      <a16:colId xmlns:a16="http://schemas.microsoft.com/office/drawing/2014/main" val="1447634597"/>
                    </a:ext>
                  </a:extLst>
                </a:gridCol>
              </a:tblGrid>
              <a:tr h="223267">
                <a:tc>
                  <a:txBody>
                    <a:bodyPr/>
                    <a:lstStyle/>
                    <a:p>
                      <a:pPr algn="ctr" fontAlgn="t">
                        <a:buNone/>
                      </a:pPr>
                      <a:r>
                        <a:rPr lang="en-IN" sz="1200" u="none" strike="noStrike" dirty="0">
                          <a:effectLst/>
                        </a:rPr>
                        <a:t>Feature</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count</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mean</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min</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25%</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50%</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75%</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max</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std</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median</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mode</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range</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variance</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skewness</a:t>
                      </a:r>
                      <a:endParaRPr lang="en-IN" sz="1100" b="1" i="0" u="none" strike="noStrike">
                        <a:solidFill>
                          <a:srgbClr val="000000"/>
                        </a:solidFill>
                        <a:effectLst/>
                        <a:latin typeface="Calibri" panose="020F0502020204030204" pitchFamily="34" charset="0"/>
                      </a:endParaRPr>
                    </a:p>
                  </a:txBody>
                  <a:tcPr marL="7620" marR="7620" marT="7620" marB="0"/>
                </a:tc>
                <a:tc>
                  <a:txBody>
                    <a:bodyPr/>
                    <a:lstStyle/>
                    <a:p>
                      <a:pPr algn="ctr" fontAlgn="t">
                        <a:buNone/>
                      </a:pPr>
                      <a:r>
                        <a:rPr lang="en-IN" sz="1100" u="none" strike="noStrike">
                          <a:effectLst/>
                        </a:rPr>
                        <a:t>kurtosis</a:t>
                      </a:r>
                      <a:endParaRPr lang="en-IN" sz="1100" b="1"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069866694"/>
                  </a:ext>
                </a:extLst>
              </a:tr>
              <a:tr h="223267">
                <a:tc>
                  <a:txBody>
                    <a:bodyPr/>
                    <a:lstStyle/>
                    <a:p>
                      <a:pPr algn="ctr" fontAlgn="t">
                        <a:buNone/>
                      </a:pPr>
                      <a:r>
                        <a:rPr lang="en-IN" sz="1200" u="none" strike="noStrike" dirty="0" err="1">
                          <a:effectLst/>
                        </a:rPr>
                        <a:t>delay_rate</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11.41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5.32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9.52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15.08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712.00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9.52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712.00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100.39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7.11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230.30</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2614225331"/>
                  </a:ext>
                </a:extLst>
              </a:tr>
              <a:tr h="223267">
                <a:tc>
                  <a:txBody>
                    <a:bodyPr/>
                    <a:lstStyle/>
                    <a:p>
                      <a:pPr algn="ctr" fontAlgn="t">
                        <a:buNone/>
                      </a:pPr>
                      <a:r>
                        <a:rPr lang="en-IN" sz="1200" u="none" strike="noStrike" dirty="0" err="1">
                          <a:effectLst/>
                        </a:rPr>
                        <a:t>carrier_delay_share</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0.38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0.23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0.35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0.51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0.24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0.35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0.57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dirty="0">
                          <a:effectLst/>
                        </a:rPr>
                        <a:t>0.06</a:t>
                      </a:r>
                      <a:endParaRPr lang="en-IN" sz="1100" b="0" i="0" u="none" strike="noStrike" dirty="0">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817514316"/>
                  </a:ext>
                </a:extLst>
              </a:tr>
              <a:tr h="223267">
                <a:tc>
                  <a:txBody>
                    <a:bodyPr/>
                    <a:lstStyle/>
                    <a:p>
                      <a:pPr algn="ctr" fontAlgn="t">
                        <a:buNone/>
                      </a:pPr>
                      <a:r>
                        <a:rPr lang="en-IN" sz="1200" u="none" strike="noStrike" dirty="0" err="1">
                          <a:effectLst/>
                        </a:rPr>
                        <a:t>weather_delay_share</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3.78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18.37</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2060523644"/>
                  </a:ext>
                </a:extLst>
              </a:tr>
              <a:tr h="223267">
                <a:tc>
                  <a:txBody>
                    <a:bodyPr/>
                    <a:lstStyle/>
                    <a:p>
                      <a:pPr algn="ctr" fontAlgn="t">
                        <a:buNone/>
                      </a:pPr>
                      <a:r>
                        <a:rPr lang="en-IN" sz="1200" u="none" strike="noStrike">
                          <a:effectLst/>
                        </a:rPr>
                        <a:t>nas_delay_share</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dirty="0">
                          <a:effectLst/>
                        </a:rPr>
                        <a:t>0.26</a:t>
                      </a:r>
                      <a:endParaRPr lang="en-IN" sz="1100" b="0"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4.10</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404298075"/>
                  </a:ext>
                </a:extLst>
              </a:tr>
              <a:tr h="223267">
                <a:tc>
                  <a:txBody>
                    <a:bodyPr/>
                    <a:lstStyle/>
                    <a:p>
                      <a:pPr algn="ctr" fontAlgn="t">
                        <a:buNone/>
                      </a:pPr>
                      <a:r>
                        <a:rPr lang="en-IN" sz="1200" u="none" strike="noStrike">
                          <a:effectLst/>
                        </a:rPr>
                        <a:t>security_delay_share</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29.14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1201.02</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46918105"/>
                  </a:ext>
                </a:extLst>
              </a:tr>
              <a:tr h="223267">
                <a:tc>
                  <a:txBody>
                    <a:bodyPr/>
                    <a:lstStyle/>
                    <a:p>
                      <a:pPr algn="ctr" fontAlgn="t">
                        <a:buNone/>
                      </a:pPr>
                      <a:r>
                        <a:rPr lang="en-IN" sz="1200" u="none" strike="noStrike">
                          <a:effectLst/>
                        </a:rPr>
                        <a:t>late_aircraft_delay_share</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0.32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0.33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0.47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0.22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0.33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0.28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-0.31</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097083244"/>
                  </a:ext>
                </a:extLst>
              </a:tr>
              <a:tr h="223267">
                <a:tc>
                  <a:txBody>
                    <a:bodyPr/>
                    <a:lstStyle/>
                    <a:p>
                      <a:pPr algn="ctr" fontAlgn="t">
                        <a:buNone/>
                      </a:pPr>
                      <a:r>
                        <a:rPr lang="en-IN" sz="1200" u="none" strike="noStrike">
                          <a:effectLst/>
                        </a:rPr>
                        <a:t>carrier_delay_freq</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4.20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46.58</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42102313"/>
                  </a:ext>
                </a:extLst>
              </a:tr>
              <a:tr h="223267">
                <a:tc>
                  <a:txBody>
                    <a:bodyPr/>
                    <a:lstStyle/>
                    <a:p>
                      <a:pPr algn="ctr" fontAlgn="t">
                        <a:buNone/>
                      </a:pPr>
                      <a:r>
                        <a:rPr lang="en-IN" sz="1200" u="none" strike="noStrike">
                          <a:effectLst/>
                        </a:rPr>
                        <a:t>weather_delay_freq</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16.60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668.61</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1797978128"/>
                  </a:ext>
                </a:extLst>
              </a:tr>
              <a:tr h="223267">
                <a:tc>
                  <a:txBody>
                    <a:bodyPr/>
                    <a:lstStyle/>
                    <a:p>
                      <a:pPr algn="ctr" fontAlgn="t">
                        <a:buNone/>
                      </a:pPr>
                      <a:r>
                        <a:rPr lang="en-IN" sz="1200" u="none" strike="noStrike">
                          <a:effectLst/>
                        </a:rPr>
                        <a:t>nas_delay_freq</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dirty="0">
                          <a:effectLst/>
                        </a:rPr>
                        <a:t>0.02</a:t>
                      </a:r>
                      <a:endParaRPr lang="en-IN" sz="1100" b="0"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4.15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46.60</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932360054"/>
                  </a:ext>
                </a:extLst>
              </a:tr>
              <a:tr h="223267">
                <a:tc>
                  <a:txBody>
                    <a:bodyPr/>
                    <a:lstStyle/>
                    <a:p>
                      <a:pPr algn="ctr" fontAlgn="t">
                        <a:buNone/>
                      </a:pPr>
                      <a:r>
                        <a:rPr lang="en-IN" sz="1200" u="none" strike="noStrike">
                          <a:effectLst/>
                        </a:rPr>
                        <a:t>security_delay_freq</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dirty="0">
                          <a:effectLst/>
                        </a:rPr>
                        <a:t>0.00</a:t>
                      </a:r>
                      <a:endParaRPr lang="en-IN" sz="1100" b="0"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0.50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38.93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3568.29</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2477192544"/>
                  </a:ext>
                </a:extLst>
              </a:tr>
              <a:tr h="223267">
                <a:tc>
                  <a:txBody>
                    <a:bodyPr/>
                    <a:lstStyle/>
                    <a:p>
                      <a:pPr algn="ctr" fontAlgn="t">
                        <a:buNone/>
                      </a:pPr>
                      <a:r>
                        <a:rPr lang="en-IN" sz="1200" u="none" strike="noStrike">
                          <a:effectLst/>
                        </a:rPr>
                        <a:t>late_aircraft_delay_freq</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dirty="0">
                          <a:effectLst/>
                        </a:rPr>
                        <a:t>0.08</a:t>
                      </a:r>
                      <a:endParaRPr lang="en-IN" sz="1100" b="0"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2.80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25.56</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2254321239"/>
                  </a:ext>
                </a:extLst>
              </a:tr>
              <a:tr h="223267">
                <a:tc>
                  <a:txBody>
                    <a:bodyPr/>
                    <a:lstStyle/>
                    <a:p>
                      <a:pPr algn="ctr" fontAlgn="t">
                        <a:buNone/>
                      </a:pPr>
                      <a:r>
                        <a:rPr lang="en-IN" sz="1200" u="none" strike="noStrike">
                          <a:effectLst/>
                        </a:rPr>
                        <a:t>delay_frequency</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0.24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1.39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5.96</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724748355"/>
                  </a:ext>
                </a:extLst>
              </a:tr>
              <a:tr h="223267">
                <a:tc>
                  <a:txBody>
                    <a:bodyPr/>
                    <a:lstStyle/>
                    <a:p>
                      <a:pPr algn="ctr" fontAlgn="t">
                        <a:buNone/>
                      </a:pPr>
                      <a:r>
                        <a:rPr lang="en-IN" sz="1200" u="none" strike="noStrike">
                          <a:effectLst/>
                        </a:rPr>
                        <a:t>carrier_avg_delay</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59.34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38.00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52.71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71.29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1561.00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46.55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52.71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1561.00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2166.70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6.07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94.17</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1279449750"/>
                  </a:ext>
                </a:extLst>
              </a:tr>
              <a:tr h="223267">
                <a:tc>
                  <a:txBody>
                    <a:bodyPr/>
                    <a:lstStyle/>
                    <a:p>
                      <a:pPr algn="ctr" fontAlgn="t">
                        <a:buNone/>
                      </a:pPr>
                      <a:r>
                        <a:rPr lang="en-IN" sz="1200" u="none" strike="noStrike" dirty="0" err="1">
                          <a:effectLst/>
                        </a:rPr>
                        <a:t>weather_avg_delay</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53.47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31.25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78.57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2475.00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84.90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31.25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2475.00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7207.23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4.58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37.49</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183823952"/>
                  </a:ext>
                </a:extLst>
              </a:tr>
              <a:tr h="223267">
                <a:tc>
                  <a:txBody>
                    <a:bodyPr/>
                    <a:lstStyle/>
                    <a:p>
                      <a:pPr algn="ctr" fontAlgn="t">
                        <a:buNone/>
                      </a:pPr>
                      <a:r>
                        <a:rPr lang="en-IN" sz="1200" u="none" strike="noStrike">
                          <a:effectLst/>
                        </a:rPr>
                        <a:t>nas_avg_delay</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37.80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25.00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34.66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46.28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1223.93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33.65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34.66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1223.93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1132.10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8.69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172.01</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699187369"/>
                  </a:ext>
                </a:extLst>
              </a:tr>
              <a:tr h="223267">
                <a:tc>
                  <a:txBody>
                    <a:bodyPr/>
                    <a:lstStyle/>
                    <a:p>
                      <a:pPr algn="ctr" fontAlgn="t">
                        <a:buNone/>
                      </a:pPr>
                      <a:r>
                        <a:rPr lang="en-IN" sz="1200" u="none" strike="noStrike">
                          <a:effectLst/>
                        </a:rPr>
                        <a:t>security_avg_delay</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5.95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1700.00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22.05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1700.00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486.21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328.30</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1338298141"/>
                  </a:ext>
                </a:extLst>
              </a:tr>
              <a:tr h="223267">
                <a:tc>
                  <a:txBody>
                    <a:bodyPr/>
                    <a:lstStyle/>
                    <a:p>
                      <a:pPr algn="ctr" fontAlgn="t">
                        <a:buNone/>
                      </a:pPr>
                      <a:r>
                        <a:rPr lang="en-IN" sz="1200" u="none" strike="noStrike" dirty="0" err="1">
                          <a:effectLst/>
                        </a:rPr>
                        <a:t>late_aircraft_avg_delay</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58.81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36.44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57.68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77.43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1548.05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43.20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57.68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1548.05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1866.47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4.03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61.14</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4137608600"/>
                  </a:ext>
                </a:extLst>
              </a:tr>
              <a:tr h="223267">
                <a:tc>
                  <a:txBody>
                    <a:bodyPr/>
                    <a:lstStyle/>
                    <a:p>
                      <a:pPr algn="ctr" fontAlgn="t">
                        <a:buNone/>
                      </a:pPr>
                      <a:r>
                        <a:rPr lang="en-IN" sz="1200" u="none" strike="noStrike" dirty="0" err="1">
                          <a:effectLst/>
                        </a:rPr>
                        <a:t>avg_delay_per_delayed_flight</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58.35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42.33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54.63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68.96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1551.00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35.28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54.63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1551.00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1245.00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6.91</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141.08</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883921526"/>
                  </a:ext>
                </a:extLst>
              </a:tr>
              <a:tr h="223267">
                <a:tc>
                  <a:txBody>
                    <a:bodyPr/>
                    <a:lstStyle/>
                    <a:p>
                      <a:pPr algn="ctr" fontAlgn="t">
                        <a:buNone/>
                      </a:pPr>
                      <a:r>
                        <a:rPr lang="en-IN" sz="1200" u="none" strike="noStrike">
                          <a:effectLst/>
                        </a:rPr>
                        <a:t>cancel_rate</a:t>
                      </a:r>
                      <a:endParaRPr lang="en-IN" sz="1200" b="1"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7.96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85.77</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62988566"/>
                  </a:ext>
                </a:extLst>
              </a:tr>
              <a:tr h="223267">
                <a:tc>
                  <a:txBody>
                    <a:bodyPr/>
                    <a:lstStyle/>
                    <a:p>
                      <a:pPr algn="ctr" fontAlgn="t">
                        <a:buNone/>
                      </a:pPr>
                      <a:r>
                        <a:rPr lang="en-IN" sz="1200" u="none" strike="noStrike" dirty="0" err="1">
                          <a:effectLst/>
                        </a:rPr>
                        <a:t>severe_delay_flights</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27.43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14.00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1005.00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90.55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1005.00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8199.19</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5.95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41.99</a:t>
                      </a:r>
                      <a:endParaRPr lang="en-IN" sz="1100" b="0" i="0" u="none" strike="noStrike">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734000061"/>
                  </a:ext>
                </a:extLst>
              </a:tr>
              <a:tr h="223267">
                <a:tc>
                  <a:txBody>
                    <a:bodyPr/>
                    <a:lstStyle/>
                    <a:p>
                      <a:pPr algn="ctr" fontAlgn="t">
                        <a:buNone/>
                      </a:pPr>
                      <a:r>
                        <a:rPr lang="en-IN" sz="1200" u="none" strike="noStrike" dirty="0" err="1">
                          <a:effectLst/>
                        </a:rPr>
                        <a:t>disruption_score</a:t>
                      </a:r>
                      <a:endParaRPr lang="en-IN" sz="1200" b="1" i="0" u="none" strike="noStrike" dirty="0">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171426</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0.32</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0.24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0.38</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0.35</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0.24</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5.00</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0.13</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a:effectLst/>
                        </a:rPr>
                        <a:t>6.27</a:t>
                      </a:r>
                      <a:endParaRPr lang="en-IN" sz="1100" b="0" i="0" u="none" strike="noStrike">
                        <a:solidFill>
                          <a:srgbClr val="000000"/>
                        </a:solidFill>
                        <a:effectLst/>
                        <a:latin typeface="Calibri" panose="020F0502020204030204" pitchFamily="34" charset="0"/>
                      </a:endParaRPr>
                    </a:p>
                  </a:txBody>
                  <a:tcPr marL="7620" marR="7620" marT="7620" marB="0"/>
                </a:tc>
                <a:tc>
                  <a:txBody>
                    <a:bodyPr/>
                    <a:lstStyle/>
                    <a:p>
                      <a:pPr algn="ctr" fontAlgn="b">
                        <a:buNone/>
                      </a:pPr>
                      <a:r>
                        <a:rPr lang="en-IN" sz="1100" u="none" strike="noStrike" dirty="0">
                          <a:effectLst/>
                        </a:rPr>
                        <a:t>61.54</a:t>
                      </a:r>
                      <a:endParaRPr lang="en-IN" sz="1100" b="0" i="0" u="none" strike="noStrike" dirty="0">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2596586638"/>
                  </a:ext>
                </a:extLst>
              </a:tr>
            </a:tbl>
          </a:graphicData>
        </a:graphic>
      </p:graphicFrame>
    </p:spTree>
    <p:extLst>
      <p:ext uri="{BB962C8B-B14F-4D97-AF65-F5344CB8AC3E}">
        <p14:creationId xmlns:p14="http://schemas.microsoft.com/office/powerpoint/2010/main" val="3944595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129C6-EA58-9883-DB31-7E4412E134C0}"/>
              </a:ext>
            </a:extLst>
          </p:cNvPr>
          <p:cNvSpPr>
            <a:spLocks noGrp="1"/>
          </p:cNvSpPr>
          <p:nvPr>
            <p:ph type="title"/>
          </p:nvPr>
        </p:nvSpPr>
        <p:spPr>
          <a:xfrm>
            <a:off x="838200" y="365125"/>
            <a:ext cx="10515600" cy="752475"/>
          </a:xfrm>
        </p:spPr>
        <p:txBody>
          <a:bodyPr/>
          <a:lstStyle/>
          <a:p>
            <a:r>
              <a:rPr lang="en-US" b="1" dirty="0">
                <a:solidFill>
                  <a:schemeClr val="bg1"/>
                </a:solidFill>
              </a:rPr>
              <a:t>Exploratory Data Analysis</a:t>
            </a:r>
            <a:endParaRPr lang="en-IN" b="1" dirty="0">
              <a:solidFill>
                <a:schemeClr val="bg1"/>
              </a:solidFill>
            </a:endParaRPr>
          </a:p>
        </p:txBody>
      </p:sp>
      <p:graphicFrame>
        <p:nvGraphicFramePr>
          <p:cNvPr id="5" name="Content Placeholder 4">
            <a:extLst>
              <a:ext uri="{FF2B5EF4-FFF2-40B4-BE49-F238E27FC236}">
                <a16:creationId xmlns:a16="http://schemas.microsoft.com/office/drawing/2014/main" id="{3AC9A9BC-DF13-EA64-4CE2-FE3CD855FD45}"/>
              </a:ext>
            </a:extLst>
          </p:cNvPr>
          <p:cNvGraphicFramePr>
            <a:graphicFrameLocks noGrp="1" noChangeAspect="1"/>
          </p:cNvGraphicFramePr>
          <p:nvPr>
            <p:ph idx="1"/>
            <p:extLst>
              <p:ext uri="{D42A27DB-BD31-4B8C-83A1-F6EECF244321}">
                <p14:modId xmlns:p14="http://schemas.microsoft.com/office/powerpoint/2010/main" val="2913911112"/>
              </p:ext>
            </p:extLst>
          </p:nvPr>
        </p:nvGraphicFramePr>
        <p:xfrm>
          <a:off x="838200" y="1219200"/>
          <a:ext cx="10515600" cy="5273675"/>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041912719"/>
                    </a:ext>
                  </a:extLst>
                </a:gridCol>
                <a:gridCol w="5257800">
                  <a:extLst>
                    <a:ext uri="{9D8B030D-6E8A-4147-A177-3AD203B41FA5}">
                      <a16:colId xmlns:a16="http://schemas.microsoft.com/office/drawing/2014/main" val="1473795553"/>
                    </a:ext>
                  </a:extLst>
                </a:gridCol>
              </a:tblGrid>
              <a:tr h="381544">
                <a:tc>
                  <a:txBody>
                    <a:bodyPr/>
                    <a:lstStyle/>
                    <a:p>
                      <a:pPr algn="ctr"/>
                      <a:r>
                        <a:rPr lang="en-US" dirty="0"/>
                        <a:t>Statistical Insights</a:t>
                      </a:r>
                      <a:endParaRPr lang="en-IN" dirty="0"/>
                    </a:p>
                  </a:txBody>
                  <a:tcPr/>
                </a:tc>
                <a:tc>
                  <a:txBody>
                    <a:bodyPr/>
                    <a:lstStyle/>
                    <a:p>
                      <a:pPr algn="ctr"/>
                      <a:r>
                        <a:rPr lang="en-US" dirty="0"/>
                        <a:t>Business Insights</a:t>
                      </a:r>
                      <a:endParaRPr lang="en-IN" dirty="0"/>
                    </a:p>
                  </a:txBody>
                  <a:tcPr/>
                </a:tc>
                <a:extLst>
                  <a:ext uri="{0D108BD9-81ED-4DB2-BD59-A6C34878D82A}">
                    <a16:rowId xmlns:a16="http://schemas.microsoft.com/office/drawing/2014/main" val="4054634712"/>
                  </a:ext>
                </a:extLst>
              </a:tr>
              <a:tr h="14111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err="1"/>
                        <a:t>Arr</a:t>
                      </a:r>
                      <a:r>
                        <a:rPr lang="en-IN" sz="1200" b="1" dirty="0"/>
                        <a:t> Flights:</a:t>
                      </a:r>
                      <a:r>
                        <a:rPr lang="en-IN" sz="1200" dirty="0"/>
                        <a:t> The 1st Moment (Central Tendency) shows that the mean (363) is substantially higher than the median (100) and mode (31), indicating flight volume is concentrated in a relatively small number of observations. The 2nd Moment (Dispersion) shows a large range (21,976) and high standard deviation (993), indicating significant variation in flight volume across observations. The 3rd &amp; 4th Moments show skewness (8.44), indicating extreme right skew, while kurtosis (114.38) indicates very heavy tails and numerous extreme values.</a:t>
                      </a:r>
                      <a:endParaRPr lang="en-IN" sz="1200" kern="1200" dirty="0">
                        <a:solidFill>
                          <a:schemeClr val="dk1"/>
                        </a:solidFill>
                        <a:effectLst/>
                        <a:latin typeface="+mn-lt"/>
                        <a:ea typeface="+mn-ea"/>
                        <a:cs typeface="+mn-cs"/>
                      </a:endParaRPr>
                    </a:p>
                  </a:txBody>
                  <a:tcPr/>
                </a:tc>
                <a:tc>
                  <a:txBody>
                    <a:bodyPr/>
                    <a:lstStyle/>
                    <a:p>
                      <a:pPr algn="ctr"/>
                      <a:r>
                        <a:rPr lang="en-IN" sz="1200" b="1" dirty="0" err="1"/>
                        <a:t>Arr</a:t>
                      </a:r>
                      <a:r>
                        <a:rPr lang="en-IN" sz="1200" b="1" dirty="0"/>
                        <a:t> Flights:</a:t>
                      </a:r>
                      <a:r>
                        <a:rPr lang="en-IN" sz="1200" dirty="0"/>
                        <a:t> Flight volume varies significantly across airline-airport-month combinations, ranging from 1 to over 21,000 arrivals. The strong right skew (8.44) indicates a small number of very busy routes while most observations have relatively low traffic. Median arrivals (100) are much lower than the mean (363), confirming the presence of high-volume outliers.</a:t>
                      </a:r>
                    </a:p>
                  </a:txBody>
                  <a:tcPr/>
                </a:tc>
                <a:extLst>
                  <a:ext uri="{0D108BD9-81ED-4DB2-BD59-A6C34878D82A}">
                    <a16:rowId xmlns:a16="http://schemas.microsoft.com/office/drawing/2014/main" val="3394740934"/>
                  </a:ext>
                </a:extLst>
              </a:tr>
              <a:tr h="1223033">
                <a:tc>
                  <a:txBody>
                    <a:bodyPr/>
                    <a:lstStyle/>
                    <a:p>
                      <a:pPr algn="ctr"/>
                      <a:r>
                        <a:rPr lang="en-IN" sz="1200" b="1" dirty="0" err="1"/>
                        <a:t>Arr</a:t>
                      </a:r>
                      <a:r>
                        <a:rPr lang="en-IN" sz="1200" b="1" dirty="0"/>
                        <a:t> Del15:</a:t>
                      </a:r>
                      <a:r>
                        <a:rPr lang="en-IN" sz="1200" dirty="0"/>
                        <a:t> The 1st Moment shows the mean (66) exceeds the median (17) and mode (0), indicating most observations experience relatively few delayed flights. The 2nd Moment shows a large range (4,176) and high standard deviation (180), indicating substantial variability. The 3rd &amp; 4th Moments show strong positive skewness (7.26) and high kurtosis (78.70), indicating concentration near zero with occasional extreme delay counts.</a:t>
                      </a:r>
                    </a:p>
                  </a:txBody>
                  <a:tcPr/>
                </a:tc>
                <a:tc>
                  <a:txBody>
                    <a:bodyPr/>
                    <a:lstStyle/>
                    <a:p>
                      <a:pPr algn="ctr"/>
                      <a:r>
                        <a:rPr lang="en-IN" sz="1200" b="1" dirty="0" err="1"/>
                        <a:t>Arr</a:t>
                      </a:r>
                      <a:r>
                        <a:rPr lang="en-IN" sz="1200" b="1" dirty="0"/>
                        <a:t> Del15:</a:t>
                      </a:r>
                      <a:r>
                        <a:rPr lang="en-IN" sz="1200" dirty="0"/>
                        <a:t> Most records contain relatively few delayed flights, with a median of 17 flights delayed more than 15 minutes. The distribution is highly right-skewed, indicating that severe delay events occur in only a limited number of observations. Large variability suggests operational performance differs considerably across airports and airlines.</a:t>
                      </a:r>
                    </a:p>
                  </a:txBody>
                  <a:tcPr/>
                </a:tc>
                <a:extLst>
                  <a:ext uri="{0D108BD9-81ED-4DB2-BD59-A6C34878D82A}">
                    <a16:rowId xmlns:a16="http://schemas.microsoft.com/office/drawing/2014/main" val="3113721833"/>
                  </a:ext>
                </a:extLst>
              </a:tr>
              <a:tr h="1034874">
                <a:tc>
                  <a:txBody>
                    <a:bodyPr/>
                    <a:lstStyle/>
                    <a:p>
                      <a:pPr algn="ctr"/>
                      <a:r>
                        <a:rPr lang="en-IN" sz="1200" b="1" dirty="0"/>
                        <a:t>Carrier Ct:</a:t>
                      </a:r>
                      <a:r>
                        <a:rPr lang="en-IN" sz="1200" dirty="0"/>
                        <a:t> The 1st Moment shows the mean (20.8) is much higher than the median (6.4), indicating delayed flights caused by carriers are concentrated in fewer observations. The 2nd Moment shows high variability from the range (1,293.9) and standard deviation (50.3). The 3rd &amp; 4th Moments show the distribution is highly right-skewed (7.00) with heavy tails (75.51).</a:t>
                      </a:r>
                    </a:p>
                  </a:txBody>
                  <a:tcPr/>
                </a:tc>
                <a:tc>
                  <a:txBody>
                    <a:bodyPr/>
                    <a:lstStyle/>
                    <a:p>
                      <a:pPr algn="ctr"/>
                      <a:r>
                        <a:rPr lang="en-IN" sz="1200" b="1" dirty="0"/>
                        <a:t>Carrier Ct:</a:t>
                      </a:r>
                      <a:r>
                        <a:rPr lang="en-IN" sz="1200" dirty="0"/>
                        <a:t> Airline-controlled operational issues account for a meaningful share of delay occurrences. Most observations experience relatively few carrier-related delays, but some locations show exceptionally high counts. Strong skewness suggests carrier-related disruptions are concentrated in specific situations rather than uniformly distributed.</a:t>
                      </a:r>
                    </a:p>
                  </a:txBody>
                  <a:tcPr/>
                </a:tc>
                <a:extLst>
                  <a:ext uri="{0D108BD9-81ED-4DB2-BD59-A6C34878D82A}">
                    <a16:rowId xmlns:a16="http://schemas.microsoft.com/office/drawing/2014/main" val="891972243"/>
                  </a:ext>
                </a:extLst>
              </a:tr>
              <a:tr h="1223033">
                <a:tc>
                  <a:txBody>
                    <a:bodyPr/>
                    <a:lstStyle/>
                    <a:p>
                      <a:pPr algn="ctr"/>
                      <a:r>
                        <a:rPr lang="en-IN" sz="1200" b="1" dirty="0"/>
                        <a:t>Weather Ct:</a:t>
                      </a:r>
                      <a:r>
                        <a:rPr lang="en-IN" sz="1200" dirty="0"/>
                        <a:t> The 1st Moment shows the mean (2.25) greatly exceeds the median (0.4) and mode (0), indicating weather delays are absent in most observations. The 2nd Moment shows the range (266.4) is large relative to the mean, indicating sporadic spikes. The 3rd &amp; 4th Moments show extremely right-skewed </a:t>
                      </a:r>
                      <a:r>
                        <a:rPr lang="en-IN" sz="1200" dirty="0" err="1"/>
                        <a:t>behavior</a:t>
                      </a:r>
                      <a:r>
                        <a:rPr lang="en-IN" sz="1200" dirty="0"/>
                        <a:t> (10.79) with very high kurtosis (182.78), suggesting rare but extreme weather events.</a:t>
                      </a:r>
                    </a:p>
                  </a:txBody>
                  <a:tcPr/>
                </a:tc>
                <a:tc>
                  <a:txBody>
                    <a:bodyPr/>
                    <a:lstStyle/>
                    <a:p>
                      <a:pPr algn="ctr"/>
                      <a:r>
                        <a:rPr lang="en-IN" sz="1200" b="1" dirty="0"/>
                        <a:t>Weather Ct:</a:t>
                      </a:r>
                      <a:r>
                        <a:rPr lang="en-IN" sz="1200" dirty="0"/>
                        <a:t> Weather delays are generally infrequent, with most observations reporting near-zero values. The median value is only 0.4, indicating weather is not a routine source of disruption. However, extreme weather events create occasional spikes, producing high skewness and kurtosis.</a:t>
                      </a:r>
                    </a:p>
                  </a:txBody>
                  <a:tcPr/>
                </a:tc>
                <a:extLst>
                  <a:ext uri="{0D108BD9-81ED-4DB2-BD59-A6C34878D82A}">
                    <a16:rowId xmlns:a16="http://schemas.microsoft.com/office/drawing/2014/main" val="3581696161"/>
                  </a:ext>
                </a:extLst>
              </a:tr>
            </a:tbl>
          </a:graphicData>
        </a:graphic>
      </p:graphicFrame>
    </p:spTree>
    <p:extLst>
      <p:ext uri="{BB962C8B-B14F-4D97-AF65-F5344CB8AC3E}">
        <p14:creationId xmlns:p14="http://schemas.microsoft.com/office/powerpoint/2010/main" val="2419034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41240-DE3D-2759-21BC-8A06E1F6B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51397-587F-4D46-D49C-75B3E17A8A7C}"/>
              </a:ext>
            </a:extLst>
          </p:cNvPr>
          <p:cNvSpPr>
            <a:spLocks noGrp="1"/>
          </p:cNvSpPr>
          <p:nvPr>
            <p:ph type="title"/>
          </p:nvPr>
        </p:nvSpPr>
        <p:spPr>
          <a:xfrm>
            <a:off x="838200" y="365125"/>
            <a:ext cx="10515600" cy="752400"/>
          </a:xfrm>
        </p:spPr>
        <p:txBody>
          <a:bodyPr vert="horz" lIns="91440" tIns="45720" rIns="91440" bIns="45720" rtlCol="0" anchor="ctr">
            <a:normAutofit/>
          </a:bodyPr>
          <a:lstStyle/>
          <a:p>
            <a:r>
              <a:rPr lang="en-US" b="1" dirty="0">
                <a:solidFill>
                  <a:schemeClr val="bg1"/>
                </a:solidFill>
              </a:rPr>
              <a:t>Exploratory Data Analysis</a:t>
            </a:r>
            <a:endParaRPr lang="en-IN" b="1" dirty="0">
              <a:solidFill>
                <a:schemeClr val="bg1"/>
              </a:solidFill>
            </a:endParaRPr>
          </a:p>
        </p:txBody>
      </p:sp>
      <p:graphicFrame>
        <p:nvGraphicFramePr>
          <p:cNvPr id="6" name="Content Placeholder 4">
            <a:extLst>
              <a:ext uri="{FF2B5EF4-FFF2-40B4-BE49-F238E27FC236}">
                <a16:creationId xmlns:a16="http://schemas.microsoft.com/office/drawing/2014/main" id="{8E186437-8400-D318-2834-36EB037B4871}"/>
              </a:ext>
            </a:extLst>
          </p:cNvPr>
          <p:cNvGraphicFramePr>
            <a:graphicFrameLocks noChangeAspect="1"/>
          </p:cNvGraphicFramePr>
          <p:nvPr>
            <p:extLst>
              <p:ext uri="{D42A27DB-BD31-4B8C-83A1-F6EECF244321}">
                <p14:modId xmlns:p14="http://schemas.microsoft.com/office/powerpoint/2010/main" val="930505771"/>
              </p:ext>
            </p:extLst>
          </p:nvPr>
        </p:nvGraphicFramePr>
        <p:xfrm>
          <a:off x="838200" y="1219200"/>
          <a:ext cx="10515600" cy="5273675"/>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041912719"/>
                    </a:ext>
                  </a:extLst>
                </a:gridCol>
                <a:gridCol w="5257800">
                  <a:extLst>
                    <a:ext uri="{9D8B030D-6E8A-4147-A177-3AD203B41FA5}">
                      <a16:colId xmlns:a16="http://schemas.microsoft.com/office/drawing/2014/main" val="1473795553"/>
                    </a:ext>
                  </a:extLst>
                </a:gridCol>
              </a:tblGrid>
              <a:tr h="381544">
                <a:tc>
                  <a:txBody>
                    <a:bodyPr/>
                    <a:lstStyle/>
                    <a:p>
                      <a:pPr algn="ctr"/>
                      <a:r>
                        <a:rPr lang="en-US" dirty="0"/>
                        <a:t>Statistical Insights</a:t>
                      </a:r>
                      <a:endParaRPr lang="en-IN" dirty="0"/>
                    </a:p>
                  </a:txBody>
                  <a:tcPr/>
                </a:tc>
                <a:tc>
                  <a:txBody>
                    <a:bodyPr/>
                    <a:lstStyle/>
                    <a:p>
                      <a:pPr algn="ctr"/>
                      <a:r>
                        <a:rPr lang="en-US" dirty="0"/>
                        <a:t>Business Insights</a:t>
                      </a:r>
                      <a:endParaRPr lang="en-IN" dirty="0"/>
                    </a:p>
                  </a:txBody>
                  <a:tcPr/>
                </a:tc>
                <a:extLst>
                  <a:ext uri="{0D108BD9-81ED-4DB2-BD59-A6C34878D82A}">
                    <a16:rowId xmlns:a16="http://schemas.microsoft.com/office/drawing/2014/main" val="4054634712"/>
                  </a:ext>
                </a:extLst>
              </a:tr>
              <a:tr h="14111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t>NAS Ct:</a:t>
                      </a:r>
                      <a:r>
                        <a:rPr lang="en-IN" sz="1200" dirty="0"/>
                        <a:t> The 1st Moment shows the mean (19.38) substantially exceeds the median (3.91), indicating concentration of NAS delays in fewer observations. The 2nd Moment shows a large range (1,884) and standard deviation (61.7), indicating significant spread. The 3rd &amp; 4th Moments show strong positive skewness (8.07) and heavy tails (93.77).</a:t>
                      </a:r>
                      <a:endParaRPr lang="en-IN" sz="1200" kern="1200" dirty="0">
                        <a:solidFill>
                          <a:schemeClr val="dk1"/>
                        </a:solidFill>
                        <a:effectLst/>
                        <a:latin typeface="+mn-lt"/>
                        <a:ea typeface="+mn-ea"/>
                        <a:cs typeface="+mn-cs"/>
                      </a:endParaRPr>
                    </a:p>
                  </a:txBody>
                  <a:tcPr/>
                </a:tc>
                <a:tc>
                  <a:txBody>
                    <a:bodyPr/>
                    <a:lstStyle/>
                    <a:p>
                      <a:pPr algn="ctr"/>
                      <a:r>
                        <a:rPr lang="en-IN" sz="1200" b="1" dirty="0"/>
                        <a:t>NAS Ct:</a:t>
                      </a:r>
                      <a:r>
                        <a:rPr lang="en-IN" sz="1200" dirty="0"/>
                        <a:t> NAS (National Airspace System) delays occur more frequently than weather-related disruptions. Most observations show low-to-moderate counts, but a few periods experience substantial congestion. This suggests air traffic management constraints contribute meaningfully to network delays.</a:t>
                      </a:r>
                    </a:p>
                  </a:txBody>
                  <a:tcPr/>
                </a:tc>
                <a:extLst>
                  <a:ext uri="{0D108BD9-81ED-4DB2-BD59-A6C34878D82A}">
                    <a16:rowId xmlns:a16="http://schemas.microsoft.com/office/drawing/2014/main" val="3394740934"/>
                  </a:ext>
                </a:extLst>
              </a:tr>
              <a:tr h="1223033">
                <a:tc>
                  <a:txBody>
                    <a:bodyPr/>
                    <a:lstStyle/>
                    <a:p>
                      <a:pPr algn="ctr"/>
                      <a:r>
                        <a:rPr lang="en-IN" sz="1200" b="1" dirty="0"/>
                        <a:t>Security Ct:</a:t>
                      </a:r>
                      <a:r>
                        <a:rPr lang="en-IN" sz="1200" dirty="0"/>
                        <a:t> The 1st Moment shows the median and mode are both zero while the mean is only 0.16, indicating security delays are nearly absent. The 2nd Moment shows low average occurrence but high relative variability. The 3rd &amp; 4th Moments show extreme skewness (15.12) and kurtosis (576.47), indicating a highly sparse distribution with rare extreme values.</a:t>
                      </a:r>
                    </a:p>
                  </a:txBody>
                  <a:tcPr/>
                </a:tc>
                <a:tc>
                  <a:txBody>
                    <a:bodyPr/>
                    <a:lstStyle/>
                    <a:p>
                      <a:pPr algn="ctr"/>
                      <a:r>
                        <a:rPr lang="en-IN" sz="1200" b="1" dirty="0"/>
                        <a:t>Security Ct:</a:t>
                      </a:r>
                      <a:r>
                        <a:rPr lang="en-IN" sz="1200" dirty="0"/>
                        <a:t> Security-related delays are extremely rare across the dataset. The median and mode are both zero, indicating most observations experience no security disruptions. When security delays occur, they are isolated events rather than systemic operational issues.</a:t>
                      </a:r>
                    </a:p>
                  </a:txBody>
                  <a:tcPr/>
                </a:tc>
                <a:extLst>
                  <a:ext uri="{0D108BD9-81ED-4DB2-BD59-A6C34878D82A}">
                    <a16:rowId xmlns:a16="http://schemas.microsoft.com/office/drawing/2014/main" val="3113721833"/>
                  </a:ext>
                </a:extLst>
              </a:tr>
              <a:tr h="1034874">
                <a:tc>
                  <a:txBody>
                    <a:bodyPr/>
                    <a:lstStyle/>
                    <a:p>
                      <a:pPr algn="ctr"/>
                      <a:r>
                        <a:rPr lang="en-IN" sz="1200" b="1" dirty="0"/>
                        <a:t>Late Aircraft Ct:</a:t>
                      </a:r>
                      <a:r>
                        <a:rPr lang="en-IN" sz="1200" dirty="0"/>
                        <a:t> The 1st Moment shows the mean (23.77) exceeds the median (5), suggesting concentration of delay events. The 2nd Moment shows a wide range (2,069) and high standard deviation (72.4). The 3rd &amp; 4th Moments show strong right skew (7.84) and heavy tails (90.10).</a:t>
                      </a:r>
                    </a:p>
                  </a:txBody>
                  <a:tcPr/>
                </a:tc>
                <a:tc>
                  <a:txBody>
                    <a:bodyPr/>
                    <a:lstStyle/>
                    <a:p>
                      <a:pPr algn="ctr"/>
                      <a:r>
                        <a:rPr lang="en-IN" sz="1200" b="1" dirty="0"/>
                        <a:t>Late Aircraft Ct:</a:t>
                      </a:r>
                      <a:r>
                        <a:rPr lang="en-IN" sz="1200" dirty="0"/>
                        <a:t> Late-arriving aircraft are among the most common causes of delay frequency. The distribution shows significant variation across observations, suggesting delay propagation effects across airline networks. This highlights the operational importance of aircraft turnaround efficiency.</a:t>
                      </a:r>
                    </a:p>
                  </a:txBody>
                  <a:tcPr/>
                </a:tc>
                <a:extLst>
                  <a:ext uri="{0D108BD9-81ED-4DB2-BD59-A6C34878D82A}">
                    <a16:rowId xmlns:a16="http://schemas.microsoft.com/office/drawing/2014/main" val="891972243"/>
                  </a:ext>
                </a:extLst>
              </a:tr>
              <a:tr h="1223033">
                <a:tc>
                  <a:txBody>
                    <a:bodyPr/>
                    <a:lstStyle/>
                    <a:p>
                      <a:pPr algn="ctr"/>
                      <a:r>
                        <a:rPr lang="en-IN" sz="1200" b="1" dirty="0" err="1"/>
                        <a:t>Arr</a:t>
                      </a:r>
                      <a:r>
                        <a:rPr lang="en-IN" sz="1200" b="1" dirty="0"/>
                        <a:t> Cancelled:</a:t>
                      </a:r>
                      <a:r>
                        <a:rPr lang="en-IN" sz="1200" dirty="0"/>
                        <a:t> The 1st Moment shows the mean (7.53) greatly exceeds the median (1), indicating cancellations are concentrated in relatively few observations. The 2nd Moment shows a large range (4,951) and standard deviation (43.65). The 3rd &amp; 4th Moments show very high skewness (33.55) and kurtosis (2,079), indicating extreme outlier </a:t>
                      </a:r>
                      <a:r>
                        <a:rPr lang="en-IN" sz="1200" dirty="0" err="1"/>
                        <a:t>behavior</a:t>
                      </a:r>
                      <a:r>
                        <a:rPr lang="en-IN" sz="1200" dirty="0"/>
                        <a:t>.</a:t>
                      </a:r>
                    </a:p>
                  </a:txBody>
                  <a:tcPr/>
                </a:tc>
                <a:tc>
                  <a:txBody>
                    <a:bodyPr/>
                    <a:lstStyle/>
                    <a:p>
                      <a:pPr algn="ctr"/>
                      <a:r>
                        <a:rPr lang="en-IN" sz="1200" b="1" dirty="0" err="1"/>
                        <a:t>Arr</a:t>
                      </a:r>
                      <a:r>
                        <a:rPr lang="en-IN" sz="1200" b="1" dirty="0"/>
                        <a:t> Cancelled:</a:t>
                      </a:r>
                      <a:r>
                        <a:rPr lang="en-IN" sz="1200" dirty="0"/>
                        <a:t> Flight cancellations are generally low relative to total flight volume. Most observations experience very few cancellations, while a small number experience severe disruption. The extreme skewness reflects the rarity but high operational impact of cancellation events.</a:t>
                      </a:r>
                    </a:p>
                  </a:txBody>
                  <a:tcPr/>
                </a:tc>
                <a:extLst>
                  <a:ext uri="{0D108BD9-81ED-4DB2-BD59-A6C34878D82A}">
                    <a16:rowId xmlns:a16="http://schemas.microsoft.com/office/drawing/2014/main" val="3581696161"/>
                  </a:ext>
                </a:extLst>
              </a:tr>
            </a:tbl>
          </a:graphicData>
        </a:graphic>
      </p:graphicFrame>
    </p:spTree>
    <p:extLst>
      <p:ext uri="{BB962C8B-B14F-4D97-AF65-F5344CB8AC3E}">
        <p14:creationId xmlns:p14="http://schemas.microsoft.com/office/powerpoint/2010/main" val="32928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42AB5-1A83-2DA7-4034-CFBCE13D6F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CE73AD-73E2-B38D-77C0-B60B36B2A880}"/>
              </a:ext>
            </a:extLst>
          </p:cNvPr>
          <p:cNvSpPr>
            <a:spLocks noGrp="1"/>
          </p:cNvSpPr>
          <p:nvPr>
            <p:ph type="title"/>
          </p:nvPr>
        </p:nvSpPr>
        <p:spPr>
          <a:xfrm>
            <a:off x="838200" y="365125"/>
            <a:ext cx="10515600" cy="752400"/>
          </a:xfrm>
        </p:spPr>
        <p:txBody>
          <a:bodyPr vert="horz" lIns="91440" tIns="45720" rIns="91440" bIns="45720" rtlCol="0" anchor="ctr">
            <a:normAutofit/>
          </a:bodyPr>
          <a:lstStyle/>
          <a:p>
            <a:r>
              <a:rPr lang="en-US" b="1" dirty="0">
                <a:solidFill>
                  <a:schemeClr val="bg1"/>
                </a:solidFill>
              </a:rPr>
              <a:t>Exploratory Data Analysis</a:t>
            </a:r>
            <a:endParaRPr lang="en-IN" b="1" dirty="0">
              <a:solidFill>
                <a:schemeClr val="bg1"/>
              </a:solidFill>
            </a:endParaRPr>
          </a:p>
        </p:txBody>
      </p:sp>
      <p:graphicFrame>
        <p:nvGraphicFramePr>
          <p:cNvPr id="6" name="Content Placeholder 4">
            <a:extLst>
              <a:ext uri="{FF2B5EF4-FFF2-40B4-BE49-F238E27FC236}">
                <a16:creationId xmlns:a16="http://schemas.microsoft.com/office/drawing/2014/main" id="{CC3DAF5B-035E-FDA0-7FBC-D0822F3E65AC}"/>
              </a:ext>
            </a:extLst>
          </p:cNvPr>
          <p:cNvGraphicFramePr>
            <a:graphicFrameLocks noChangeAspect="1"/>
          </p:cNvGraphicFramePr>
          <p:nvPr>
            <p:extLst>
              <p:ext uri="{D42A27DB-BD31-4B8C-83A1-F6EECF244321}">
                <p14:modId xmlns:p14="http://schemas.microsoft.com/office/powerpoint/2010/main" val="1917733412"/>
              </p:ext>
            </p:extLst>
          </p:nvPr>
        </p:nvGraphicFramePr>
        <p:xfrm>
          <a:off x="838200" y="1219199"/>
          <a:ext cx="10515600" cy="5273675"/>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041912719"/>
                    </a:ext>
                  </a:extLst>
                </a:gridCol>
                <a:gridCol w="5257800">
                  <a:extLst>
                    <a:ext uri="{9D8B030D-6E8A-4147-A177-3AD203B41FA5}">
                      <a16:colId xmlns:a16="http://schemas.microsoft.com/office/drawing/2014/main" val="1473795553"/>
                    </a:ext>
                  </a:extLst>
                </a:gridCol>
              </a:tblGrid>
              <a:tr h="387608">
                <a:tc>
                  <a:txBody>
                    <a:bodyPr/>
                    <a:lstStyle/>
                    <a:p>
                      <a:pPr algn="ctr"/>
                      <a:r>
                        <a:rPr lang="en-US" dirty="0"/>
                        <a:t>Statistical Insights</a:t>
                      </a:r>
                      <a:endParaRPr lang="en-IN" dirty="0"/>
                    </a:p>
                  </a:txBody>
                  <a:tcPr/>
                </a:tc>
                <a:tc>
                  <a:txBody>
                    <a:bodyPr/>
                    <a:lstStyle/>
                    <a:p>
                      <a:pPr algn="ctr"/>
                      <a:r>
                        <a:rPr lang="en-US" dirty="0"/>
                        <a:t>Business Insights</a:t>
                      </a:r>
                      <a:endParaRPr lang="en-IN" dirty="0"/>
                    </a:p>
                  </a:txBody>
                  <a:tcPr/>
                </a:tc>
                <a:extLst>
                  <a:ext uri="{0D108BD9-81ED-4DB2-BD59-A6C34878D82A}">
                    <a16:rowId xmlns:a16="http://schemas.microsoft.com/office/drawing/2014/main" val="4054634712"/>
                  </a:ext>
                </a:extLst>
              </a:tr>
              <a:tr h="95336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err="1"/>
                        <a:t>Arr</a:t>
                      </a:r>
                      <a:r>
                        <a:rPr lang="en-IN" sz="1200" b="1" dirty="0"/>
                        <a:t> Diverted:</a:t>
                      </a:r>
                      <a:r>
                        <a:rPr lang="en-IN" sz="1200" dirty="0"/>
                        <a:t> The 1st Moment shows the median and mode are zero while the mean remains below 1, indicating diversions are uncommon. The 2nd Moment shows a large range relative to average occurrence. The 3rd &amp; 4th Moments show extremely right-skewed </a:t>
                      </a:r>
                      <a:r>
                        <a:rPr lang="en-IN" sz="1200" dirty="0" err="1"/>
                        <a:t>behavior</a:t>
                      </a:r>
                      <a:r>
                        <a:rPr lang="en-IN" sz="1200" dirty="0"/>
                        <a:t> (14.55) with heavy tails (340.61).</a:t>
                      </a:r>
                      <a:endParaRPr lang="en-IN" sz="1200" kern="1200" dirty="0">
                        <a:solidFill>
                          <a:schemeClr val="dk1"/>
                        </a:solidFill>
                        <a:effectLst/>
                        <a:latin typeface="+mn-lt"/>
                        <a:ea typeface="+mn-ea"/>
                        <a:cs typeface="+mn-cs"/>
                      </a:endParaRPr>
                    </a:p>
                  </a:txBody>
                  <a:tcPr/>
                </a:tc>
                <a:tc>
                  <a:txBody>
                    <a:bodyPr/>
                    <a:lstStyle/>
                    <a:p>
                      <a:pPr algn="ctr"/>
                      <a:r>
                        <a:rPr lang="en-IN" sz="1200" b="1" dirty="0" err="1"/>
                        <a:t>Arr</a:t>
                      </a:r>
                      <a:r>
                        <a:rPr lang="en-IN" sz="1200" b="1" dirty="0"/>
                        <a:t> Diverted:</a:t>
                      </a:r>
                      <a:r>
                        <a:rPr lang="en-IN" sz="1200" dirty="0"/>
                        <a:t> Diversions are rare operational events across the dataset. The median diversion count is zero, indicating most observations experience no diversions. Despite low frequency, diversions represent significant disruption when they occur.</a:t>
                      </a:r>
                    </a:p>
                  </a:txBody>
                  <a:tcPr/>
                </a:tc>
                <a:extLst>
                  <a:ext uri="{0D108BD9-81ED-4DB2-BD59-A6C34878D82A}">
                    <a16:rowId xmlns:a16="http://schemas.microsoft.com/office/drawing/2014/main" val="3394740934"/>
                  </a:ext>
                </a:extLst>
              </a:tr>
              <a:tr h="1647335">
                <a:tc>
                  <a:txBody>
                    <a:bodyPr/>
                    <a:lstStyle/>
                    <a:p>
                      <a:pPr algn="ctr"/>
                      <a:r>
                        <a:rPr lang="en-IN" sz="1200" b="1" dirty="0"/>
                        <a:t>Delay Minute Features (</a:t>
                      </a:r>
                      <a:r>
                        <a:rPr lang="en-IN" sz="1200" b="1" dirty="0" err="1"/>
                        <a:t>Arr</a:t>
                      </a:r>
                      <a:r>
                        <a:rPr lang="en-IN" sz="1200" b="1" dirty="0"/>
                        <a:t> Delay, Carrier Delay, Weather Delay, NAS Delay, Security Delay, Late Aircraft Delay):</a:t>
                      </a:r>
                      <a:r>
                        <a:rPr lang="en-IN" sz="1200" dirty="0"/>
                        <a:t> The 1st Moment shows that for all delay-minute variables, means substantially exceed medians, indicating delay minutes are concentrated in relatively few observations. The 2nd Moment shows very large ranges and standard deviations, indicating substantial dispersion and operational variability. The 3rd &amp; 4th Moments show all delay-minute variables exhibit strong positive skewness (4–5 range) and high kurtosis (19–26 range), indicating heavy right tails and frequent extreme values.</a:t>
                      </a:r>
                    </a:p>
                  </a:txBody>
                  <a:tcPr/>
                </a:tc>
                <a:tc>
                  <a:txBody>
                    <a:bodyPr/>
                    <a:lstStyle/>
                    <a:p>
                      <a:pPr algn="ctr"/>
                      <a:r>
                        <a:rPr lang="en-IN" sz="1200" b="1" dirty="0"/>
                        <a:t>Delay Minute Features (</a:t>
                      </a:r>
                      <a:r>
                        <a:rPr lang="en-IN" sz="1200" b="1" dirty="0" err="1"/>
                        <a:t>Arr</a:t>
                      </a:r>
                      <a:r>
                        <a:rPr lang="en-IN" sz="1200" b="1" dirty="0"/>
                        <a:t> Delay, Carrier Delay, Weather Delay, NAS Delay, Security Delay, Late Aircraft Delay):</a:t>
                      </a:r>
                      <a:r>
                        <a:rPr lang="en-IN" sz="1200" dirty="0"/>
                        <a:t> Arrival delay minutes are highly concentrated in a small number of severe disruption events, with airline operational issues, NAS congestion, and late-arriving aircraft contributing the largest share of total delays. Carrier performance and delay propagation vary significantly. Weather delays are less frequently but severe. Security delays have minimal impact on overall system performance.</a:t>
                      </a:r>
                    </a:p>
                  </a:txBody>
                  <a:tcPr/>
                </a:tc>
                <a:extLst>
                  <a:ext uri="{0D108BD9-81ED-4DB2-BD59-A6C34878D82A}">
                    <a16:rowId xmlns:a16="http://schemas.microsoft.com/office/drawing/2014/main" val="3113721833"/>
                  </a:ext>
                </a:extLst>
              </a:tr>
              <a:tr h="1065923">
                <a:tc>
                  <a:txBody>
                    <a:bodyPr/>
                    <a:lstStyle/>
                    <a:p>
                      <a:pPr algn="ctr"/>
                      <a:r>
                        <a:rPr lang="en-IN" sz="1200" b="1" dirty="0"/>
                        <a:t>Delay Rate:</a:t>
                      </a:r>
                      <a:r>
                        <a:rPr lang="en-IN" sz="1200" dirty="0"/>
                        <a:t> The 1st Moment shows the mean (11.41) exceeds the median (9.52), indicating some observations experience disproportionately high delay intensity. The 2nd Moment shows a range (712) and standard deviation (10.02), indicating substantial variability after normalization. The 3rd &amp; 4th Moments show strong positive skewness (7.11) and very high kurtosis (230.30).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t>Delay Rate:</a:t>
                      </a:r>
                      <a:r>
                        <a:rPr lang="en-IN" sz="1200" dirty="0"/>
                        <a:t> </a:t>
                      </a:r>
                      <a:r>
                        <a:rPr lang="en-IN" sz="1200" kern="1200" dirty="0">
                          <a:solidFill>
                            <a:schemeClr val="dk1"/>
                          </a:solidFill>
                          <a:effectLst/>
                          <a:latin typeface="+mn-lt"/>
                          <a:ea typeface="+mn-ea"/>
                          <a:cs typeface="+mn-cs"/>
                        </a:rPr>
                        <a:t>Delay rate normalizes total delay minutes by flight volume, enabling fair comparison across operations of different sizes. Most observations exhibit moderate delay intensity, while a small number experience exceptionally poor performance. Strong skewness indicates operational inefficiency is concentrated in specific situations.</a:t>
                      </a:r>
                      <a:endParaRPr lang="en-IN" sz="1200" dirty="0"/>
                    </a:p>
                  </a:txBody>
                  <a:tcPr/>
                </a:tc>
                <a:extLst>
                  <a:ext uri="{0D108BD9-81ED-4DB2-BD59-A6C34878D82A}">
                    <a16:rowId xmlns:a16="http://schemas.microsoft.com/office/drawing/2014/main" val="891972243"/>
                  </a:ext>
                </a:extLst>
              </a:tr>
              <a:tr h="1219449">
                <a:tc>
                  <a:txBody>
                    <a:bodyPr/>
                    <a:lstStyle/>
                    <a:p>
                      <a:pPr algn="ctr"/>
                      <a:r>
                        <a:rPr lang="en-IN" sz="1200" b="1" dirty="0"/>
                        <a:t>Delay Frequency:</a:t>
                      </a:r>
                      <a:r>
                        <a:rPr lang="en-IN" sz="1200" dirty="0"/>
                        <a:t> The 1st Moment shows the mean (0.18) and median (0.17) are relatively close, indicating improved symmetry compared to raw count variables. The 2nd Moment shows moderate variability with a standard deviation of 0.11. The 3rd &amp; 4th Moments show skewness (1.39) and kurtosis (5.96), indicating a much less distorted distribution.</a:t>
                      </a:r>
                    </a:p>
                  </a:txBody>
                  <a:tcPr/>
                </a:tc>
                <a:tc>
                  <a:txBody>
                    <a:bodyPr/>
                    <a:lstStyle/>
                    <a:p>
                      <a:pPr algn="ctr"/>
                      <a:r>
                        <a:rPr lang="en-IN" sz="1200" b="1" kern="1200" dirty="0">
                          <a:solidFill>
                            <a:schemeClr val="dk1"/>
                          </a:solidFill>
                          <a:effectLst/>
                          <a:latin typeface="+mn-lt"/>
                          <a:ea typeface="+mn-ea"/>
                          <a:cs typeface="+mn-cs"/>
                        </a:rPr>
                        <a:t>Delay Frequency: </a:t>
                      </a:r>
                      <a:r>
                        <a:rPr lang="en-IN" sz="1200" kern="1200" dirty="0">
                          <a:solidFill>
                            <a:schemeClr val="dk1"/>
                          </a:solidFill>
                          <a:effectLst/>
                          <a:latin typeface="+mn-lt"/>
                          <a:ea typeface="+mn-ea"/>
                          <a:cs typeface="+mn-cs"/>
                        </a:rPr>
                        <a:t>Approximately 18% of flights are delayed more than 15 minutes on average. Most observations cluster around 11–24%, indicating relatively consistent delay frequency. Extreme cases still exist, suggesting substantial variability in operational performance.</a:t>
                      </a:r>
                      <a:endParaRPr lang="en-IN" sz="1200" dirty="0"/>
                    </a:p>
                  </a:txBody>
                  <a:tcPr/>
                </a:tc>
                <a:extLst>
                  <a:ext uri="{0D108BD9-81ED-4DB2-BD59-A6C34878D82A}">
                    <a16:rowId xmlns:a16="http://schemas.microsoft.com/office/drawing/2014/main" val="3581696161"/>
                  </a:ext>
                </a:extLst>
              </a:tr>
            </a:tbl>
          </a:graphicData>
        </a:graphic>
      </p:graphicFrame>
    </p:spTree>
    <p:extLst>
      <p:ext uri="{BB962C8B-B14F-4D97-AF65-F5344CB8AC3E}">
        <p14:creationId xmlns:p14="http://schemas.microsoft.com/office/powerpoint/2010/main" val="1394738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63FC8-86BC-4977-97D6-66A512EF9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EA7FC-4720-BD71-C77F-998BB4B64F34}"/>
              </a:ext>
            </a:extLst>
          </p:cNvPr>
          <p:cNvSpPr>
            <a:spLocks noGrp="1"/>
          </p:cNvSpPr>
          <p:nvPr>
            <p:ph type="title"/>
          </p:nvPr>
        </p:nvSpPr>
        <p:spPr>
          <a:xfrm>
            <a:off x="838200" y="365125"/>
            <a:ext cx="10515600" cy="752400"/>
          </a:xfrm>
        </p:spPr>
        <p:txBody>
          <a:bodyPr/>
          <a:lstStyle/>
          <a:p>
            <a:r>
              <a:rPr lang="en-US" b="1" dirty="0">
                <a:solidFill>
                  <a:schemeClr val="bg1"/>
                </a:solidFill>
              </a:rPr>
              <a:t>Exploratory Data Analysis</a:t>
            </a:r>
            <a:endParaRPr lang="en-IN" b="1" dirty="0">
              <a:solidFill>
                <a:schemeClr val="bg1"/>
              </a:solidFill>
            </a:endParaRPr>
          </a:p>
        </p:txBody>
      </p:sp>
      <p:graphicFrame>
        <p:nvGraphicFramePr>
          <p:cNvPr id="6" name="Content Placeholder 4">
            <a:extLst>
              <a:ext uri="{FF2B5EF4-FFF2-40B4-BE49-F238E27FC236}">
                <a16:creationId xmlns:a16="http://schemas.microsoft.com/office/drawing/2014/main" id="{DED51BBE-6818-150F-145B-CDF494794298}"/>
              </a:ext>
            </a:extLst>
          </p:cNvPr>
          <p:cNvGraphicFramePr>
            <a:graphicFrameLocks noChangeAspect="1"/>
          </p:cNvGraphicFramePr>
          <p:nvPr>
            <p:extLst>
              <p:ext uri="{D42A27DB-BD31-4B8C-83A1-F6EECF244321}">
                <p14:modId xmlns:p14="http://schemas.microsoft.com/office/powerpoint/2010/main" val="1031249761"/>
              </p:ext>
            </p:extLst>
          </p:nvPr>
        </p:nvGraphicFramePr>
        <p:xfrm>
          <a:off x="838200" y="1219200"/>
          <a:ext cx="10515600" cy="5326662"/>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041912719"/>
                    </a:ext>
                  </a:extLst>
                </a:gridCol>
                <a:gridCol w="5257800">
                  <a:extLst>
                    <a:ext uri="{9D8B030D-6E8A-4147-A177-3AD203B41FA5}">
                      <a16:colId xmlns:a16="http://schemas.microsoft.com/office/drawing/2014/main" val="1473795553"/>
                    </a:ext>
                  </a:extLst>
                </a:gridCol>
              </a:tblGrid>
              <a:tr h="412334">
                <a:tc>
                  <a:txBody>
                    <a:bodyPr/>
                    <a:lstStyle/>
                    <a:p>
                      <a:pPr algn="ctr"/>
                      <a:r>
                        <a:rPr lang="en-US" dirty="0"/>
                        <a:t>Statistical Insights</a:t>
                      </a:r>
                      <a:endParaRPr lang="en-IN" dirty="0"/>
                    </a:p>
                  </a:txBody>
                  <a:tcPr/>
                </a:tc>
                <a:tc>
                  <a:txBody>
                    <a:bodyPr/>
                    <a:lstStyle/>
                    <a:p>
                      <a:pPr algn="ctr"/>
                      <a:r>
                        <a:rPr lang="en-US" dirty="0"/>
                        <a:t>Business Insights</a:t>
                      </a:r>
                      <a:endParaRPr lang="en-IN" dirty="0"/>
                    </a:p>
                  </a:txBody>
                  <a:tcPr/>
                </a:tc>
                <a:extLst>
                  <a:ext uri="{0D108BD9-81ED-4DB2-BD59-A6C34878D82A}">
                    <a16:rowId xmlns:a16="http://schemas.microsoft.com/office/drawing/2014/main" val="4054634712"/>
                  </a:ext>
                </a:extLst>
              </a:tr>
              <a:tr h="16799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t>Delay Share Features (Carrier, Weather, NAS, Security, Late Aircraft Shares):</a:t>
                      </a:r>
                      <a:r>
                        <a:rPr lang="en-IN" sz="1200" dirty="0"/>
                        <a:t> The 1st Moment shows shares are bounded between 0 and 1, producing more interpretable distributions. The 2nd Moment shows lower variance compared with raw count and delay variables. The 3rd &amp; 4th Moments show Carrier Share is nearly symmetric (0.57 skewness), NAS Share is mildly right-skewed (1.76), Weather Share is moderately right-skewed (3.78), Security Share is extremely skewed (29.14) due to near-zero values, and Late Aircraft Share is closest to symmetric (0.28).</a:t>
                      </a:r>
                      <a:endParaRPr lang="en-IN" sz="1200" kern="1200" dirty="0">
                        <a:solidFill>
                          <a:schemeClr val="dk1"/>
                        </a:solidFill>
                        <a:effectLst/>
                        <a:latin typeface="+mn-lt"/>
                        <a:ea typeface="+mn-ea"/>
                        <a:cs typeface="+mn-cs"/>
                      </a:endParaRPr>
                    </a:p>
                  </a:txBody>
                  <a:tcPr/>
                </a:tc>
                <a:tc>
                  <a:txBody>
                    <a:bodyPr/>
                    <a:lstStyle/>
                    <a:p>
                      <a:pPr algn="ctr"/>
                      <a:r>
                        <a:rPr lang="en-IN" sz="1200" b="1" dirty="0"/>
                        <a:t>Delay Share Features (Carrier, Weather, NAS, Security, Late Aircraft Shares): </a:t>
                      </a:r>
                      <a:r>
                        <a:rPr lang="en-IN" sz="1200" dirty="0"/>
                        <a:t>Carrier-related issues account for the largest share of delay minutes, followed by late-arriving aircraft and NAS congestion, indicating that airline operations, delay propagation, and air traffic constraints are the primary drivers of system delays. Late aircraft delays are consistently observed across the network, while NAS impacts vary by airport and period. Weather contributes a relatively small but occasionally severe share of delays, whereas security-related delays have minimal operational significance and occur only in isolated cases.</a:t>
                      </a:r>
                    </a:p>
                  </a:txBody>
                  <a:tcPr/>
                </a:tc>
                <a:extLst>
                  <a:ext uri="{0D108BD9-81ED-4DB2-BD59-A6C34878D82A}">
                    <a16:rowId xmlns:a16="http://schemas.microsoft.com/office/drawing/2014/main" val="3394740934"/>
                  </a:ext>
                </a:extLst>
              </a:tr>
              <a:tr h="1501493">
                <a:tc>
                  <a:txBody>
                    <a:bodyPr/>
                    <a:lstStyle/>
                    <a:p>
                      <a:pPr algn="ctr"/>
                      <a:r>
                        <a:rPr lang="en-IN" sz="1200" b="1" dirty="0"/>
                        <a:t>Delay Frequency Features (Carrier, Weather, NAS, Security, Late Aircraft):</a:t>
                      </a:r>
                      <a:r>
                        <a:rPr lang="en-IN" sz="1200" dirty="0"/>
                        <a:t> The 1st Moment shows means remain low, indicating most flights are not affected by any specific delay cause. The 2nd Moment shows low variance due to normalization by flight volume. The 3rd &amp; 4th Moments show all remain positively skewed, while security and weather frequencies exhibit the most extreme skewness and kurtosis.</a:t>
                      </a:r>
                    </a:p>
                  </a:txBody>
                  <a:tcPr/>
                </a:tc>
                <a:tc>
                  <a:txBody>
                    <a:bodyPr/>
                    <a:lstStyle/>
                    <a:p>
                      <a:pPr algn="ctr"/>
                      <a:r>
                        <a:rPr lang="en-IN" sz="1200" b="1" dirty="0"/>
                        <a:t>Delay Frequency Features (Carrier, Weather, NAS, Security, Late Aircraft):</a:t>
                      </a:r>
                      <a:r>
                        <a:rPr lang="en-IN" sz="1200" dirty="0"/>
                        <a:t> Carrier delays are the most frequent delay type, affecting around 7% of flights and highlighting the consistent impact of airline-controlled operational issues. Late-arriving aircraft delays affect approx. 6% of flights, indicating delay propagation is a common network-wide challenge. NAS-related delays occur less frequently but remain a recurring source of disruption due to airspace congestion. Weather and security delays are relatively rare with Weather impacts driven by occasional extreme events.</a:t>
                      </a:r>
                    </a:p>
                  </a:txBody>
                  <a:tcPr/>
                </a:tc>
                <a:extLst>
                  <a:ext uri="{0D108BD9-81ED-4DB2-BD59-A6C34878D82A}">
                    <a16:rowId xmlns:a16="http://schemas.microsoft.com/office/drawing/2014/main" val="3113721833"/>
                  </a:ext>
                </a:extLst>
              </a:tr>
              <a:tr h="1679924">
                <a:tc>
                  <a:txBody>
                    <a:bodyPr/>
                    <a:lstStyle/>
                    <a:p>
                      <a:pPr algn="ctr"/>
                      <a:r>
                        <a:rPr lang="en-IN" sz="1200" b="1" dirty="0"/>
                        <a:t>Average Delay Features (Carrier </a:t>
                      </a:r>
                      <a:r>
                        <a:rPr lang="en-IN" sz="1200" b="1" dirty="0" err="1"/>
                        <a:t>Avg</a:t>
                      </a:r>
                      <a:r>
                        <a:rPr lang="en-IN" sz="1200" b="1" dirty="0"/>
                        <a:t> Delay, Weather </a:t>
                      </a:r>
                      <a:r>
                        <a:rPr lang="en-IN" sz="1200" b="1" dirty="0" err="1"/>
                        <a:t>Avg</a:t>
                      </a:r>
                      <a:r>
                        <a:rPr lang="en-IN" sz="1200" b="1" dirty="0"/>
                        <a:t> Delay, NAS </a:t>
                      </a:r>
                      <a:r>
                        <a:rPr lang="en-IN" sz="1200" b="1" dirty="0" err="1"/>
                        <a:t>Avg</a:t>
                      </a:r>
                      <a:r>
                        <a:rPr lang="en-IN" sz="1200" b="1" dirty="0"/>
                        <a:t> Delay, Security </a:t>
                      </a:r>
                      <a:r>
                        <a:rPr lang="en-IN" sz="1200" b="1" dirty="0" err="1"/>
                        <a:t>Avg</a:t>
                      </a:r>
                      <a:r>
                        <a:rPr lang="en-IN" sz="1200" b="1" dirty="0"/>
                        <a:t> Delay, Late Aircraft </a:t>
                      </a:r>
                      <a:r>
                        <a:rPr lang="en-IN" sz="1200" b="1" dirty="0" err="1"/>
                        <a:t>Avg</a:t>
                      </a:r>
                      <a:r>
                        <a:rPr lang="en-IN" sz="1200" b="1" dirty="0"/>
                        <a:t> Delay, </a:t>
                      </a:r>
                      <a:r>
                        <a:rPr lang="en-IN" sz="1200" b="1" dirty="0" err="1"/>
                        <a:t>Avg</a:t>
                      </a:r>
                      <a:r>
                        <a:rPr lang="en-IN" sz="1200" b="1" dirty="0"/>
                        <a:t> Delay per Delayed Flight):</a:t>
                      </a:r>
                      <a:r>
                        <a:rPr lang="en-IN" sz="1200" dirty="0"/>
                        <a:t> The 1st Moment shows means and medians are closer than in raw delay-minute variables, indicating improved central tendency representation. The 2nd Moment shows variation remains high but substantially reduced relative to total delay-minute measures. The 3rd &amp; 4th Moments show the distributions remain positively skewed (4–10 range), though generally less extreme than raw counts and totals.</a:t>
                      </a:r>
                    </a:p>
                  </a:txBody>
                  <a:tcPr/>
                </a:tc>
                <a:tc>
                  <a:txBody>
                    <a:bodyPr/>
                    <a:lstStyle/>
                    <a:p>
                      <a:pPr algn="ctr"/>
                      <a:r>
                        <a:rPr lang="en-IN" sz="1200" b="1" dirty="0"/>
                        <a:t>Average Delay Features (Carrier </a:t>
                      </a:r>
                      <a:r>
                        <a:rPr lang="en-IN" sz="1200" b="1" dirty="0" err="1"/>
                        <a:t>Avg</a:t>
                      </a:r>
                      <a:r>
                        <a:rPr lang="en-IN" sz="1200" b="1" dirty="0"/>
                        <a:t> Delay, Weather </a:t>
                      </a:r>
                      <a:r>
                        <a:rPr lang="en-IN" sz="1200" b="1" dirty="0" err="1"/>
                        <a:t>Avg</a:t>
                      </a:r>
                      <a:r>
                        <a:rPr lang="en-IN" sz="1200" b="1" dirty="0"/>
                        <a:t> Delay, NAS </a:t>
                      </a:r>
                      <a:r>
                        <a:rPr lang="en-IN" sz="1200" b="1" dirty="0" err="1"/>
                        <a:t>Avg</a:t>
                      </a:r>
                      <a:r>
                        <a:rPr lang="en-IN" sz="1200" b="1" dirty="0"/>
                        <a:t> Delay, Security </a:t>
                      </a:r>
                      <a:r>
                        <a:rPr lang="en-IN" sz="1200" b="1" dirty="0" err="1"/>
                        <a:t>Avg</a:t>
                      </a:r>
                      <a:r>
                        <a:rPr lang="en-IN" sz="1200" b="1" dirty="0"/>
                        <a:t> Delay, Late Aircraft </a:t>
                      </a:r>
                      <a:r>
                        <a:rPr lang="en-IN" sz="1200" b="1" dirty="0" err="1"/>
                        <a:t>Avg</a:t>
                      </a:r>
                      <a:r>
                        <a:rPr lang="en-IN" sz="1200" b="1" dirty="0"/>
                        <a:t> Delay, </a:t>
                      </a:r>
                      <a:r>
                        <a:rPr lang="en-IN" sz="1200" b="1" dirty="0" err="1"/>
                        <a:t>Avg</a:t>
                      </a:r>
                      <a:r>
                        <a:rPr lang="en-IN" sz="1200" b="1" dirty="0"/>
                        <a:t> Delay per Delayed Flight):</a:t>
                      </a:r>
                      <a:r>
                        <a:rPr lang="en-IN" sz="1200" dirty="0"/>
                        <a:t> Delayed flights lose approximately 58–59 minutes on average, indicating that when delays occur, their impact is often substantial. Carrier and late-aircraft delays are particularly severe, highlighting the effects of operational inefficiencies and delay propagation. Weather delays, though infrequent, generate some of the longest delays, while NAS congestion creates meaningful disruption. Security delays are rare but can occasionally result in extreme impacts.</a:t>
                      </a:r>
                    </a:p>
                  </a:txBody>
                  <a:tcPr/>
                </a:tc>
                <a:extLst>
                  <a:ext uri="{0D108BD9-81ED-4DB2-BD59-A6C34878D82A}">
                    <a16:rowId xmlns:a16="http://schemas.microsoft.com/office/drawing/2014/main" val="891972243"/>
                  </a:ext>
                </a:extLst>
              </a:tr>
            </a:tbl>
          </a:graphicData>
        </a:graphic>
      </p:graphicFrame>
    </p:spTree>
    <p:extLst>
      <p:ext uri="{BB962C8B-B14F-4D97-AF65-F5344CB8AC3E}">
        <p14:creationId xmlns:p14="http://schemas.microsoft.com/office/powerpoint/2010/main" val="1678471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23F68-A52C-6396-6F7F-64956A3F2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FDD02-A3FD-EFC3-327F-757ABD48DB13}"/>
              </a:ext>
            </a:extLst>
          </p:cNvPr>
          <p:cNvSpPr>
            <a:spLocks noGrp="1"/>
          </p:cNvSpPr>
          <p:nvPr>
            <p:ph type="title"/>
          </p:nvPr>
        </p:nvSpPr>
        <p:spPr>
          <a:xfrm>
            <a:off x="838200" y="365125"/>
            <a:ext cx="10515600" cy="752400"/>
          </a:xfrm>
        </p:spPr>
        <p:txBody>
          <a:bodyPr/>
          <a:lstStyle/>
          <a:p>
            <a:r>
              <a:rPr lang="en-US" b="1" dirty="0">
                <a:solidFill>
                  <a:schemeClr val="bg1"/>
                </a:solidFill>
              </a:rPr>
              <a:t>Exploratory Data Analysis</a:t>
            </a:r>
            <a:endParaRPr lang="en-IN" b="1" dirty="0">
              <a:solidFill>
                <a:schemeClr val="bg1"/>
              </a:solidFill>
            </a:endParaRPr>
          </a:p>
        </p:txBody>
      </p:sp>
      <p:graphicFrame>
        <p:nvGraphicFramePr>
          <p:cNvPr id="6" name="Content Placeholder 4">
            <a:extLst>
              <a:ext uri="{FF2B5EF4-FFF2-40B4-BE49-F238E27FC236}">
                <a16:creationId xmlns:a16="http://schemas.microsoft.com/office/drawing/2014/main" id="{FAB72456-3446-9744-C408-1D5552FBD08E}"/>
              </a:ext>
            </a:extLst>
          </p:cNvPr>
          <p:cNvGraphicFramePr>
            <a:graphicFrameLocks noChangeAspect="1"/>
          </p:cNvGraphicFramePr>
          <p:nvPr>
            <p:extLst>
              <p:ext uri="{D42A27DB-BD31-4B8C-83A1-F6EECF244321}">
                <p14:modId xmlns:p14="http://schemas.microsoft.com/office/powerpoint/2010/main" val="4266355482"/>
              </p:ext>
            </p:extLst>
          </p:nvPr>
        </p:nvGraphicFramePr>
        <p:xfrm>
          <a:off x="838200" y="1219199"/>
          <a:ext cx="10515600" cy="5273674"/>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041912719"/>
                    </a:ext>
                  </a:extLst>
                </a:gridCol>
                <a:gridCol w="5257800">
                  <a:extLst>
                    <a:ext uri="{9D8B030D-6E8A-4147-A177-3AD203B41FA5}">
                      <a16:colId xmlns:a16="http://schemas.microsoft.com/office/drawing/2014/main" val="1473795553"/>
                    </a:ext>
                  </a:extLst>
                </a:gridCol>
              </a:tblGrid>
              <a:tr h="478569">
                <a:tc>
                  <a:txBody>
                    <a:bodyPr/>
                    <a:lstStyle/>
                    <a:p>
                      <a:pPr algn="ctr"/>
                      <a:r>
                        <a:rPr lang="en-US" dirty="0"/>
                        <a:t>Statistical Insights</a:t>
                      </a:r>
                      <a:endParaRPr lang="en-IN" dirty="0"/>
                    </a:p>
                  </a:txBody>
                  <a:tcPr/>
                </a:tc>
                <a:tc>
                  <a:txBody>
                    <a:bodyPr/>
                    <a:lstStyle/>
                    <a:p>
                      <a:pPr algn="ctr"/>
                      <a:r>
                        <a:rPr lang="en-US" dirty="0"/>
                        <a:t>Business Insights</a:t>
                      </a:r>
                      <a:endParaRPr lang="en-IN" dirty="0"/>
                    </a:p>
                  </a:txBody>
                  <a:tcPr/>
                </a:tc>
                <a:extLst>
                  <a:ext uri="{0D108BD9-81ED-4DB2-BD59-A6C34878D82A}">
                    <a16:rowId xmlns:a16="http://schemas.microsoft.com/office/drawing/2014/main" val="4054634712"/>
                  </a:ext>
                </a:extLst>
              </a:tr>
              <a:tr h="1770052">
                <a:tc>
                  <a:txBody>
                    <a:bodyPr/>
                    <a:lstStyle/>
                    <a:p>
                      <a:pPr algn="ctr"/>
                      <a:r>
                        <a:rPr lang="en-IN" sz="1200" b="1" dirty="0"/>
                        <a:t>Cancel Rate:</a:t>
                      </a:r>
                      <a:r>
                        <a:rPr lang="en-IN" sz="1200" dirty="0"/>
                        <a:t> The 1st Moment shows the mean (0.02) and median (0.00), indicating cancellations are generally infrequent. The 2nd Moment shows low variance due to normalization. The 3rd &amp; 4th Moments show strong right skew (7.96) and heavy tails (85.77).</a:t>
                      </a:r>
                    </a:p>
                  </a:txBody>
                  <a:tcPr/>
                </a:tc>
                <a:tc>
                  <a:txBody>
                    <a:bodyPr/>
                    <a:lstStyle/>
                    <a:p>
                      <a:pPr algn="ctr"/>
                      <a:r>
                        <a:rPr lang="en-IN" sz="1200" b="1" kern="1200" dirty="0">
                          <a:solidFill>
                            <a:schemeClr val="dk1"/>
                          </a:solidFill>
                          <a:effectLst/>
                          <a:latin typeface="+mn-lt"/>
                          <a:ea typeface="+mn-ea"/>
                          <a:cs typeface="+mn-cs"/>
                        </a:rPr>
                        <a:t>Cancel Rate: </a:t>
                      </a:r>
                      <a:r>
                        <a:rPr lang="en-IN" sz="1200" kern="1200" dirty="0">
                          <a:solidFill>
                            <a:schemeClr val="dk1"/>
                          </a:solidFill>
                          <a:effectLst/>
                          <a:latin typeface="+mn-lt"/>
                          <a:ea typeface="+mn-ea"/>
                          <a:cs typeface="+mn-cs"/>
                        </a:rPr>
                        <a:t>Flight cancellations remain relatively low overall at around 2%. Most observations experience minimal cancellation activity. Extreme disruption events create occasional spikes.</a:t>
                      </a:r>
                      <a:endParaRPr lang="en-IN" sz="1200" dirty="0"/>
                    </a:p>
                  </a:txBody>
                  <a:tcPr/>
                </a:tc>
                <a:extLst>
                  <a:ext uri="{0D108BD9-81ED-4DB2-BD59-A6C34878D82A}">
                    <a16:rowId xmlns:a16="http://schemas.microsoft.com/office/drawing/2014/main" val="3394740934"/>
                  </a:ext>
                </a:extLst>
              </a:tr>
              <a:tr h="15340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t>Severe Delay Flights:</a:t>
                      </a:r>
                      <a:r>
                        <a:rPr lang="en-IN" sz="1200" dirty="0"/>
                        <a:t> The 1st Moment shows the median and mode are zero while the mean is 27.43, indicating concentration of severe delays in relatively few observations. The 2nd Moment shows a large range (1,005) and high variability. The 3rd &amp; 4th Moments show high skewness (5.95) and heavy tails (41.99).</a:t>
                      </a:r>
                      <a:endParaRPr lang="en-IN" sz="12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dk1"/>
                          </a:solidFill>
                          <a:effectLst/>
                          <a:latin typeface="+mn-lt"/>
                          <a:ea typeface="+mn-ea"/>
                          <a:cs typeface="+mn-cs"/>
                        </a:rPr>
                        <a:t>Severe Delay Flights: </a:t>
                      </a:r>
                      <a:r>
                        <a:rPr lang="en-IN" sz="1200" kern="1200" dirty="0">
                          <a:solidFill>
                            <a:schemeClr val="dk1"/>
                          </a:solidFill>
                          <a:effectLst/>
                          <a:latin typeface="+mn-lt"/>
                          <a:ea typeface="+mn-ea"/>
                          <a:cs typeface="+mn-cs"/>
                        </a:rPr>
                        <a:t>Severe delays (&gt;60 minutes) occur less frequently than standard delays but represent a meaningful operational burden. The median value of zero indicates many observations experience no severe delays. A small number of observations account for most severe disruption events.</a:t>
                      </a:r>
                    </a:p>
                  </a:txBody>
                  <a:tcPr/>
                </a:tc>
                <a:extLst>
                  <a:ext uri="{0D108BD9-81ED-4DB2-BD59-A6C34878D82A}">
                    <a16:rowId xmlns:a16="http://schemas.microsoft.com/office/drawing/2014/main" val="3113721833"/>
                  </a:ext>
                </a:extLst>
              </a:tr>
              <a:tr h="1491007">
                <a:tc>
                  <a:txBody>
                    <a:bodyPr/>
                    <a:lstStyle/>
                    <a:p>
                      <a:pPr algn="ctr"/>
                      <a:r>
                        <a:rPr lang="en-IN" sz="1200" b="1" dirty="0"/>
                        <a:t>Disruption Score:</a:t>
                      </a:r>
                      <a:r>
                        <a:rPr lang="en-IN" sz="1200" dirty="0"/>
                        <a:t> The 1st Moment shows the mean (0.32) exceeds the median (0.24), indicating disruption levels are generally low with occasional severe observations. The 2nd Moment shows a moderate standard deviation (0.35), suggesting reasonable differentiation across observations. The 3rd &amp; 4th Moments show positive skewness (6.27) and high kurtosis (61.54), indicating disruption events are concentrated in a relatively small number of cases.</a:t>
                      </a:r>
                    </a:p>
                  </a:txBody>
                  <a:tcPr/>
                </a:tc>
                <a:tc>
                  <a:txBody>
                    <a:bodyPr/>
                    <a:lstStyle/>
                    <a:p>
                      <a:pPr algn="ctr"/>
                      <a:r>
                        <a:rPr lang="en-IN" sz="1200" b="1" kern="1200" dirty="0">
                          <a:solidFill>
                            <a:schemeClr val="dk1"/>
                          </a:solidFill>
                          <a:effectLst/>
                          <a:latin typeface="+mn-lt"/>
                          <a:ea typeface="+mn-ea"/>
                          <a:cs typeface="+mn-cs"/>
                        </a:rPr>
                        <a:t>Disruption Score: </a:t>
                      </a:r>
                      <a:r>
                        <a:rPr lang="en-IN" sz="1200" kern="1200" dirty="0">
                          <a:solidFill>
                            <a:schemeClr val="dk1"/>
                          </a:solidFill>
                          <a:effectLst/>
                          <a:latin typeface="+mn-lt"/>
                          <a:ea typeface="+mn-ea"/>
                          <a:cs typeface="+mn-cs"/>
                        </a:rPr>
                        <a:t>The composite disruption score </a:t>
                      </a:r>
                      <a:r>
                        <a:rPr lang="en-IN" sz="1200" b="1" kern="1200" dirty="0">
                          <a:solidFill>
                            <a:schemeClr val="dk1"/>
                          </a:solidFill>
                          <a:effectLst/>
                          <a:latin typeface="+mn-lt"/>
                          <a:ea typeface="+mn-ea"/>
                          <a:cs typeface="+mn-cs"/>
                        </a:rPr>
                        <a:t>combines delay, cancellation, and diversion effects into a single operational performance metric</a:t>
                      </a:r>
                      <a:r>
                        <a:rPr lang="en-IN" sz="1200" kern="1200" dirty="0">
                          <a:solidFill>
                            <a:schemeClr val="dk1"/>
                          </a:solidFill>
                          <a:effectLst/>
                          <a:latin typeface="+mn-lt"/>
                          <a:ea typeface="+mn-ea"/>
                          <a:cs typeface="+mn-cs"/>
                        </a:rPr>
                        <a:t>. Most observations exhibit relatively low disruption levels, while a small number experience severe operational breakdowns. The score provides an overall measure of service reliability and operational resilience.</a:t>
                      </a:r>
                      <a:endParaRPr lang="en-IN" sz="1200" dirty="0"/>
                    </a:p>
                  </a:txBody>
                  <a:tcPr/>
                </a:tc>
                <a:extLst>
                  <a:ext uri="{0D108BD9-81ED-4DB2-BD59-A6C34878D82A}">
                    <a16:rowId xmlns:a16="http://schemas.microsoft.com/office/drawing/2014/main" val="891972243"/>
                  </a:ext>
                </a:extLst>
              </a:tr>
            </a:tbl>
          </a:graphicData>
        </a:graphic>
      </p:graphicFrame>
    </p:spTree>
    <p:extLst>
      <p:ext uri="{BB962C8B-B14F-4D97-AF65-F5344CB8AC3E}">
        <p14:creationId xmlns:p14="http://schemas.microsoft.com/office/powerpoint/2010/main" val="1711749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6A3F2-AA74-55AE-6A41-47A33163A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AA975-63C9-FB16-8CF7-1F35C641C40A}"/>
              </a:ext>
            </a:extLst>
          </p:cNvPr>
          <p:cNvSpPr>
            <a:spLocks noGrp="1"/>
          </p:cNvSpPr>
          <p:nvPr>
            <p:ph type="title"/>
          </p:nvPr>
        </p:nvSpPr>
        <p:spPr>
          <a:xfrm>
            <a:off x="838200" y="365125"/>
            <a:ext cx="10515600" cy="752400"/>
          </a:xfrm>
        </p:spPr>
        <p:txBody>
          <a:bodyPr/>
          <a:lstStyle/>
          <a:p>
            <a:r>
              <a:rPr lang="en-US" b="1" dirty="0">
                <a:solidFill>
                  <a:schemeClr val="bg1"/>
                </a:solidFill>
              </a:rPr>
              <a:t>Exploratory Data Analysis</a:t>
            </a:r>
            <a:endParaRPr lang="en-IN" b="1" dirty="0">
              <a:solidFill>
                <a:schemeClr val="bg1"/>
              </a:solidFill>
            </a:endParaRPr>
          </a:p>
        </p:txBody>
      </p:sp>
      <p:graphicFrame>
        <p:nvGraphicFramePr>
          <p:cNvPr id="6" name="Content Placeholder 4">
            <a:extLst>
              <a:ext uri="{FF2B5EF4-FFF2-40B4-BE49-F238E27FC236}">
                <a16:creationId xmlns:a16="http://schemas.microsoft.com/office/drawing/2014/main" id="{046CF2B9-A88A-8340-EFD2-42AE0D143062}"/>
              </a:ext>
            </a:extLst>
          </p:cNvPr>
          <p:cNvGraphicFramePr>
            <a:graphicFrameLocks noChangeAspect="1"/>
          </p:cNvGraphicFramePr>
          <p:nvPr>
            <p:extLst>
              <p:ext uri="{D42A27DB-BD31-4B8C-83A1-F6EECF244321}">
                <p14:modId xmlns:p14="http://schemas.microsoft.com/office/powerpoint/2010/main" val="135043989"/>
              </p:ext>
            </p:extLst>
          </p:nvPr>
        </p:nvGraphicFramePr>
        <p:xfrm>
          <a:off x="838200" y="1219199"/>
          <a:ext cx="10515600" cy="3963911"/>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041912719"/>
                    </a:ext>
                  </a:extLst>
                </a:gridCol>
                <a:gridCol w="5257800">
                  <a:extLst>
                    <a:ext uri="{9D8B030D-6E8A-4147-A177-3AD203B41FA5}">
                      <a16:colId xmlns:a16="http://schemas.microsoft.com/office/drawing/2014/main" val="1473795553"/>
                    </a:ext>
                  </a:extLst>
                </a:gridCol>
              </a:tblGrid>
              <a:tr h="604703">
                <a:tc>
                  <a:txBody>
                    <a:bodyPr/>
                    <a:lstStyle/>
                    <a:p>
                      <a:pPr algn="ctr"/>
                      <a:r>
                        <a:rPr lang="en-US" dirty="0"/>
                        <a:t>Statistical Insights</a:t>
                      </a:r>
                      <a:endParaRPr lang="en-IN" dirty="0"/>
                    </a:p>
                  </a:txBody>
                  <a:tcPr/>
                </a:tc>
                <a:tc>
                  <a:txBody>
                    <a:bodyPr/>
                    <a:lstStyle/>
                    <a:p>
                      <a:pPr algn="ctr"/>
                      <a:r>
                        <a:rPr lang="en-US" dirty="0"/>
                        <a:t>Business Insights</a:t>
                      </a:r>
                      <a:endParaRPr lang="en-IN" dirty="0"/>
                    </a:p>
                  </a:txBody>
                  <a:tcPr/>
                </a:tc>
                <a:extLst>
                  <a:ext uri="{0D108BD9-81ED-4DB2-BD59-A6C34878D82A}">
                    <a16:rowId xmlns:a16="http://schemas.microsoft.com/office/drawing/2014/main" val="4054634712"/>
                  </a:ext>
                </a:extLst>
              </a:tr>
              <a:tr h="466716">
                <a:tc>
                  <a:txBody>
                    <a:bodyPr/>
                    <a:lstStyle/>
                    <a:p>
                      <a:pPr algn="ctr"/>
                      <a:r>
                        <a:rPr lang="en-US" sz="1200" b="1" dirty="0"/>
                        <a:t>Y</a:t>
                      </a:r>
                      <a:r>
                        <a:rPr lang="en-IN" sz="1200" b="1" dirty="0"/>
                        <a:t>ear: </a:t>
                      </a:r>
                      <a:r>
                        <a:rPr lang="en-IN" sz="1200" b="0" dirty="0"/>
                        <a:t>Categorical Feature. Present in dataset as numeric value.</a:t>
                      </a:r>
                      <a:endParaRPr lang="en-IN" sz="1200" dirty="0"/>
                    </a:p>
                  </a:txBody>
                  <a:tcPr/>
                </a:tc>
                <a:tc>
                  <a:txBody>
                    <a:bodyPr/>
                    <a:lstStyle/>
                    <a:p>
                      <a:pPr algn="ctr"/>
                      <a:r>
                        <a:rPr lang="en-IN" sz="1200" b="0" dirty="0"/>
                        <a:t>Range – 2013 to 2023</a:t>
                      </a:r>
                      <a:endParaRPr lang="en-IN" sz="1200" dirty="0"/>
                    </a:p>
                  </a:txBody>
                  <a:tcPr/>
                </a:tc>
                <a:extLst>
                  <a:ext uri="{0D108BD9-81ED-4DB2-BD59-A6C34878D82A}">
                    <a16:rowId xmlns:a16="http://schemas.microsoft.com/office/drawing/2014/main" val="3394740934"/>
                  </a:ext>
                </a:extLst>
              </a:tr>
              <a:tr h="4248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1" dirty="0"/>
                        <a:t>Month: </a:t>
                      </a:r>
                      <a:r>
                        <a:rPr lang="en-IN" sz="1200" b="0" dirty="0"/>
                        <a:t>Categorical Feature. Present in dataset as numeric value.</a:t>
                      </a:r>
                      <a:endParaRPr lang="en-IN" sz="1200" kern="1200" dirty="0">
                        <a:solidFill>
                          <a:schemeClr val="dk1"/>
                        </a:solidFill>
                        <a:effectLst/>
                        <a:latin typeface="+mn-lt"/>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b="0" dirty="0"/>
                        <a:t>Range – 1 to 12. Depicts the months of a year.</a:t>
                      </a:r>
                      <a:endParaRPr lang="en-IN" sz="1200" kern="1200" dirty="0">
                        <a:solidFill>
                          <a:schemeClr val="dk1"/>
                        </a:solidFill>
                        <a:effectLst/>
                        <a:latin typeface="+mn-lt"/>
                        <a:ea typeface="+mn-ea"/>
                        <a:cs typeface="+mn-cs"/>
                      </a:endParaRPr>
                    </a:p>
                  </a:txBody>
                  <a:tcPr/>
                </a:tc>
                <a:extLst>
                  <a:ext uri="{0D108BD9-81ED-4DB2-BD59-A6C34878D82A}">
                    <a16:rowId xmlns:a16="http://schemas.microsoft.com/office/drawing/2014/main" val="3113721833"/>
                  </a:ext>
                </a:extLst>
              </a:tr>
              <a:tr h="452582">
                <a:tc>
                  <a:txBody>
                    <a:bodyPr/>
                    <a:lstStyle/>
                    <a:p>
                      <a:pPr algn="ctr"/>
                      <a:r>
                        <a:rPr lang="en-IN" sz="1200" b="1" dirty="0"/>
                        <a:t>Carrier: </a:t>
                      </a:r>
                      <a:r>
                        <a:rPr lang="en-IN" sz="1200" b="0" dirty="0"/>
                        <a:t>Categorical Feature – shows the IATA code of the respective airline.</a:t>
                      </a:r>
                      <a:endParaRPr lang="en-IN" sz="1200" dirty="0"/>
                    </a:p>
                  </a:txBody>
                  <a:tcPr/>
                </a:tc>
                <a:tc>
                  <a:txBody>
                    <a:bodyPr/>
                    <a:lstStyle/>
                    <a:p>
                      <a:pPr algn="ctr"/>
                      <a:r>
                        <a:rPr lang="en-US" sz="1200" dirty="0"/>
                        <a:t>21 distinct carrier codes present in feature.</a:t>
                      </a:r>
                      <a:endParaRPr lang="en-IN" sz="1200" dirty="0"/>
                    </a:p>
                  </a:txBody>
                  <a:tcPr/>
                </a:tc>
                <a:extLst>
                  <a:ext uri="{0D108BD9-81ED-4DB2-BD59-A6C34878D82A}">
                    <a16:rowId xmlns:a16="http://schemas.microsoft.com/office/drawing/2014/main" val="891972243"/>
                  </a:ext>
                </a:extLst>
              </a:tr>
              <a:tr h="498763">
                <a:tc>
                  <a:txBody>
                    <a:bodyPr/>
                    <a:lstStyle/>
                    <a:p>
                      <a:pPr algn="ctr"/>
                      <a:r>
                        <a:rPr lang="en-US" sz="1200" b="1" dirty="0"/>
                        <a:t>Carrier name:</a:t>
                      </a:r>
                      <a:r>
                        <a:rPr lang="en-US" sz="1200" dirty="0"/>
                        <a:t> Categorical Feature – shows name of the airline.</a:t>
                      </a:r>
                      <a:endParaRPr lang="en-IN" sz="1200" dirty="0"/>
                    </a:p>
                  </a:txBody>
                  <a:tcPr/>
                </a:tc>
                <a:tc>
                  <a:txBody>
                    <a:bodyPr/>
                    <a:lstStyle/>
                    <a:p>
                      <a:pPr algn="ctr"/>
                      <a:r>
                        <a:rPr lang="en-US" sz="1200" dirty="0"/>
                        <a:t>23 distinct carrier names present. 2 carriers change their name but keep the same IATA code.</a:t>
                      </a:r>
                      <a:endParaRPr lang="en-IN" sz="1200" dirty="0"/>
                    </a:p>
                  </a:txBody>
                  <a:tcPr/>
                </a:tc>
                <a:extLst>
                  <a:ext uri="{0D108BD9-81ED-4DB2-BD59-A6C34878D82A}">
                    <a16:rowId xmlns:a16="http://schemas.microsoft.com/office/drawing/2014/main" val="962386509"/>
                  </a:ext>
                </a:extLst>
              </a:tr>
              <a:tr h="525183">
                <a:tc>
                  <a:txBody>
                    <a:bodyPr/>
                    <a:lstStyle/>
                    <a:p>
                      <a:pPr algn="ctr"/>
                      <a:r>
                        <a:rPr lang="en-US" sz="1200" b="1" dirty="0"/>
                        <a:t>Airport: </a:t>
                      </a:r>
                      <a:r>
                        <a:rPr lang="en-US" sz="1200" b="0" dirty="0"/>
                        <a:t>Categorical Feature – shows the IATA code of the respective airport.</a:t>
                      </a:r>
                    </a:p>
                  </a:txBody>
                  <a:tcPr/>
                </a:tc>
                <a:tc>
                  <a:txBody>
                    <a:bodyPr/>
                    <a:lstStyle/>
                    <a:p>
                      <a:pPr algn="ctr"/>
                      <a:r>
                        <a:rPr lang="en-IN" sz="1200" dirty="0"/>
                        <a:t>Airport-level analysis was intentionally excluded to maintain focus on airline performance and operational delay patterns.</a:t>
                      </a:r>
                    </a:p>
                  </a:txBody>
                  <a:tcPr/>
                </a:tc>
                <a:extLst>
                  <a:ext uri="{0D108BD9-81ED-4DB2-BD59-A6C34878D82A}">
                    <a16:rowId xmlns:a16="http://schemas.microsoft.com/office/drawing/2014/main" val="2564274239"/>
                  </a:ext>
                </a:extLst>
              </a:tr>
              <a:tr h="525183">
                <a:tc>
                  <a:txBody>
                    <a:bodyPr/>
                    <a:lstStyle/>
                    <a:p>
                      <a:pPr algn="ctr"/>
                      <a:r>
                        <a:rPr lang="en-US" sz="1200" b="1" dirty="0"/>
                        <a:t>Airport name: </a:t>
                      </a:r>
                      <a:r>
                        <a:rPr lang="en-US" sz="1200" b="0" dirty="0"/>
                        <a:t>Categorical Feature – shows full name of airport.</a:t>
                      </a:r>
                      <a:endParaRPr lang="en-IN" sz="1200" b="1" dirty="0"/>
                    </a:p>
                  </a:txBody>
                  <a:tcPr/>
                </a:tc>
                <a:tc>
                  <a:txBody>
                    <a:bodyPr/>
                    <a:lstStyle/>
                    <a:p>
                      <a:pPr algn="ctr"/>
                      <a:r>
                        <a:rPr lang="en-IN" sz="1200" dirty="0"/>
                        <a:t>Provides airport location context but was not used in the final analysis as the project scope focused on airline-level KPIs and trends.</a:t>
                      </a:r>
                    </a:p>
                  </a:txBody>
                  <a:tcPr/>
                </a:tc>
                <a:extLst>
                  <a:ext uri="{0D108BD9-81ED-4DB2-BD59-A6C34878D82A}">
                    <a16:rowId xmlns:a16="http://schemas.microsoft.com/office/drawing/2014/main" val="808599195"/>
                  </a:ext>
                </a:extLst>
              </a:tr>
              <a:tr h="465908">
                <a:tc>
                  <a:txBody>
                    <a:bodyPr/>
                    <a:lstStyle/>
                    <a:p>
                      <a:pPr algn="ctr"/>
                      <a:r>
                        <a:rPr lang="en-US" sz="1200" b="1" dirty="0"/>
                        <a:t>Date: </a:t>
                      </a:r>
                      <a:r>
                        <a:rPr lang="en-US" sz="1200" b="0" dirty="0"/>
                        <a:t>Engineered Datetime column – created by concatenating month and year column and converting to datetime format. </a:t>
                      </a:r>
                      <a:endParaRPr lang="en-IN" sz="1200" b="1" dirty="0"/>
                    </a:p>
                  </a:txBody>
                  <a:tcPr/>
                </a:tc>
                <a:tc>
                  <a:txBody>
                    <a:bodyPr/>
                    <a:lstStyle/>
                    <a:p>
                      <a:pPr algn="ctr"/>
                      <a:r>
                        <a:rPr lang="en-US" sz="1200" b="0" dirty="0"/>
                        <a:t>Range – August 2013 to August 2023</a:t>
                      </a:r>
                      <a:endParaRPr lang="en-IN" sz="1200" dirty="0"/>
                    </a:p>
                  </a:txBody>
                  <a:tcPr/>
                </a:tc>
                <a:extLst>
                  <a:ext uri="{0D108BD9-81ED-4DB2-BD59-A6C34878D82A}">
                    <a16:rowId xmlns:a16="http://schemas.microsoft.com/office/drawing/2014/main" val="2572199913"/>
                  </a:ext>
                </a:extLst>
              </a:tr>
            </a:tbl>
          </a:graphicData>
        </a:graphic>
      </p:graphicFrame>
      <p:sp>
        <p:nvSpPr>
          <p:cNvPr id="3" name="TextBox 2">
            <a:extLst>
              <a:ext uri="{FF2B5EF4-FFF2-40B4-BE49-F238E27FC236}">
                <a16:creationId xmlns:a16="http://schemas.microsoft.com/office/drawing/2014/main" id="{3ED4ACD0-9FC6-EBAC-7416-6EEF429299A8}"/>
              </a:ext>
            </a:extLst>
          </p:cNvPr>
          <p:cNvSpPr txBox="1"/>
          <p:nvPr/>
        </p:nvSpPr>
        <p:spPr>
          <a:xfrm>
            <a:off x="838200" y="5569545"/>
            <a:ext cx="10515600" cy="923330"/>
          </a:xfrm>
          <a:prstGeom prst="rect">
            <a:avLst/>
          </a:prstGeom>
          <a:noFill/>
        </p:spPr>
        <p:txBody>
          <a:bodyPr wrap="square" rtlCol="0">
            <a:spAutoFit/>
          </a:bodyPr>
          <a:lstStyle/>
          <a:p>
            <a:r>
              <a:rPr lang="en-IN" b="1" dirty="0">
                <a:solidFill>
                  <a:srgbClr val="002060"/>
                </a:solidFill>
              </a:rPr>
              <a:t>Project Scope:</a:t>
            </a:r>
            <a:r>
              <a:rPr lang="en-IN" dirty="0">
                <a:solidFill>
                  <a:srgbClr val="002060"/>
                </a:solidFill>
              </a:rPr>
              <a:t> Although airport-level data is available, this project focuses on airline operational performance. Airport analysis was excluded to keep the analysis targeted and avoid expanding the project beyond its primary objective.</a:t>
            </a:r>
          </a:p>
        </p:txBody>
      </p:sp>
    </p:spTree>
    <p:extLst>
      <p:ext uri="{BB962C8B-B14F-4D97-AF65-F5344CB8AC3E}">
        <p14:creationId xmlns:p14="http://schemas.microsoft.com/office/powerpoint/2010/main" val="2027519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D4CAC-0FFA-8150-83F2-10C974874E10}"/>
              </a:ext>
            </a:extLst>
          </p:cNvPr>
          <p:cNvSpPr>
            <a:spLocks noGrp="1"/>
          </p:cNvSpPr>
          <p:nvPr>
            <p:ph type="title"/>
          </p:nvPr>
        </p:nvSpPr>
        <p:spPr>
          <a:xfrm>
            <a:off x="838200" y="365126"/>
            <a:ext cx="10515600" cy="681250"/>
          </a:xfrm>
        </p:spPr>
        <p:txBody>
          <a:bodyPr>
            <a:normAutofit fontScale="90000"/>
          </a:bodyPr>
          <a:lstStyle/>
          <a:p>
            <a:r>
              <a:rPr lang="en-US" b="1" dirty="0">
                <a:solidFill>
                  <a:schemeClr val="bg1"/>
                </a:solidFill>
              </a:rPr>
              <a:t>Data Model (Power BI)</a:t>
            </a:r>
            <a:endParaRPr lang="en-IN" b="1" dirty="0">
              <a:solidFill>
                <a:schemeClr val="bg1"/>
              </a:solidFill>
            </a:endParaRPr>
          </a:p>
        </p:txBody>
      </p:sp>
      <p:sp>
        <p:nvSpPr>
          <p:cNvPr id="8" name="Content Placeholder 7">
            <a:extLst>
              <a:ext uri="{FF2B5EF4-FFF2-40B4-BE49-F238E27FC236}">
                <a16:creationId xmlns:a16="http://schemas.microsoft.com/office/drawing/2014/main" id="{5AA9C1D5-ECE3-1546-22A7-09095E49B388}"/>
              </a:ext>
            </a:extLst>
          </p:cNvPr>
          <p:cNvSpPr>
            <a:spLocks noGrp="1"/>
          </p:cNvSpPr>
          <p:nvPr>
            <p:ph idx="1"/>
          </p:nvPr>
        </p:nvSpPr>
        <p:spPr>
          <a:xfrm>
            <a:off x="609600" y="1480008"/>
            <a:ext cx="3481633" cy="5012866"/>
          </a:xfrm>
        </p:spPr>
        <p:txBody>
          <a:bodyPr/>
          <a:lstStyle/>
          <a:p>
            <a:r>
              <a:rPr lang="en-US" dirty="0">
                <a:solidFill>
                  <a:srgbClr val="002060"/>
                </a:solidFill>
              </a:rPr>
              <a:t>Primary dataset dimensions – 171426 * 43</a:t>
            </a:r>
          </a:p>
          <a:p>
            <a:r>
              <a:rPr lang="en-US" dirty="0">
                <a:solidFill>
                  <a:srgbClr val="002060"/>
                </a:solidFill>
              </a:rPr>
              <a:t>Measures – 26</a:t>
            </a:r>
          </a:p>
          <a:p>
            <a:r>
              <a:rPr lang="en-US" dirty="0">
                <a:solidFill>
                  <a:srgbClr val="002060"/>
                </a:solidFill>
              </a:rPr>
              <a:t>Additional date table for time series aggregation and sorting purposes</a:t>
            </a:r>
            <a:endParaRPr lang="en-IN" dirty="0">
              <a:solidFill>
                <a:srgbClr val="002060"/>
              </a:solidFill>
            </a:endParaRPr>
          </a:p>
        </p:txBody>
      </p:sp>
      <p:pic>
        <p:nvPicPr>
          <p:cNvPr id="10" name="Picture 9">
            <a:extLst>
              <a:ext uri="{FF2B5EF4-FFF2-40B4-BE49-F238E27FC236}">
                <a16:creationId xmlns:a16="http://schemas.microsoft.com/office/drawing/2014/main" id="{D25A8CD4-ADF7-B4B8-4E2D-99BA0343660A}"/>
              </a:ext>
            </a:extLst>
          </p:cNvPr>
          <p:cNvPicPr>
            <a:picLocks noChangeAspect="1"/>
          </p:cNvPicPr>
          <p:nvPr/>
        </p:nvPicPr>
        <p:blipFill>
          <a:blip r:embed="rId2"/>
          <a:stretch>
            <a:fillRect/>
          </a:stretch>
        </p:blipFill>
        <p:spPr>
          <a:xfrm>
            <a:off x="4091233" y="1480008"/>
            <a:ext cx="7262567" cy="5012867"/>
          </a:xfrm>
          <a:prstGeom prst="rect">
            <a:avLst/>
          </a:prstGeom>
          <a:effectLst>
            <a:softEdge rad="38100"/>
          </a:effectLst>
        </p:spPr>
      </p:pic>
    </p:spTree>
    <p:extLst>
      <p:ext uri="{BB962C8B-B14F-4D97-AF65-F5344CB8AC3E}">
        <p14:creationId xmlns:p14="http://schemas.microsoft.com/office/powerpoint/2010/main" val="1666928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7B6B7-C42A-49B0-3223-2F8F959DDA05}"/>
              </a:ext>
            </a:extLst>
          </p:cNvPr>
          <p:cNvSpPr>
            <a:spLocks noGrp="1"/>
          </p:cNvSpPr>
          <p:nvPr>
            <p:ph type="title"/>
          </p:nvPr>
        </p:nvSpPr>
        <p:spPr>
          <a:xfrm>
            <a:off x="838200" y="365125"/>
            <a:ext cx="10515600" cy="503093"/>
          </a:xfrm>
        </p:spPr>
        <p:txBody>
          <a:bodyPr>
            <a:normAutofit fontScale="90000"/>
          </a:bodyPr>
          <a:lstStyle/>
          <a:p>
            <a:r>
              <a:rPr lang="en-IN" b="1" dirty="0">
                <a:solidFill>
                  <a:schemeClr val="bg1"/>
                </a:solidFill>
              </a:rPr>
              <a:t>Carrier Name Changes Over Time</a:t>
            </a:r>
          </a:p>
        </p:txBody>
      </p:sp>
      <p:sp>
        <p:nvSpPr>
          <p:cNvPr id="3" name="Content Placeholder 2">
            <a:extLst>
              <a:ext uri="{FF2B5EF4-FFF2-40B4-BE49-F238E27FC236}">
                <a16:creationId xmlns:a16="http://schemas.microsoft.com/office/drawing/2014/main" id="{A2669902-0ED2-2C72-DC23-7BB4F11AD16B}"/>
              </a:ext>
            </a:extLst>
          </p:cNvPr>
          <p:cNvSpPr>
            <a:spLocks noGrp="1"/>
          </p:cNvSpPr>
          <p:nvPr>
            <p:ph idx="1"/>
          </p:nvPr>
        </p:nvSpPr>
        <p:spPr>
          <a:xfrm>
            <a:off x="838200" y="1056697"/>
            <a:ext cx="10515600" cy="1603375"/>
          </a:xfrm>
        </p:spPr>
        <p:txBody>
          <a:bodyPr>
            <a:normAutofit fontScale="77500" lnSpcReduction="20000"/>
          </a:bodyPr>
          <a:lstStyle/>
          <a:p>
            <a:r>
              <a:rPr lang="en-IN" dirty="0">
                <a:solidFill>
                  <a:srgbClr val="002060"/>
                </a:solidFill>
              </a:rPr>
              <a:t>23 distinct carrier names present in the dataset.</a:t>
            </a:r>
          </a:p>
          <a:p>
            <a:r>
              <a:rPr lang="en-IN" dirty="0">
                <a:solidFill>
                  <a:srgbClr val="002060"/>
                </a:solidFill>
              </a:rPr>
              <a:t>Only 21 unique IATA carrier codes existed.</a:t>
            </a:r>
          </a:p>
          <a:p>
            <a:r>
              <a:rPr lang="en-IN" dirty="0">
                <a:solidFill>
                  <a:srgbClr val="002060"/>
                </a:solidFill>
              </a:rPr>
              <a:t>Two airlines changed their operating names while retaining the same carrier code:</a:t>
            </a:r>
          </a:p>
          <a:p>
            <a:pPr lvl="1"/>
            <a:r>
              <a:rPr lang="fr-FR" dirty="0">
                <a:solidFill>
                  <a:srgbClr val="002060"/>
                </a:solidFill>
              </a:rPr>
              <a:t>EV → ExpressJet Airlines Inc. → ExpressJet Airlines LLC</a:t>
            </a:r>
          </a:p>
          <a:p>
            <a:pPr lvl="1"/>
            <a:r>
              <a:rPr lang="en-IN" dirty="0">
                <a:solidFill>
                  <a:srgbClr val="002060"/>
                </a:solidFill>
              </a:rPr>
              <a:t>MQ → American Eagle Airlines Inc. → Envoy Air</a:t>
            </a:r>
          </a:p>
        </p:txBody>
      </p:sp>
      <p:pic>
        <p:nvPicPr>
          <p:cNvPr id="6" name="Picture 5">
            <a:extLst>
              <a:ext uri="{FF2B5EF4-FFF2-40B4-BE49-F238E27FC236}">
                <a16:creationId xmlns:a16="http://schemas.microsoft.com/office/drawing/2014/main" id="{761F9589-AA29-3C92-771B-8B07B94F64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848551"/>
            <a:ext cx="10515600" cy="3644324"/>
          </a:xfrm>
          <a:prstGeom prst="rect">
            <a:avLst/>
          </a:prstGeom>
          <a:effectLst>
            <a:softEdge rad="25400"/>
          </a:effectLst>
        </p:spPr>
      </p:pic>
    </p:spTree>
    <p:extLst>
      <p:ext uri="{BB962C8B-B14F-4D97-AF65-F5344CB8AC3E}">
        <p14:creationId xmlns:p14="http://schemas.microsoft.com/office/powerpoint/2010/main" val="24961348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12B90-A7DE-67ED-F7B2-371918689FE2}"/>
              </a:ext>
            </a:extLst>
          </p:cNvPr>
          <p:cNvSpPr>
            <a:spLocks noGrp="1"/>
          </p:cNvSpPr>
          <p:nvPr>
            <p:ph type="title"/>
          </p:nvPr>
        </p:nvSpPr>
        <p:spPr>
          <a:xfrm>
            <a:off x="838200" y="365126"/>
            <a:ext cx="10515600" cy="687820"/>
          </a:xfrm>
        </p:spPr>
        <p:txBody>
          <a:bodyPr>
            <a:normAutofit fontScale="90000"/>
          </a:bodyPr>
          <a:lstStyle/>
          <a:p>
            <a:r>
              <a:rPr lang="en-IN" b="1" dirty="0">
                <a:solidFill>
                  <a:schemeClr val="bg1"/>
                </a:solidFill>
              </a:rPr>
              <a:t>Airline Name Standardization</a:t>
            </a:r>
          </a:p>
        </p:txBody>
      </p:sp>
      <p:sp>
        <p:nvSpPr>
          <p:cNvPr id="3" name="Content Placeholder 2">
            <a:extLst>
              <a:ext uri="{FF2B5EF4-FFF2-40B4-BE49-F238E27FC236}">
                <a16:creationId xmlns:a16="http://schemas.microsoft.com/office/drawing/2014/main" id="{C102CE26-C00D-0163-51CD-1653530224CA}"/>
              </a:ext>
            </a:extLst>
          </p:cNvPr>
          <p:cNvSpPr>
            <a:spLocks noGrp="1"/>
          </p:cNvSpPr>
          <p:nvPr>
            <p:ph idx="1"/>
          </p:nvPr>
        </p:nvSpPr>
        <p:spPr>
          <a:xfrm>
            <a:off x="838200" y="1137805"/>
            <a:ext cx="10515600" cy="1490230"/>
          </a:xfrm>
        </p:spPr>
        <p:txBody>
          <a:bodyPr>
            <a:normAutofit lnSpcReduction="10000"/>
          </a:bodyPr>
          <a:lstStyle/>
          <a:p>
            <a:r>
              <a:rPr lang="en-IN" dirty="0">
                <a:solidFill>
                  <a:srgbClr val="002060"/>
                </a:solidFill>
              </a:rPr>
              <a:t>Created an </a:t>
            </a:r>
            <a:r>
              <a:rPr lang="en-IN" b="1" dirty="0">
                <a:solidFill>
                  <a:srgbClr val="002060"/>
                </a:solidFill>
              </a:rPr>
              <a:t>Airline Group</a:t>
            </a:r>
            <a:r>
              <a:rPr lang="en-IN" dirty="0">
                <a:solidFill>
                  <a:srgbClr val="002060"/>
                </a:solidFill>
              </a:rPr>
              <a:t> calculated column in Power BI.</a:t>
            </a:r>
          </a:p>
          <a:p>
            <a:r>
              <a:rPr lang="en-IN" dirty="0">
                <a:solidFill>
                  <a:srgbClr val="002060"/>
                </a:solidFill>
              </a:rPr>
              <a:t>Improved accuracy of airline comparisons.</a:t>
            </a:r>
          </a:p>
          <a:p>
            <a:r>
              <a:rPr lang="en-IN" dirty="0">
                <a:solidFill>
                  <a:srgbClr val="002060"/>
                </a:solidFill>
              </a:rPr>
              <a:t>Preserved historical continuity after airline rebranding.</a:t>
            </a:r>
          </a:p>
        </p:txBody>
      </p:sp>
      <p:pic>
        <p:nvPicPr>
          <p:cNvPr id="5" name="Picture 4">
            <a:extLst>
              <a:ext uri="{FF2B5EF4-FFF2-40B4-BE49-F238E27FC236}">
                <a16:creationId xmlns:a16="http://schemas.microsoft.com/office/drawing/2014/main" id="{79E648D2-29FD-7423-919B-303517473E47}"/>
              </a:ext>
            </a:extLst>
          </p:cNvPr>
          <p:cNvPicPr>
            <a:picLocks noChangeAspect="1"/>
          </p:cNvPicPr>
          <p:nvPr/>
        </p:nvPicPr>
        <p:blipFill>
          <a:blip r:embed="rId2"/>
          <a:stretch>
            <a:fillRect/>
          </a:stretch>
        </p:blipFill>
        <p:spPr>
          <a:xfrm>
            <a:off x="838200" y="2712894"/>
            <a:ext cx="6430818" cy="3740293"/>
          </a:xfrm>
          <a:prstGeom prst="rect">
            <a:avLst/>
          </a:prstGeom>
          <a:effectLst>
            <a:softEdge rad="0"/>
          </a:effectLst>
        </p:spPr>
      </p:pic>
    </p:spTree>
    <p:extLst>
      <p:ext uri="{BB962C8B-B14F-4D97-AF65-F5344CB8AC3E}">
        <p14:creationId xmlns:p14="http://schemas.microsoft.com/office/powerpoint/2010/main" val="827735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EAA78-594A-391B-F939-568CD887E593}"/>
              </a:ext>
            </a:extLst>
          </p:cNvPr>
          <p:cNvSpPr>
            <a:spLocks noGrp="1"/>
          </p:cNvSpPr>
          <p:nvPr>
            <p:ph type="title"/>
          </p:nvPr>
        </p:nvSpPr>
        <p:spPr>
          <a:xfrm>
            <a:off x="838200" y="275795"/>
            <a:ext cx="10515600" cy="593520"/>
          </a:xfrm>
        </p:spPr>
        <p:txBody>
          <a:bodyPr>
            <a:normAutofit fontScale="90000"/>
          </a:bodyPr>
          <a:lstStyle/>
          <a:p>
            <a:r>
              <a:rPr lang="en-IN" b="1" dirty="0">
                <a:solidFill>
                  <a:schemeClr val="bg1"/>
                </a:solidFill>
              </a:rPr>
              <a:t>Overall Airline Performance Overview</a:t>
            </a:r>
          </a:p>
        </p:txBody>
      </p:sp>
      <p:pic>
        <p:nvPicPr>
          <p:cNvPr id="5" name="Content Placeholder 4">
            <a:extLst>
              <a:ext uri="{FF2B5EF4-FFF2-40B4-BE49-F238E27FC236}">
                <a16:creationId xmlns:a16="http://schemas.microsoft.com/office/drawing/2014/main" id="{4D124280-2C6C-5EC9-24EC-C9B03094820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60800" y="958645"/>
            <a:ext cx="11247120" cy="5623560"/>
          </a:xfrm>
          <a:effectLst>
            <a:softEdge rad="25400"/>
          </a:effectLst>
        </p:spPr>
      </p:pic>
    </p:spTree>
    <p:extLst>
      <p:ext uri="{BB962C8B-B14F-4D97-AF65-F5344CB8AC3E}">
        <p14:creationId xmlns:p14="http://schemas.microsoft.com/office/powerpoint/2010/main" val="11989283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5065A80-F9F6-8DE8-79C0-FC52A92FF0AD}"/>
              </a:ext>
            </a:extLst>
          </p:cNvPr>
          <p:cNvSpPr>
            <a:spLocks noGrp="1"/>
          </p:cNvSpPr>
          <p:nvPr>
            <p:ph type="title"/>
          </p:nvPr>
        </p:nvSpPr>
        <p:spPr>
          <a:xfrm>
            <a:off x="838200" y="214073"/>
            <a:ext cx="10515600" cy="593520"/>
          </a:xfrm>
        </p:spPr>
        <p:txBody>
          <a:bodyPr>
            <a:normAutofit fontScale="90000"/>
          </a:bodyPr>
          <a:lstStyle/>
          <a:p>
            <a:r>
              <a:rPr lang="en-IN" b="1" dirty="0">
                <a:solidFill>
                  <a:schemeClr val="bg1"/>
                </a:solidFill>
              </a:rPr>
              <a:t>How Delays Change Over Time</a:t>
            </a:r>
          </a:p>
        </p:txBody>
      </p:sp>
      <p:pic>
        <p:nvPicPr>
          <p:cNvPr id="7" name="Content Placeholder 4">
            <a:extLst>
              <a:ext uri="{FF2B5EF4-FFF2-40B4-BE49-F238E27FC236}">
                <a16:creationId xmlns:a16="http://schemas.microsoft.com/office/drawing/2014/main" id="{41F5098E-6BE4-971E-AAD7-DE94C3EABD2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60800" y="958645"/>
            <a:ext cx="11247120" cy="5685282"/>
          </a:xfrm>
          <a:effectLst>
            <a:softEdge rad="38100"/>
          </a:effectLst>
        </p:spPr>
      </p:pic>
    </p:spTree>
    <p:extLst>
      <p:ext uri="{BB962C8B-B14F-4D97-AF65-F5344CB8AC3E}">
        <p14:creationId xmlns:p14="http://schemas.microsoft.com/office/powerpoint/2010/main" val="831793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2A2D88-05B3-6866-E8CF-D0D37C9C0FEA}"/>
              </a:ext>
            </a:extLst>
          </p:cNvPr>
          <p:cNvSpPr>
            <a:spLocks noGrp="1"/>
          </p:cNvSpPr>
          <p:nvPr>
            <p:ph type="title"/>
          </p:nvPr>
        </p:nvSpPr>
        <p:spPr>
          <a:xfrm>
            <a:off x="838200" y="241505"/>
            <a:ext cx="10515600" cy="593520"/>
          </a:xfrm>
        </p:spPr>
        <p:txBody>
          <a:bodyPr>
            <a:normAutofit fontScale="90000"/>
          </a:bodyPr>
          <a:lstStyle/>
          <a:p>
            <a:r>
              <a:rPr lang="en-IN" b="1" dirty="0">
                <a:solidFill>
                  <a:schemeClr val="bg1"/>
                </a:solidFill>
              </a:rPr>
              <a:t>Frequency vs Severity of Delays</a:t>
            </a:r>
          </a:p>
        </p:txBody>
      </p:sp>
      <p:pic>
        <p:nvPicPr>
          <p:cNvPr id="5" name="Content Placeholder 4">
            <a:extLst>
              <a:ext uri="{FF2B5EF4-FFF2-40B4-BE49-F238E27FC236}">
                <a16:creationId xmlns:a16="http://schemas.microsoft.com/office/drawing/2014/main" id="{C29122BE-C16F-2DDC-C575-F0808D5FE55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60800" y="958645"/>
            <a:ext cx="11247120" cy="5657850"/>
          </a:xfrm>
          <a:effectLst>
            <a:softEdge rad="38100"/>
          </a:effectLst>
        </p:spPr>
      </p:pic>
    </p:spTree>
    <p:extLst>
      <p:ext uri="{BB962C8B-B14F-4D97-AF65-F5344CB8AC3E}">
        <p14:creationId xmlns:p14="http://schemas.microsoft.com/office/powerpoint/2010/main" val="40500013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FAFB6-497D-DEA2-D5A0-526A22778A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34160-AD79-2770-4997-73A96FF28918}"/>
              </a:ext>
            </a:extLst>
          </p:cNvPr>
          <p:cNvSpPr>
            <a:spLocks noGrp="1"/>
          </p:cNvSpPr>
          <p:nvPr>
            <p:ph type="title"/>
          </p:nvPr>
        </p:nvSpPr>
        <p:spPr>
          <a:xfrm>
            <a:off x="838200" y="234647"/>
            <a:ext cx="10515600" cy="593520"/>
          </a:xfrm>
        </p:spPr>
        <p:txBody>
          <a:bodyPr>
            <a:normAutofit fontScale="90000"/>
          </a:bodyPr>
          <a:lstStyle/>
          <a:p>
            <a:r>
              <a:rPr lang="en-IN" b="1" dirty="0">
                <a:solidFill>
                  <a:schemeClr val="bg1"/>
                </a:solidFill>
              </a:rPr>
              <a:t>What Causes Delays?</a:t>
            </a:r>
          </a:p>
        </p:txBody>
      </p:sp>
      <p:pic>
        <p:nvPicPr>
          <p:cNvPr id="3" name="Content Placeholder 4">
            <a:extLst>
              <a:ext uri="{FF2B5EF4-FFF2-40B4-BE49-F238E27FC236}">
                <a16:creationId xmlns:a16="http://schemas.microsoft.com/office/drawing/2014/main" id="{1EC205F9-A564-29BC-600F-78C98159794B}"/>
              </a:ext>
            </a:extLst>
          </p:cNvPr>
          <p:cNvPicPr>
            <a:picLocks noGrp="1"/>
          </p:cNvPicPr>
          <p:nvPr>
            <p:ph idx="1"/>
          </p:nvPr>
        </p:nvPicPr>
        <p:blipFill>
          <a:blip r:embed="rId2">
            <a:extLst>
              <a:ext uri="{28A0092B-C50C-407E-A947-70E740481C1C}">
                <a14:useLocalDpi xmlns:a14="http://schemas.microsoft.com/office/drawing/2010/main" val="0"/>
              </a:ext>
            </a:extLst>
          </a:blip>
          <a:srcRect/>
          <a:stretch/>
        </p:blipFill>
        <p:spPr>
          <a:xfrm>
            <a:off x="460800" y="958645"/>
            <a:ext cx="11247120" cy="5664708"/>
          </a:xfrm>
          <a:effectLst>
            <a:softEdge rad="38100"/>
          </a:effectLst>
        </p:spPr>
      </p:pic>
    </p:spTree>
    <p:extLst>
      <p:ext uri="{BB962C8B-B14F-4D97-AF65-F5344CB8AC3E}">
        <p14:creationId xmlns:p14="http://schemas.microsoft.com/office/powerpoint/2010/main" val="24014257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ED110-DE80-6697-BF9A-680C74BBF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7A187-7295-7336-A538-0738F28E9408}"/>
              </a:ext>
            </a:extLst>
          </p:cNvPr>
          <p:cNvSpPr>
            <a:spLocks noGrp="1"/>
          </p:cNvSpPr>
          <p:nvPr>
            <p:ph type="title"/>
          </p:nvPr>
        </p:nvSpPr>
        <p:spPr>
          <a:xfrm>
            <a:off x="838200" y="234647"/>
            <a:ext cx="10515600" cy="593520"/>
          </a:xfrm>
        </p:spPr>
        <p:txBody>
          <a:bodyPr>
            <a:normAutofit fontScale="90000"/>
          </a:bodyPr>
          <a:lstStyle/>
          <a:p>
            <a:r>
              <a:rPr lang="en-IN" b="1" dirty="0">
                <a:solidFill>
                  <a:schemeClr val="bg1"/>
                </a:solidFill>
              </a:rPr>
              <a:t>Risk-Based Airline Performance Assessment</a:t>
            </a:r>
          </a:p>
        </p:txBody>
      </p:sp>
      <p:pic>
        <p:nvPicPr>
          <p:cNvPr id="3" name="Content Placeholder 4">
            <a:extLst>
              <a:ext uri="{FF2B5EF4-FFF2-40B4-BE49-F238E27FC236}">
                <a16:creationId xmlns:a16="http://schemas.microsoft.com/office/drawing/2014/main" id="{D09E4955-75CF-A701-397C-B1AAD36909B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61822" y="958645"/>
            <a:ext cx="11247120" cy="5664708"/>
          </a:xfrm>
          <a:effectLst>
            <a:softEdge rad="38100"/>
          </a:effectLst>
        </p:spPr>
      </p:pic>
    </p:spTree>
    <p:extLst>
      <p:ext uri="{BB962C8B-B14F-4D97-AF65-F5344CB8AC3E}">
        <p14:creationId xmlns:p14="http://schemas.microsoft.com/office/powerpoint/2010/main" val="124928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BB6F9-43D2-D3B2-41F8-F54AE460E24F}"/>
              </a:ext>
            </a:extLst>
          </p:cNvPr>
          <p:cNvSpPr>
            <a:spLocks noGrp="1"/>
          </p:cNvSpPr>
          <p:nvPr>
            <p:ph type="title"/>
          </p:nvPr>
        </p:nvSpPr>
        <p:spPr/>
        <p:txBody>
          <a:bodyPr>
            <a:normAutofit/>
          </a:bodyPr>
          <a:lstStyle/>
          <a:p>
            <a:pPr algn="ctr"/>
            <a:r>
              <a:rPr lang="en-US" sz="7200" dirty="0">
                <a:solidFill>
                  <a:schemeClr val="bg1"/>
                </a:solidFill>
              </a:rPr>
              <a:t>Efficiency Matrix</a:t>
            </a:r>
            <a:endParaRPr lang="en-IN" sz="7200" dirty="0">
              <a:solidFill>
                <a:schemeClr val="bg1"/>
              </a:solidFill>
            </a:endParaRPr>
          </a:p>
        </p:txBody>
      </p:sp>
      <p:pic>
        <p:nvPicPr>
          <p:cNvPr id="5" name="Content Placeholder 4">
            <a:extLst>
              <a:ext uri="{FF2B5EF4-FFF2-40B4-BE49-F238E27FC236}">
                <a16:creationId xmlns:a16="http://schemas.microsoft.com/office/drawing/2014/main" id="{B88DEC22-0E8E-69DE-3AE2-D32231B50B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25625"/>
            <a:ext cx="8582891" cy="4351338"/>
          </a:xfrm>
        </p:spPr>
      </p:pic>
      <p:pic>
        <p:nvPicPr>
          <p:cNvPr id="7" name="Picture 6">
            <a:extLst>
              <a:ext uri="{FF2B5EF4-FFF2-40B4-BE49-F238E27FC236}">
                <a16:creationId xmlns:a16="http://schemas.microsoft.com/office/drawing/2014/main" id="{ED18391B-48FA-0CC7-E664-EED781AF6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1090" y="1825625"/>
            <a:ext cx="1932709" cy="4351338"/>
          </a:xfrm>
          <a:prstGeom prst="rect">
            <a:avLst/>
          </a:prstGeom>
        </p:spPr>
      </p:pic>
    </p:spTree>
    <p:extLst>
      <p:ext uri="{BB962C8B-B14F-4D97-AF65-F5344CB8AC3E}">
        <p14:creationId xmlns:p14="http://schemas.microsoft.com/office/powerpoint/2010/main" val="3074972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B4EB3-566B-FA7F-8C91-BC15E7A80EFF}"/>
              </a:ext>
            </a:extLst>
          </p:cNvPr>
          <p:cNvSpPr>
            <a:spLocks noGrp="1"/>
          </p:cNvSpPr>
          <p:nvPr>
            <p:ph type="title"/>
          </p:nvPr>
        </p:nvSpPr>
        <p:spPr/>
        <p:txBody>
          <a:bodyPr vert="horz" lIns="91440" tIns="45720" rIns="91440" bIns="45720" rtlCol="0" anchor="ctr">
            <a:normAutofit/>
          </a:bodyPr>
          <a:lstStyle/>
          <a:p>
            <a:pPr algn="ctr"/>
            <a:r>
              <a:rPr lang="en-US" sz="7200" dirty="0">
                <a:solidFill>
                  <a:schemeClr val="bg1"/>
                </a:solidFill>
              </a:rPr>
              <a:t>Disruption Matrix</a:t>
            </a:r>
            <a:endParaRPr lang="en-IN" sz="7200" dirty="0">
              <a:solidFill>
                <a:schemeClr val="bg1"/>
              </a:solidFill>
            </a:endParaRPr>
          </a:p>
        </p:txBody>
      </p:sp>
      <p:pic>
        <p:nvPicPr>
          <p:cNvPr id="5" name="Content Placeholder 4">
            <a:extLst>
              <a:ext uri="{FF2B5EF4-FFF2-40B4-BE49-F238E27FC236}">
                <a16:creationId xmlns:a16="http://schemas.microsoft.com/office/drawing/2014/main" id="{5A34C352-6EBF-0ADB-B36C-CEB2DF5CF5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825625"/>
            <a:ext cx="8583000" cy="4351338"/>
          </a:xfrm>
        </p:spPr>
      </p:pic>
      <p:pic>
        <p:nvPicPr>
          <p:cNvPr id="7" name="Picture 6">
            <a:extLst>
              <a:ext uri="{FF2B5EF4-FFF2-40B4-BE49-F238E27FC236}">
                <a16:creationId xmlns:a16="http://schemas.microsoft.com/office/drawing/2014/main" id="{42969027-F5EF-BBEB-926E-0464C71F36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1200" y="1825623"/>
            <a:ext cx="1932599" cy="4351339"/>
          </a:xfrm>
          <a:prstGeom prst="rect">
            <a:avLst/>
          </a:prstGeom>
        </p:spPr>
      </p:pic>
    </p:spTree>
    <p:extLst>
      <p:ext uri="{BB962C8B-B14F-4D97-AF65-F5344CB8AC3E}">
        <p14:creationId xmlns:p14="http://schemas.microsoft.com/office/powerpoint/2010/main" val="4925747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078A4-98A4-F136-B21F-A4F4FA9F0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7C647-5D11-F299-437E-167AEE647CF5}"/>
              </a:ext>
            </a:extLst>
          </p:cNvPr>
          <p:cNvSpPr>
            <a:spLocks noGrp="1"/>
          </p:cNvSpPr>
          <p:nvPr>
            <p:ph type="title"/>
          </p:nvPr>
        </p:nvSpPr>
        <p:spPr/>
        <p:txBody>
          <a:bodyPr>
            <a:normAutofit/>
          </a:bodyPr>
          <a:lstStyle/>
          <a:p>
            <a:r>
              <a:rPr lang="en-IN" sz="7200" b="1" dirty="0">
                <a:solidFill>
                  <a:schemeClr val="bg1"/>
                </a:solidFill>
              </a:rPr>
              <a:t>Key Business Insights</a:t>
            </a:r>
          </a:p>
        </p:txBody>
      </p:sp>
      <p:sp>
        <p:nvSpPr>
          <p:cNvPr id="3" name="Content Placeholder 2">
            <a:extLst>
              <a:ext uri="{FF2B5EF4-FFF2-40B4-BE49-F238E27FC236}">
                <a16:creationId xmlns:a16="http://schemas.microsoft.com/office/drawing/2014/main" id="{C79E18BE-6050-96BD-A069-AAC6B2BDCAAE}"/>
              </a:ext>
            </a:extLst>
          </p:cNvPr>
          <p:cNvSpPr>
            <a:spLocks noGrp="1"/>
          </p:cNvSpPr>
          <p:nvPr>
            <p:ph idx="1"/>
          </p:nvPr>
        </p:nvSpPr>
        <p:spPr/>
        <p:txBody>
          <a:bodyPr>
            <a:normAutofit/>
          </a:bodyPr>
          <a:lstStyle/>
          <a:p>
            <a:r>
              <a:rPr lang="en-IN" sz="4000" dirty="0">
                <a:solidFill>
                  <a:srgbClr val="002060"/>
                </a:solidFill>
              </a:rPr>
              <a:t>Carrier-related delays are the biggest contributor</a:t>
            </a:r>
          </a:p>
          <a:p>
            <a:r>
              <a:rPr lang="en-IN" sz="4000" dirty="0">
                <a:solidFill>
                  <a:srgbClr val="002060"/>
                </a:solidFill>
              </a:rPr>
              <a:t>Delay behaviour is highly seasonal</a:t>
            </a:r>
          </a:p>
          <a:p>
            <a:r>
              <a:rPr lang="en-IN" sz="4000" dirty="0">
                <a:solidFill>
                  <a:srgbClr val="002060"/>
                </a:solidFill>
              </a:rPr>
              <a:t>Airlines differ in </a:t>
            </a:r>
            <a:r>
              <a:rPr lang="en-IN" sz="4000" b="1" dirty="0">
                <a:solidFill>
                  <a:srgbClr val="002060"/>
                </a:solidFill>
              </a:rPr>
              <a:t>frequency vs severity</a:t>
            </a:r>
          </a:p>
          <a:p>
            <a:r>
              <a:rPr lang="en-IN" sz="4000" dirty="0">
                <a:solidFill>
                  <a:srgbClr val="002060"/>
                </a:solidFill>
              </a:rPr>
              <a:t>OTP alone is insufficient for evaluation</a:t>
            </a:r>
          </a:p>
          <a:p>
            <a:r>
              <a:rPr lang="en-IN" sz="4000" dirty="0">
                <a:solidFill>
                  <a:srgbClr val="002060"/>
                </a:solidFill>
              </a:rPr>
              <a:t>KPI-based assessment gives better operational visibility</a:t>
            </a:r>
          </a:p>
        </p:txBody>
      </p:sp>
    </p:spTree>
    <p:extLst>
      <p:ext uri="{BB962C8B-B14F-4D97-AF65-F5344CB8AC3E}">
        <p14:creationId xmlns:p14="http://schemas.microsoft.com/office/powerpoint/2010/main" val="18872641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7A317-4BEB-51BA-003F-67B07306C77A}"/>
              </a:ext>
            </a:extLst>
          </p:cNvPr>
          <p:cNvSpPr>
            <a:spLocks noGrp="1"/>
          </p:cNvSpPr>
          <p:nvPr>
            <p:ph type="title"/>
          </p:nvPr>
        </p:nvSpPr>
        <p:spPr>
          <a:xfrm>
            <a:off x="838200" y="93391"/>
            <a:ext cx="10515600" cy="482600"/>
          </a:xfrm>
        </p:spPr>
        <p:txBody>
          <a:bodyPr>
            <a:noAutofit/>
          </a:bodyPr>
          <a:lstStyle/>
          <a:p>
            <a:pPr algn="ctr"/>
            <a:r>
              <a:rPr lang="en-IN" sz="3600" b="1" dirty="0">
                <a:solidFill>
                  <a:schemeClr val="bg1"/>
                </a:solidFill>
              </a:rPr>
              <a:t>DAX Measures Dictionary</a:t>
            </a:r>
          </a:p>
        </p:txBody>
      </p:sp>
      <p:graphicFrame>
        <p:nvGraphicFramePr>
          <p:cNvPr id="4" name="Content Placeholder 3">
            <a:extLst>
              <a:ext uri="{FF2B5EF4-FFF2-40B4-BE49-F238E27FC236}">
                <a16:creationId xmlns:a16="http://schemas.microsoft.com/office/drawing/2014/main" id="{9DCED927-A246-8F06-A01E-53C244F62214}"/>
              </a:ext>
            </a:extLst>
          </p:cNvPr>
          <p:cNvGraphicFramePr>
            <a:graphicFrameLocks noGrp="1"/>
          </p:cNvGraphicFramePr>
          <p:nvPr>
            <p:ph idx="1"/>
            <p:extLst>
              <p:ext uri="{D42A27DB-BD31-4B8C-83A1-F6EECF244321}">
                <p14:modId xmlns:p14="http://schemas.microsoft.com/office/powerpoint/2010/main" val="1041312878"/>
              </p:ext>
            </p:extLst>
          </p:nvPr>
        </p:nvGraphicFramePr>
        <p:xfrm>
          <a:off x="838200" y="685494"/>
          <a:ext cx="10515600" cy="5596515"/>
        </p:xfrm>
        <a:graphic>
          <a:graphicData uri="http://schemas.openxmlformats.org/drawingml/2006/table">
            <a:tbl>
              <a:tblPr firstRow="1" bandRow="1">
                <a:tableStyleId>{5C22544A-7EE6-4342-B048-85BDC9FD1C3A}</a:tableStyleId>
              </a:tblPr>
              <a:tblGrid>
                <a:gridCol w="2321802">
                  <a:extLst>
                    <a:ext uri="{9D8B030D-6E8A-4147-A177-3AD203B41FA5}">
                      <a16:colId xmlns:a16="http://schemas.microsoft.com/office/drawing/2014/main" val="2334115989"/>
                    </a:ext>
                  </a:extLst>
                </a:gridCol>
                <a:gridCol w="1997829">
                  <a:extLst>
                    <a:ext uri="{9D8B030D-6E8A-4147-A177-3AD203B41FA5}">
                      <a16:colId xmlns:a16="http://schemas.microsoft.com/office/drawing/2014/main" val="3233664862"/>
                    </a:ext>
                  </a:extLst>
                </a:gridCol>
                <a:gridCol w="6195969">
                  <a:extLst>
                    <a:ext uri="{9D8B030D-6E8A-4147-A177-3AD203B41FA5}">
                      <a16:colId xmlns:a16="http://schemas.microsoft.com/office/drawing/2014/main" val="4183202058"/>
                    </a:ext>
                  </a:extLst>
                </a:gridCol>
              </a:tblGrid>
              <a:tr h="373101">
                <a:tc>
                  <a:txBody>
                    <a:bodyPr/>
                    <a:lstStyle/>
                    <a:p>
                      <a:r>
                        <a:rPr lang="en-IN" sz="1200" dirty="0"/>
                        <a:t>Measure Name</a:t>
                      </a:r>
                    </a:p>
                  </a:txBody>
                  <a:tcPr/>
                </a:tc>
                <a:tc>
                  <a:txBody>
                    <a:bodyPr/>
                    <a:lstStyle/>
                    <a:p>
                      <a:r>
                        <a:rPr lang="en-IN" sz="1200" dirty="0"/>
                        <a:t>Purpose</a:t>
                      </a:r>
                    </a:p>
                  </a:txBody>
                  <a:tcPr/>
                </a:tc>
                <a:tc>
                  <a:txBody>
                    <a:bodyPr/>
                    <a:lstStyle/>
                    <a:p>
                      <a:r>
                        <a:rPr lang="en-IN" sz="1200" dirty="0"/>
                        <a:t>Definition / Formula</a:t>
                      </a:r>
                    </a:p>
                  </a:txBody>
                  <a:tcPr/>
                </a:tc>
                <a:extLst>
                  <a:ext uri="{0D108BD9-81ED-4DB2-BD59-A6C34878D82A}">
                    <a16:rowId xmlns:a16="http://schemas.microsoft.com/office/drawing/2014/main" val="3804079440"/>
                  </a:ext>
                </a:extLst>
              </a:tr>
              <a:tr h="373101">
                <a:tc>
                  <a:txBody>
                    <a:bodyPr/>
                    <a:lstStyle/>
                    <a:p>
                      <a:r>
                        <a:rPr lang="en-IN" sz="1200" dirty="0" err="1"/>
                        <a:t>Avg</a:t>
                      </a:r>
                      <a:r>
                        <a:rPr lang="en-IN" sz="1200" dirty="0"/>
                        <a:t> Monthly Delay Rate</a:t>
                      </a:r>
                    </a:p>
                  </a:txBody>
                  <a:tcPr/>
                </a:tc>
                <a:tc>
                  <a:txBody>
                    <a:bodyPr/>
                    <a:lstStyle/>
                    <a:p>
                      <a:r>
                        <a:rPr lang="en-IN" sz="1200" dirty="0"/>
                        <a:t>Trend analysis</a:t>
                      </a:r>
                    </a:p>
                  </a:txBody>
                  <a:tcPr/>
                </a:tc>
                <a:tc>
                  <a:txBody>
                    <a:bodyPr/>
                    <a:lstStyle/>
                    <a:p>
                      <a:r>
                        <a:rPr lang="en-IN" sz="1200" dirty="0"/>
                        <a:t>Average delay rate by month</a:t>
                      </a:r>
                    </a:p>
                  </a:txBody>
                  <a:tcPr/>
                </a:tc>
                <a:extLst>
                  <a:ext uri="{0D108BD9-81ED-4DB2-BD59-A6C34878D82A}">
                    <a16:rowId xmlns:a16="http://schemas.microsoft.com/office/drawing/2014/main" val="3024440332"/>
                  </a:ext>
                </a:extLst>
              </a:tr>
              <a:tr h="373101">
                <a:tc>
                  <a:txBody>
                    <a:bodyPr/>
                    <a:lstStyle/>
                    <a:p>
                      <a:r>
                        <a:rPr lang="en-IN" sz="1200" dirty="0"/>
                        <a:t>Best Airline</a:t>
                      </a:r>
                    </a:p>
                  </a:txBody>
                  <a:tcPr/>
                </a:tc>
                <a:tc>
                  <a:txBody>
                    <a:bodyPr/>
                    <a:lstStyle/>
                    <a:p>
                      <a:r>
                        <a:rPr lang="en-IN" sz="1200" dirty="0"/>
                        <a:t>Ranking</a:t>
                      </a:r>
                    </a:p>
                  </a:txBody>
                  <a:tcPr/>
                </a:tc>
                <a:tc>
                  <a:txBody>
                    <a:bodyPr/>
                    <a:lstStyle/>
                    <a:p>
                      <a:r>
                        <a:rPr lang="en-IN" sz="1200" dirty="0"/>
                        <a:t>Airline with lowest disruption</a:t>
                      </a:r>
                    </a:p>
                  </a:txBody>
                  <a:tcPr/>
                </a:tc>
                <a:extLst>
                  <a:ext uri="{0D108BD9-81ED-4DB2-BD59-A6C34878D82A}">
                    <a16:rowId xmlns:a16="http://schemas.microsoft.com/office/drawing/2014/main" val="1506714541"/>
                  </a:ext>
                </a:extLst>
              </a:tr>
              <a:tr h="373101">
                <a:tc>
                  <a:txBody>
                    <a:bodyPr/>
                    <a:lstStyle/>
                    <a:p>
                      <a:r>
                        <a:rPr lang="en-IN" sz="1200" dirty="0"/>
                        <a:t>Cancel Rate</a:t>
                      </a:r>
                    </a:p>
                  </a:txBody>
                  <a:tcPr/>
                </a:tc>
                <a:tc>
                  <a:txBody>
                    <a:bodyPr/>
                    <a:lstStyle/>
                    <a:p>
                      <a:r>
                        <a:rPr lang="en-IN" sz="1200" dirty="0"/>
                        <a:t>Efficiency KPI</a:t>
                      </a:r>
                    </a:p>
                  </a:txBody>
                  <a:tcPr/>
                </a:tc>
                <a:tc>
                  <a:txBody>
                    <a:bodyPr/>
                    <a:lstStyle/>
                    <a:p>
                      <a:r>
                        <a:rPr lang="en-IN" sz="1200" dirty="0"/>
                        <a:t>Cancelled Flights ÷ Total Flights</a:t>
                      </a:r>
                    </a:p>
                  </a:txBody>
                  <a:tcPr/>
                </a:tc>
                <a:extLst>
                  <a:ext uri="{0D108BD9-81ED-4DB2-BD59-A6C34878D82A}">
                    <a16:rowId xmlns:a16="http://schemas.microsoft.com/office/drawing/2014/main" val="2697185838"/>
                  </a:ext>
                </a:extLst>
              </a:tr>
              <a:tr h="373101">
                <a:tc>
                  <a:txBody>
                    <a:bodyPr/>
                    <a:lstStyle/>
                    <a:p>
                      <a:r>
                        <a:rPr lang="en-IN" sz="1200" dirty="0"/>
                        <a:t>Delay Frequency</a:t>
                      </a:r>
                    </a:p>
                  </a:txBody>
                  <a:tcPr/>
                </a:tc>
                <a:tc>
                  <a:txBody>
                    <a:bodyPr/>
                    <a:lstStyle/>
                    <a:p>
                      <a:r>
                        <a:rPr lang="en-IN" sz="1200" dirty="0"/>
                        <a:t>Frequency KPI</a:t>
                      </a:r>
                    </a:p>
                  </a:txBody>
                  <a:tcPr/>
                </a:tc>
                <a:tc>
                  <a:txBody>
                    <a:bodyPr/>
                    <a:lstStyle/>
                    <a:p>
                      <a:r>
                        <a:rPr lang="en-IN" sz="1200" dirty="0"/>
                        <a:t>Delayed Flights ÷ Total Flights</a:t>
                      </a:r>
                    </a:p>
                  </a:txBody>
                  <a:tcPr/>
                </a:tc>
                <a:extLst>
                  <a:ext uri="{0D108BD9-81ED-4DB2-BD59-A6C34878D82A}">
                    <a16:rowId xmlns:a16="http://schemas.microsoft.com/office/drawing/2014/main" val="3414688876"/>
                  </a:ext>
                </a:extLst>
              </a:tr>
              <a:tr h="373101">
                <a:tc>
                  <a:txBody>
                    <a:bodyPr/>
                    <a:lstStyle/>
                    <a:p>
                      <a:r>
                        <a:rPr lang="en-IN" sz="1200" dirty="0"/>
                        <a:t>Delay Rate</a:t>
                      </a:r>
                    </a:p>
                  </a:txBody>
                  <a:tcPr/>
                </a:tc>
                <a:tc>
                  <a:txBody>
                    <a:bodyPr/>
                    <a:lstStyle/>
                    <a:p>
                      <a:r>
                        <a:rPr lang="en-IN" sz="1200" dirty="0"/>
                        <a:t>Severity KPI</a:t>
                      </a:r>
                    </a:p>
                  </a:txBody>
                  <a:tcPr/>
                </a:tc>
                <a:tc>
                  <a:txBody>
                    <a:bodyPr/>
                    <a:lstStyle/>
                    <a:p>
                      <a:r>
                        <a:rPr lang="en-IN" sz="1200" dirty="0"/>
                        <a:t>Delay Minutes ÷ Flights</a:t>
                      </a:r>
                    </a:p>
                  </a:txBody>
                  <a:tcPr/>
                </a:tc>
                <a:extLst>
                  <a:ext uri="{0D108BD9-81ED-4DB2-BD59-A6C34878D82A}">
                    <a16:rowId xmlns:a16="http://schemas.microsoft.com/office/drawing/2014/main" val="51565604"/>
                  </a:ext>
                </a:extLst>
              </a:tr>
              <a:tr h="373101">
                <a:tc>
                  <a:txBody>
                    <a:bodyPr/>
                    <a:lstStyle/>
                    <a:p>
                      <a:r>
                        <a:rPr lang="en-IN" sz="1200" dirty="0"/>
                        <a:t>Delay Severity</a:t>
                      </a:r>
                    </a:p>
                  </a:txBody>
                  <a:tcPr/>
                </a:tc>
                <a:tc>
                  <a:txBody>
                    <a:bodyPr/>
                    <a:lstStyle/>
                    <a:p>
                      <a:r>
                        <a:rPr lang="en-IN" sz="1200" dirty="0"/>
                        <a:t>Severity KPI</a:t>
                      </a:r>
                    </a:p>
                  </a:txBody>
                  <a:tcPr/>
                </a:tc>
                <a:tc>
                  <a:txBody>
                    <a:bodyPr/>
                    <a:lstStyle/>
                    <a:p>
                      <a:r>
                        <a:rPr lang="en-IN" sz="1200" dirty="0"/>
                        <a:t>Average delay per delayed flight</a:t>
                      </a:r>
                    </a:p>
                  </a:txBody>
                  <a:tcPr/>
                </a:tc>
                <a:extLst>
                  <a:ext uri="{0D108BD9-81ED-4DB2-BD59-A6C34878D82A}">
                    <a16:rowId xmlns:a16="http://schemas.microsoft.com/office/drawing/2014/main" val="3077481331"/>
                  </a:ext>
                </a:extLst>
              </a:tr>
              <a:tr h="373101">
                <a:tc>
                  <a:txBody>
                    <a:bodyPr/>
                    <a:lstStyle/>
                    <a:p>
                      <a:r>
                        <a:rPr lang="en-IN" sz="1200" dirty="0"/>
                        <a:t>Disruption Score</a:t>
                      </a:r>
                    </a:p>
                  </a:txBody>
                  <a:tcPr/>
                </a:tc>
                <a:tc>
                  <a:txBody>
                    <a:bodyPr/>
                    <a:lstStyle/>
                    <a:p>
                      <a:r>
                        <a:rPr lang="en-IN" sz="1200" dirty="0"/>
                        <a:t>Risk KPI</a:t>
                      </a:r>
                    </a:p>
                  </a:txBody>
                  <a:tcPr/>
                </a:tc>
                <a:tc>
                  <a:txBody>
                    <a:bodyPr/>
                    <a:lstStyle/>
                    <a:p>
                      <a:r>
                        <a:rPr lang="en-IN" sz="1200" dirty="0"/>
                        <a:t>Weighted disruption metric</a:t>
                      </a:r>
                    </a:p>
                  </a:txBody>
                  <a:tcPr/>
                </a:tc>
                <a:extLst>
                  <a:ext uri="{0D108BD9-81ED-4DB2-BD59-A6C34878D82A}">
                    <a16:rowId xmlns:a16="http://schemas.microsoft.com/office/drawing/2014/main" val="1018977599"/>
                  </a:ext>
                </a:extLst>
              </a:tr>
              <a:tr h="373101">
                <a:tc>
                  <a:txBody>
                    <a:bodyPr/>
                    <a:lstStyle/>
                    <a:p>
                      <a:r>
                        <a:rPr lang="en-IN" sz="1200" dirty="0"/>
                        <a:t>Efficiency Quadrant</a:t>
                      </a:r>
                    </a:p>
                  </a:txBody>
                  <a:tcPr/>
                </a:tc>
                <a:tc>
                  <a:txBody>
                    <a:bodyPr/>
                    <a:lstStyle/>
                    <a:p>
                      <a:r>
                        <a:rPr lang="en-IN" sz="1200" dirty="0"/>
                        <a:t>Segmentation</a:t>
                      </a:r>
                    </a:p>
                  </a:txBody>
                  <a:tcPr/>
                </a:tc>
                <a:tc>
                  <a:txBody>
                    <a:bodyPr/>
                    <a:lstStyle/>
                    <a:p>
                      <a:r>
                        <a:rPr lang="en-IN" sz="1200" dirty="0"/>
                        <a:t>Airline classification using frequency vs severity</a:t>
                      </a:r>
                    </a:p>
                  </a:txBody>
                  <a:tcPr/>
                </a:tc>
                <a:extLst>
                  <a:ext uri="{0D108BD9-81ED-4DB2-BD59-A6C34878D82A}">
                    <a16:rowId xmlns:a16="http://schemas.microsoft.com/office/drawing/2014/main" val="2834963312"/>
                  </a:ext>
                </a:extLst>
              </a:tr>
              <a:tr h="373101">
                <a:tc>
                  <a:txBody>
                    <a:bodyPr/>
                    <a:lstStyle/>
                    <a:p>
                      <a:r>
                        <a:rPr lang="en-IN" sz="1200" dirty="0"/>
                        <a:t>High Risk Airlines Count</a:t>
                      </a:r>
                    </a:p>
                  </a:txBody>
                  <a:tcPr/>
                </a:tc>
                <a:tc>
                  <a:txBody>
                    <a:bodyPr/>
                    <a:lstStyle/>
                    <a:p>
                      <a:r>
                        <a:rPr lang="en-IN" sz="1200" dirty="0"/>
                        <a:t>Risk monitoring</a:t>
                      </a:r>
                    </a:p>
                  </a:txBody>
                  <a:tcPr/>
                </a:tc>
                <a:tc>
                  <a:txBody>
                    <a:bodyPr/>
                    <a:lstStyle/>
                    <a:p>
                      <a:r>
                        <a:rPr lang="en-IN" sz="1200" dirty="0"/>
                        <a:t>Count of high-risk airlines</a:t>
                      </a:r>
                    </a:p>
                  </a:txBody>
                  <a:tcPr/>
                </a:tc>
                <a:extLst>
                  <a:ext uri="{0D108BD9-81ED-4DB2-BD59-A6C34878D82A}">
                    <a16:rowId xmlns:a16="http://schemas.microsoft.com/office/drawing/2014/main" val="2313459015"/>
                  </a:ext>
                </a:extLst>
              </a:tr>
              <a:tr h="373101">
                <a:tc>
                  <a:txBody>
                    <a:bodyPr/>
                    <a:lstStyle/>
                    <a:p>
                      <a:r>
                        <a:rPr lang="en-IN" sz="1200" dirty="0"/>
                        <a:t>High Risk </a:t>
                      </a:r>
                      <a:r>
                        <a:rPr lang="en-IN" sz="1200" dirty="0" err="1"/>
                        <a:t>Color</a:t>
                      </a:r>
                      <a:endParaRPr lang="en-IN" sz="1200" dirty="0"/>
                    </a:p>
                  </a:txBody>
                  <a:tcPr/>
                </a:tc>
                <a:tc>
                  <a:txBody>
                    <a:bodyPr/>
                    <a:lstStyle/>
                    <a:p>
                      <a:r>
                        <a:rPr lang="en-IN" sz="1200" dirty="0"/>
                        <a:t>Conditional formatting</a:t>
                      </a:r>
                    </a:p>
                  </a:txBody>
                  <a:tcPr/>
                </a:tc>
                <a:tc>
                  <a:txBody>
                    <a:bodyPr/>
                    <a:lstStyle/>
                    <a:p>
                      <a:r>
                        <a:rPr lang="en-IN" sz="1200" dirty="0" err="1"/>
                        <a:t>Color</a:t>
                      </a:r>
                      <a:r>
                        <a:rPr lang="en-IN" sz="1200" dirty="0"/>
                        <a:t> logic for risk visuals</a:t>
                      </a:r>
                    </a:p>
                  </a:txBody>
                  <a:tcPr/>
                </a:tc>
                <a:extLst>
                  <a:ext uri="{0D108BD9-81ED-4DB2-BD59-A6C34878D82A}">
                    <a16:rowId xmlns:a16="http://schemas.microsoft.com/office/drawing/2014/main" val="3214827224"/>
                  </a:ext>
                </a:extLst>
              </a:tr>
              <a:tr h="373101">
                <a:tc>
                  <a:txBody>
                    <a:bodyPr/>
                    <a:lstStyle/>
                    <a:p>
                      <a:r>
                        <a:rPr lang="en-IN" sz="1200" dirty="0"/>
                        <a:t>High Risk Flag</a:t>
                      </a:r>
                    </a:p>
                  </a:txBody>
                  <a:tcPr/>
                </a:tc>
                <a:tc>
                  <a:txBody>
                    <a:bodyPr/>
                    <a:lstStyle/>
                    <a:p>
                      <a:r>
                        <a:rPr lang="en-IN" sz="1200" dirty="0"/>
                        <a:t>Risk classification</a:t>
                      </a:r>
                    </a:p>
                  </a:txBody>
                  <a:tcPr/>
                </a:tc>
                <a:tc>
                  <a:txBody>
                    <a:bodyPr/>
                    <a:lstStyle/>
                    <a:p>
                      <a:r>
                        <a:rPr lang="en-IN" sz="1200" dirty="0"/>
                        <a:t>Flags airlines as high/low risk</a:t>
                      </a:r>
                    </a:p>
                  </a:txBody>
                  <a:tcPr/>
                </a:tc>
                <a:extLst>
                  <a:ext uri="{0D108BD9-81ED-4DB2-BD59-A6C34878D82A}">
                    <a16:rowId xmlns:a16="http://schemas.microsoft.com/office/drawing/2014/main" val="1963189604"/>
                  </a:ext>
                </a:extLst>
              </a:tr>
              <a:tr h="373101">
                <a:tc>
                  <a:txBody>
                    <a:bodyPr/>
                    <a:lstStyle/>
                    <a:p>
                      <a:r>
                        <a:rPr lang="en-IN" sz="1200" dirty="0"/>
                        <a:t>Highest </a:t>
                      </a:r>
                      <a:r>
                        <a:rPr lang="en-IN" sz="1200" dirty="0" err="1"/>
                        <a:t>Avg</a:t>
                      </a:r>
                      <a:r>
                        <a:rPr lang="en-IN" sz="1200" dirty="0"/>
                        <a:t> Delay Cause</a:t>
                      </a:r>
                    </a:p>
                  </a:txBody>
                  <a:tcPr/>
                </a:tc>
                <a:tc>
                  <a:txBody>
                    <a:bodyPr/>
                    <a:lstStyle/>
                    <a:p>
                      <a:r>
                        <a:rPr lang="en-IN" sz="1200" dirty="0"/>
                        <a:t>Root cause analysis</a:t>
                      </a:r>
                    </a:p>
                  </a:txBody>
                  <a:tcPr/>
                </a:tc>
                <a:tc>
                  <a:txBody>
                    <a:bodyPr/>
                    <a:lstStyle/>
                    <a:p>
                      <a:r>
                        <a:rPr lang="en-IN" sz="1200" dirty="0"/>
                        <a:t>Largest severity contributor</a:t>
                      </a:r>
                    </a:p>
                  </a:txBody>
                  <a:tcPr/>
                </a:tc>
                <a:extLst>
                  <a:ext uri="{0D108BD9-81ED-4DB2-BD59-A6C34878D82A}">
                    <a16:rowId xmlns:a16="http://schemas.microsoft.com/office/drawing/2014/main" val="2958136415"/>
                  </a:ext>
                </a:extLst>
              </a:tr>
              <a:tr h="373101">
                <a:tc>
                  <a:txBody>
                    <a:bodyPr/>
                    <a:lstStyle/>
                    <a:p>
                      <a:r>
                        <a:rPr lang="en-IN" sz="1200" dirty="0"/>
                        <a:t>Impax %</a:t>
                      </a:r>
                    </a:p>
                  </a:txBody>
                  <a:tcPr/>
                </a:tc>
                <a:tc>
                  <a:txBody>
                    <a:bodyPr/>
                    <a:lstStyle/>
                    <a:p>
                      <a:r>
                        <a:rPr lang="en-IN" sz="1200" dirty="0"/>
                        <a:t>Passenger impact KPI</a:t>
                      </a:r>
                    </a:p>
                  </a:txBody>
                  <a:tcPr/>
                </a:tc>
                <a:tc>
                  <a:txBody>
                    <a:bodyPr/>
                    <a:lstStyle/>
                    <a:p>
                      <a:r>
                        <a:rPr lang="en-IN" sz="1200" dirty="0"/>
                        <a:t>(Severe Delays + Cancellations) ÷ Flights</a:t>
                      </a:r>
                    </a:p>
                  </a:txBody>
                  <a:tcPr/>
                </a:tc>
                <a:extLst>
                  <a:ext uri="{0D108BD9-81ED-4DB2-BD59-A6C34878D82A}">
                    <a16:rowId xmlns:a16="http://schemas.microsoft.com/office/drawing/2014/main" val="2288726046"/>
                  </a:ext>
                </a:extLst>
              </a:tr>
              <a:tr h="373101">
                <a:tc>
                  <a:txBody>
                    <a:bodyPr/>
                    <a:lstStyle/>
                    <a:p>
                      <a:r>
                        <a:rPr lang="en-IN" sz="1200" dirty="0"/>
                        <a:t>Lowest Delay Month</a:t>
                      </a:r>
                    </a:p>
                  </a:txBody>
                  <a:tcPr/>
                </a:tc>
                <a:tc>
                  <a:txBody>
                    <a:bodyPr/>
                    <a:lstStyle/>
                    <a:p>
                      <a:r>
                        <a:rPr lang="en-IN" sz="1200" dirty="0"/>
                        <a:t>Time intelligence</a:t>
                      </a:r>
                    </a:p>
                  </a:txBody>
                  <a:tcPr/>
                </a:tc>
                <a:tc>
                  <a:txBody>
                    <a:bodyPr/>
                    <a:lstStyle/>
                    <a:p>
                      <a:r>
                        <a:rPr lang="en-IN" sz="1200" dirty="0"/>
                        <a:t>Month with lowest delays</a:t>
                      </a:r>
                    </a:p>
                  </a:txBody>
                  <a:tcPr/>
                </a:tc>
                <a:extLst>
                  <a:ext uri="{0D108BD9-81ED-4DB2-BD59-A6C34878D82A}">
                    <a16:rowId xmlns:a16="http://schemas.microsoft.com/office/drawing/2014/main" val="596512008"/>
                  </a:ext>
                </a:extLst>
              </a:tr>
            </a:tbl>
          </a:graphicData>
        </a:graphic>
      </p:graphicFrame>
    </p:spTree>
    <p:extLst>
      <p:ext uri="{BB962C8B-B14F-4D97-AF65-F5344CB8AC3E}">
        <p14:creationId xmlns:p14="http://schemas.microsoft.com/office/powerpoint/2010/main" val="3656111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515CE09-CAFC-2FD0-B58E-49C3D285CB55}"/>
              </a:ext>
            </a:extLst>
          </p:cNvPr>
          <p:cNvGraphicFramePr>
            <a:graphicFrameLocks noGrp="1"/>
          </p:cNvGraphicFramePr>
          <p:nvPr>
            <p:ph idx="1"/>
            <p:extLst>
              <p:ext uri="{D42A27DB-BD31-4B8C-83A1-F6EECF244321}">
                <p14:modId xmlns:p14="http://schemas.microsoft.com/office/powerpoint/2010/main" val="956312110"/>
              </p:ext>
            </p:extLst>
          </p:nvPr>
        </p:nvGraphicFramePr>
        <p:xfrm>
          <a:off x="838200" y="771525"/>
          <a:ext cx="10515600" cy="5536908"/>
        </p:xfrm>
        <a:graphic>
          <a:graphicData uri="http://schemas.openxmlformats.org/drawingml/2006/table">
            <a:tbl>
              <a:tblPr firstRow="1" bandRow="1">
                <a:tableStyleId>{5C22544A-7EE6-4342-B048-85BDC9FD1C3A}</a:tableStyleId>
              </a:tblPr>
              <a:tblGrid>
                <a:gridCol w="2329131">
                  <a:extLst>
                    <a:ext uri="{9D8B030D-6E8A-4147-A177-3AD203B41FA5}">
                      <a16:colId xmlns:a16="http://schemas.microsoft.com/office/drawing/2014/main" val="845328083"/>
                    </a:ext>
                  </a:extLst>
                </a:gridCol>
                <a:gridCol w="1975449">
                  <a:extLst>
                    <a:ext uri="{9D8B030D-6E8A-4147-A177-3AD203B41FA5}">
                      <a16:colId xmlns:a16="http://schemas.microsoft.com/office/drawing/2014/main" val="3532243805"/>
                    </a:ext>
                  </a:extLst>
                </a:gridCol>
                <a:gridCol w="6211020">
                  <a:extLst>
                    <a:ext uri="{9D8B030D-6E8A-4147-A177-3AD203B41FA5}">
                      <a16:colId xmlns:a16="http://schemas.microsoft.com/office/drawing/2014/main" val="885213340"/>
                    </a:ext>
                  </a:extLst>
                </a:gridCol>
              </a:tblGrid>
              <a:tr h="425916">
                <a:tc>
                  <a:txBody>
                    <a:bodyPr/>
                    <a:lstStyle/>
                    <a:p>
                      <a:r>
                        <a:rPr lang="en-IN" sz="1200" dirty="0"/>
                        <a:t>Measure Name</a:t>
                      </a:r>
                    </a:p>
                  </a:txBody>
                  <a:tcPr/>
                </a:tc>
                <a:tc>
                  <a:txBody>
                    <a:bodyPr/>
                    <a:lstStyle/>
                    <a:p>
                      <a:r>
                        <a:rPr lang="en-IN" sz="1200" dirty="0"/>
                        <a:t>Purpose</a:t>
                      </a:r>
                    </a:p>
                  </a:txBody>
                  <a:tcPr/>
                </a:tc>
                <a:tc>
                  <a:txBody>
                    <a:bodyPr/>
                    <a:lstStyle/>
                    <a:p>
                      <a:r>
                        <a:rPr lang="en-IN" sz="1200" dirty="0"/>
                        <a:t>Definition / Formula</a:t>
                      </a:r>
                    </a:p>
                  </a:txBody>
                  <a:tcPr/>
                </a:tc>
                <a:extLst>
                  <a:ext uri="{0D108BD9-81ED-4DB2-BD59-A6C34878D82A}">
                    <a16:rowId xmlns:a16="http://schemas.microsoft.com/office/drawing/2014/main" val="1141171545"/>
                  </a:ext>
                </a:extLst>
              </a:tr>
              <a:tr h="425916">
                <a:tc>
                  <a:txBody>
                    <a:bodyPr/>
                    <a:lstStyle/>
                    <a:p>
                      <a:r>
                        <a:rPr lang="en-IN" sz="1200" dirty="0"/>
                        <a:t>Most Frequent Cause</a:t>
                      </a:r>
                    </a:p>
                  </a:txBody>
                  <a:tcPr/>
                </a:tc>
                <a:tc>
                  <a:txBody>
                    <a:bodyPr/>
                    <a:lstStyle/>
                    <a:p>
                      <a:r>
                        <a:rPr lang="en-IN" sz="1200" dirty="0"/>
                        <a:t>Root cause analysis</a:t>
                      </a:r>
                    </a:p>
                  </a:txBody>
                  <a:tcPr/>
                </a:tc>
                <a:tc>
                  <a:txBody>
                    <a:bodyPr/>
                    <a:lstStyle/>
                    <a:p>
                      <a:r>
                        <a:rPr lang="en-IN" sz="1200" dirty="0"/>
                        <a:t>Highest delay frequency cause</a:t>
                      </a:r>
                    </a:p>
                  </a:txBody>
                  <a:tcPr/>
                </a:tc>
                <a:extLst>
                  <a:ext uri="{0D108BD9-81ED-4DB2-BD59-A6C34878D82A}">
                    <a16:rowId xmlns:a16="http://schemas.microsoft.com/office/drawing/2014/main" val="1658584142"/>
                  </a:ext>
                </a:extLst>
              </a:tr>
              <a:tr h="425916">
                <a:tc>
                  <a:txBody>
                    <a:bodyPr/>
                    <a:lstStyle/>
                    <a:p>
                      <a:r>
                        <a:rPr lang="en-IN" sz="1200" dirty="0"/>
                        <a:t>On-Time Performance</a:t>
                      </a:r>
                    </a:p>
                  </a:txBody>
                  <a:tcPr/>
                </a:tc>
                <a:tc>
                  <a:txBody>
                    <a:bodyPr/>
                    <a:lstStyle/>
                    <a:p>
                      <a:r>
                        <a:rPr lang="en-IN" sz="1200" dirty="0"/>
                        <a:t>OTP KPI</a:t>
                      </a:r>
                    </a:p>
                  </a:txBody>
                  <a:tcPr/>
                </a:tc>
                <a:tc>
                  <a:txBody>
                    <a:bodyPr/>
                    <a:lstStyle/>
                    <a:p>
                      <a:r>
                        <a:rPr lang="en-IN" sz="1200" dirty="0"/>
                        <a:t>On-Time Flights ÷ Total Flights</a:t>
                      </a:r>
                    </a:p>
                  </a:txBody>
                  <a:tcPr/>
                </a:tc>
                <a:extLst>
                  <a:ext uri="{0D108BD9-81ED-4DB2-BD59-A6C34878D82A}">
                    <a16:rowId xmlns:a16="http://schemas.microsoft.com/office/drawing/2014/main" val="2967168845"/>
                  </a:ext>
                </a:extLst>
              </a:tr>
              <a:tr h="425916">
                <a:tc>
                  <a:txBody>
                    <a:bodyPr/>
                    <a:lstStyle/>
                    <a:p>
                      <a:r>
                        <a:rPr lang="en-IN" sz="1200" dirty="0"/>
                        <a:t>Peak Delay Month</a:t>
                      </a:r>
                    </a:p>
                  </a:txBody>
                  <a:tcPr/>
                </a:tc>
                <a:tc>
                  <a:txBody>
                    <a:bodyPr/>
                    <a:lstStyle/>
                    <a:p>
                      <a:r>
                        <a:rPr lang="en-IN" sz="1200" dirty="0"/>
                        <a:t>Time intelligence</a:t>
                      </a:r>
                    </a:p>
                  </a:txBody>
                  <a:tcPr/>
                </a:tc>
                <a:tc>
                  <a:txBody>
                    <a:bodyPr/>
                    <a:lstStyle/>
                    <a:p>
                      <a:r>
                        <a:rPr lang="en-IN" sz="1200" dirty="0"/>
                        <a:t>Month with highest delays</a:t>
                      </a:r>
                    </a:p>
                  </a:txBody>
                  <a:tcPr/>
                </a:tc>
                <a:extLst>
                  <a:ext uri="{0D108BD9-81ED-4DB2-BD59-A6C34878D82A}">
                    <a16:rowId xmlns:a16="http://schemas.microsoft.com/office/drawing/2014/main" val="332115529"/>
                  </a:ext>
                </a:extLst>
              </a:tr>
              <a:tr h="425916">
                <a:tc>
                  <a:txBody>
                    <a:bodyPr/>
                    <a:lstStyle/>
                    <a:p>
                      <a:r>
                        <a:rPr lang="en-IN" sz="1200" dirty="0"/>
                        <a:t>Top Delay Cause</a:t>
                      </a:r>
                    </a:p>
                  </a:txBody>
                  <a:tcPr/>
                </a:tc>
                <a:tc>
                  <a:txBody>
                    <a:bodyPr/>
                    <a:lstStyle/>
                    <a:p>
                      <a:r>
                        <a:rPr lang="en-IN" sz="1200" dirty="0"/>
                        <a:t>Root cause analysis</a:t>
                      </a:r>
                    </a:p>
                  </a:txBody>
                  <a:tcPr/>
                </a:tc>
                <a:tc>
                  <a:txBody>
                    <a:bodyPr/>
                    <a:lstStyle/>
                    <a:p>
                      <a:r>
                        <a:rPr lang="en-IN" sz="1200" dirty="0"/>
                        <a:t>Dominant delay contributor</a:t>
                      </a:r>
                    </a:p>
                  </a:txBody>
                  <a:tcPr/>
                </a:tc>
                <a:extLst>
                  <a:ext uri="{0D108BD9-81ED-4DB2-BD59-A6C34878D82A}">
                    <a16:rowId xmlns:a16="http://schemas.microsoft.com/office/drawing/2014/main" val="2926375279"/>
                  </a:ext>
                </a:extLst>
              </a:tr>
              <a:tr h="425916">
                <a:tc>
                  <a:txBody>
                    <a:bodyPr/>
                    <a:lstStyle/>
                    <a:p>
                      <a:r>
                        <a:rPr lang="en-IN" sz="1200" dirty="0"/>
                        <a:t>Total Cancellations</a:t>
                      </a:r>
                    </a:p>
                  </a:txBody>
                  <a:tcPr/>
                </a:tc>
                <a:tc>
                  <a:txBody>
                    <a:bodyPr/>
                    <a:lstStyle/>
                    <a:p>
                      <a:r>
                        <a:rPr lang="en-IN" sz="1200" dirty="0"/>
                        <a:t>Volume metric</a:t>
                      </a:r>
                    </a:p>
                  </a:txBody>
                  <a:tcPr/>
                </a:tc>
                <a:tc>
                  <a:txBody>
                    <a:bodyPr/>
                    <a:lstStyle/>
                    <a:p>
                      <a:r>
                        <a:rPr lang="en-IN" sz="1200" dirty="0"/>
                        <a:t>Sum of cancelled flights</a:t>
                      </a:r>
                    </a:p>
                  </a:txBody>
                  <a:tcPr/>
                </a:tc>
                <a:extLst>
                  <a:ext uri="{0D108BD9-81ED-4DB2-BD59-A6C34878D82A}">
                    <a16:rowId xmlns:a16="http://schemas.microsoft.com/office/drawing/2014/main" val="3129042817"/>
                  </a:ext>
                </a:extLst>
              </a:tr>
              <a:tr h="425916">
                <a:tc>
                  <a:txBody>
                    <a:bodyPr/>
                    <a:lstStyle/>
                    <a:p>
                      <a:r>
                        <a:rPr lang="en-IN" sz="1200" dirty="0"/>
                        <a:t>Total Delay</a:t>
                      </a:r>
                    </a:p>
                  </a:txBody>
                  <a:tcPr/>
                </a:tc>
                <a:tc>
                  <a:txBody>
                    <a:bodyPr/>
                    <a:lstStyle/>
                    <a:p>
                      <a:r>
                        <a:rPr lang="en-IN" sz="1200" dirty="0"/>
                        <a:t>Volume metric</a:t>
                      </a:r>
                    </a:p>
                  </a:txBody>
                  <a:tcPr/>
                </a:tc>
                <a:tc>
                  <a:txBody>
                    <a:bodyPr/>
                    <a:lstStyle/>
                    <a:p>
                      <a:r>
                        <a:rPr lang="en-IN" sz="1200" dirty="0"/>
                        <a:t>Sum of delay minutes</a:t>
                      </a:r>
                    </a:p>
                  </a:txBody>
                  <a:tcPr/>
                </a:tc>
                <a:extLst>
                  <a:ext uri="{0D108BD9-81ED-4DB2-BD59-A6C34878D82A}">
                    <a16:rowId xmlns:a16="http://schemas.microsoft.com/office/drawing/2014/main" val="1049924637"/>
                  </a:ext>
                </a:extLst>
              </a:tr>
              <a:tr h="425916">
                <a:tc>
                  <a:txBody>
                    <a:bodyPr/>
                    <a:lstStyle/>
                    <a:p>
                      <a:r>
                        <a:rPr lang="en-IN" sz="1200" dirty="0"/>
                        <a:t>Total Delayed Flights</a:t>
                      </a:r>
                    </a:p>
                  </a:txBody>
                  <a:tcPr/>
                </a:tc>
                <a:tc>
                  <a:txBody>
                    <a:bodyPr/>
                    <a:lstStyle/>
                    <a:p>
                      <a:r>
                        <a:rPr lang="en-IN" sz="1200" dirty="0"/>
                        <a:t>Volume metric</a:t>
                      </a:r>
                    </a:p>
                  </a:txBody>
                  <a:tcPr/>
                </a:tc>
                <a:tc>
                  <a:txBody>
                    <a:bodyPr/>
                    <a:lstStyle/>
                    <a:p>
                      <a:r>
                        <a:rPr lang="en-IN" sz="1200" dirty="0"/>
                        <a:t>Sum of delayed flights</a:t>
                      </a:r>
                    </a:p>
                  </a:txBody>
                  <a:tcPr/>
                </a:tc>
                <a:extLst>
                  <a:ext uri="{0D108BD9-81ED-4DB2-BD59-A6C34878D82A}">
                    <a16:rowId xmlns:a16="http://schemas.microsoft.com/office/drawing/2014/main" val="3529500960"/>
                  </a:ext>
                </a:extLst>
              </a:tr>
              <a:tr h="425916">
                <a:tc>
                  <a:txBody>
                    <a:bodyPr/>
                    <a:lstStyle/>
                    <a:p>
                      <a:r>
                        <a:rPr lang="en-IN" sz="1200" dirty="0"/>
                        <a:t>Total Diversions</a:t>
                      </a:r>
                    </a:p>
                  </a:txBody>
                  <a:tcPr/>
                </a:tc>
                <a:tc>
                  <a:txBody>
                    <a:bodyPr/>
                    <a:lstStyle/>
                    <a:p>
                      <a:r>
                        <a:rPr lang="en-IN" sz="1200" dirty="0"/>
                        <a:t>Volume metric</a:t>
                      </a:r>
                    </a:p>
                  </a:txBody>
                  <a:tcPr/>
                </a:tc>
                <a:tc>
                  <a:txBody>
                    <a:bodyPr/>
                    <a:lstStyle/>
                    <a:p>
                      <a:r>
                        <a:rPr lang="en-IN" sz="1200" dirty="0"/>
                        <a:t>Sum of diverted flights</a:t>
                      </a:r>
                    </a:p>
                  </a:txBody>
                  <a:tcPr/>
                </a:tc>
                <a:extLst>
                  <a:ext uri="{0D108BD9-81ED-4DB2-BD59-A6C34878D82A}">
                    <a16:rowId xmlns:a16="http://schemas.microsoft.com/office/drawing/2014/main" val="1635265822"/>
                  </a:ext>
                </a:extLst>
              </a:tr>
              <a:tr h="425916">
                <a:tc>
                  <a:txBody>
                    <a:bodyPr/>
                    <a:lstStyle/>
                    <a:p>
                      <a:r>
                        <a:rPr lang="en-IN" sz="1200" dirty="0"/>
                        <a:t>Total Flights</a:t>
                      </a:r>
                    </a:p>
                  </a:txBody>
                  <a:tcPr/>
                </a:tc>
                <a:tc>
                  <a:txBody>
                    <a:bodyPr/>
                    <a:lstStyle/>
                    <a:p>
                      <a:r>
                        <a:rPr lang="en-IN" sz="1200" dirty="0"/>
                        <a:t>Volume metric</a:t>
                      </a:r>
                    </a:p>
                  </a:txBody>
                  <a:tcPr/>
                </a:tc>
                <a:tc>
                  <a:txBody>
                    <a:bodyPr/>
                    <a:lstStyle/>
                    <a:p>
                      <a:r>
                        <a:rPr lang="en-IN" sz="1200" dirty="0"/>
                        <a:t>Sum of arriving flights</a:t>
                      </a:r>
                    </a:p>
                  </a:txBody>
                  <a:tcPr/>
                </a:tc>
                <a:extLst>
                  <a:ext uri="{0D108BD9-81ED-4DB2-BD59-A6C34878D82A}">
                    <a16:rowId xmlns:a16="http://schemas.microsoft.com/office/drawing/2014/main" val="2139058448"/>
                  </a:ext>
                </a:extLst>
              </a:tr>
              <a:tr h="425916">
                <a:tc>
                  <a:txBody>
                    <a:bodyPr/>
                    <a:lstStyle/>
                    <a:p>
                      <a:r>
                        <a:rPr lang="en-IN" sz="1200" dirty="0"/>
                        <a:t>Worst Airline</a:t>
                      </a:r>
                    </a:p>
                  </a:txBody>
                  <a:tcPr/>
                </a:tc>
                <a:tc>
                  <a:txBody>
                    <a:bodyPr/>
                    <a:lstStyle/>
                    <a:p>
                      <a:r>
                        <a:rPr lang="en-IN" sz="1200" dirty="0"/>
                        <a:t>Ranking</a:t>
                      </a:r>
                    </a:p>
                  </a:txBody>
                  <a:tcPr/>
                </a:tc>
                <a:tc>
                  <a:txBody>
                    <a:bodyPr/>
                    <a:lstStyle/>
                    <a:p>
                      <a:r>
                        <a:rPr lang="en-IN" sz="1200" dirty="0"/>
                        <a:t>Airline with highest disruption</a:t>
                      </a:r>
                    </a:p>
                  </a:txBody>
                  <a:tcPr/>
                </a:tc>
                <a:extLst>
                  <a:ext uri="{0D108BD9-81ED-4DB2-BD59-A6C34878D82A}">
                    <a16:rowId xmlns:a16="http://schemas.microsoft.com/office/drawing/2014/main" val="3534132576"/>
                  </a:ext>
                </a:extLst>
              </a:tr>
              <a:tr h="425916">
                <a:tc>
                  <a:txBody>
                    <a:bodyPr/>
                    <a:lstStyle/>
                    <a:p>
                      <a:r>
                        <a:rPr lang="en-IN" sz="1200" dirty="0"/>
                        <a:t>YoY </a:t>
                      </a:r>
                      <a:r>
                        <a:rPr lang="en-IN" sz="1200" dirty="0" err="1"/>
                        <a:t>Color</a:t>
                      </a:r>
                      <a:endParaRPr lang="en-IN" sz="1200" dirty="0"/>
                    </a:p>
                  </a:txBody>
                  <a:tcPr/>
                </a:tc>
                <a:tc>
                  <a:txBody>
                    <a:bodyPr/>
                    <a:lstStyle/>
                    <a:p>
                      <a:r>
                        <a:rPr lang="en-IN" sz="1200" dirty="0"/>
                        <a:t>Conditional formatting</a:t>
                      </a:r>
                    </a:p>
                  </a:txBody>
                  <a:tcPr/>
                </a:tc>
                <a:tc>
                  <a:txBody>
                    <a:bodyPr/>
                    <a:lstStyle/>
                    <a:p>
                      <a:r>
                        <a:rPr lang="en-IN" sz="1200" dirty="0" err="1"/>
                        <a:t>Color</a:t>
                      </a:r>
                      <a:r>
                        <a:rPr lang="en-IN" sz="1200" dirty="0"/>
                        <a:t> logic for YoY trend</a:t>
                      </a:r>
                    </a:p>
                  </a:txBody>
                  <a:tcPr/>
                </a:tc>
                <a:extLst>
                  <a:ext uri="{0D108BD9-81ED-4DB2-BD59-A6C34878D82A}">
                    <a16:rowId xmlns:a16="http://schemas.microsoft.com/office/drawing/2014/main" val="575343964"/>
                  </a:ext>
                </a:extLst>
              </a:tr>
              <a:tr h="425916">
                <a:tc>
                  <a:txBody>
                    <a:bodyPr/>
                    <a:lstStyle/>
                    <a:p>
                      <a:r>
                        <a:rPr lang="en-IN" sz="1200" dirty="0"/>
                        <a:t>YoY Delay Rate %</a:t>
                      </a:r>
                    </a:p>
                  </a:txBody>
                  <a:tcPr/>
                </a:tc>
                <a:tc>
                  <a:txBody>
                    <a:bodyPr/>
                    <a:lstStyle/>
                    <a:p>
                      <a:r>
                        <a:rPr lang="en-IN" sz="1200" dirty="0"/>
                        <a:t>Time intelligence</a:t>
                      </a:r>
                    </a:p>
                  </a:txBody>
                  <a:tcPr/>
                </a:tc>
                <a:tc>
                  <a:txBody>
                    <a:bodyPr/>
                    <a:lstStyle/>
                    <a:p>
                      <a:r>
                        <a:rPr lang="en-IN" sz="1200" dirty="0"/>
                        <a:t>Year-over-year delay change %</a:t>
                      </a:r>
                    </a:p>
                  </a:txBody>
                  <a:tcPr/>
                </a:tc>
                <a:extLst>
                  <a:ext uri="{0D108BD9-81ED-4DB2-BD59-A6C34878D82A}">
                    <a16:rowId xmlns:a16="http://schemas.microsoft.com/office/drawing/2014/main" val="4190374224"/>
                  </a:ext>
                </a:extLst>
              </a:tr>
            </a:tbl>
          </a:graphicData>
        </a:graphic>
      </p:graphicFrame>
      <p:sp>
        <p:nvSpPr>
          <p:cNvPr id="5" name="Title 1">
            <a:extLst>
              <a:ext uri="{FF2B5EF4-FFF2-40B4-BE49-F238E27FC236}">
                <a16:creationId xmlns:a16="http://schemas.microsoft.com/office/drawing/2014/main" id="{B7599F38-8765-3BB9-C60D-5D929E677780}"/>
              </a:ext>
            </a:extLst>
          </p:cNvPr>
          <p:cNvSpPr txBox="1">
            <a:spLocks/>
          </p:cNvSpPr>
          <p:nvPr/>
        </p:nvSpPr>
        <p:spPr>
          <a:xfrm>
            <a:off x="838200" y="138238"/>
            <a:ext cx="10515600" cy="56863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600" b="1" dirty="0">
                <a:solidFill>
                  <a:schemeClr val="bg1"/>
                </a:solidFill>
              </a:rPr>
              <a:t>DAX Measures Dictionary</a:t>
            </a:r>
          </a:p>
        </p:txBody>
      </p:sp>
    </p:spTree>
    <p:extLst>
      <p:ext uri="{BB962C8B-B14F-4D97-AF65-F5344CB8AC3E}">
        <p14:creationId xmlns:p14="http://schemas.microsoft.com/office/powerpoint/2010/main" val="7743092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DAC38-632E-F834-ACEA-C562004C23F5}"/>
              </a:ext>
            </a:extLst>
          </p:cNvPr>
          <p:cNvSpPr>
            <a:spLocks noGrp="1"/>
          </p:cNvSpPr>
          <p:nvPr>
            <p:ph type="title"/>
          </p:nvPr>
        </p:nvSpPr>
        <p:spPr/>
        <p:txBody>
          <a:bodyPr>
            <a:normAutofit/>
          </a:bodyPr>
          <a:lstStyle/>
          <a:p>
            <a:pPr algn="ctr"/>
            <a:r>
              <a:rPr lang="en-US" sz="7200" b="1" dirty="0">
                <a:solidFill>
                  <a:srgbClr val="FEF4E5"/>
                </a:solidFill>
              </a:rPr>
              <a:t>Future Scope</a:t>
            </a:r>
            <a:endParaRPr lang="en-IN" sz="7200" b="1" dirty="0">
              <a:solidFill>
                <a:srgbClr val="FEF4E5"/>
              </a:solidFill>
            </a:endParaRPr>
          </a:p>
        </p:txBody>
      </p:sp>
      <p:graphicFrame>
        <p:nvGraphicFramePr>
          <p:cNvPr id="4" name="Content Placeholder 3">
            <a:extLst>
              <a:ext uri="{FF2B5EF4-FFF2-40B4-BE49-F238E27FC236}">
                <a16:creationId xmlns:a16="http://schemas.microsoft.com/office/drawing/2014/main" id="{8D78528E-C944-5854-6410-0344AD29DB42}"/>
              </a:ext>
            </a:extLst>
          </p:cNvPr>
          <p:cNvGraphicFramePr>
            <a:graphicFrameLocks noGrp="1"/>
          </p:cNvGraphicFramePr>
          <p:nvPr>
            <p:ph idx="1"/>
            <p:extLst>
              <p:ext uri="{D42A27DB-BD31-4B8C-83A1-F6EECF244321}">
                <p14:modId xmlns:p14="http://schemas.microsoft.com/office/powerpoint/2010/main" val="418354178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8272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17617-7FFB-78BB-F2B1-4E08791DAA93}"/>
              </a:ext>
            </a:extLst>
          </p:cNvPr>
          <p:cNvSpPr>
            <a:spLocks noGrp="1"/>
          </p:cNvSpPr>
          <p:nvPr>
            <p:ph type="title"/>
          </p:nvPr>
        </p:nvSpPr>
        <p:spPr>
          <a:xfrm>
            <a:off x="1431635" y="2064470"/>
            <a:ext cx="9522691" cy="2332160"/>
          </a:xfrm>
          <a:effectLst>
            <a:glow>
              <a:schemeClr val="tx1"/>
            </a:glow>
            <a:reflection endPos="0" dist="50800" dir="5400000" sy="-100000" algn="bl" rotWithShape="0"/>
            <a:softEdge rad="0"/>
          </a:effectLst>
        </p:spPr>
        <p:txBody>
          <a:bodyPr>
            <a:noAutofit/>
            <a:scene3d>
              <a:camera prst="orthographicFront"/>
              <a:lightRig rig="threePt" dir="t"/>
            </a:scene3d>
            <a:sp3d extrusionH="57150" contourW="12700">
              <a:bevelT w="38100" h="38100" prst="angle"/>
              <a:contourClr>
                <a:schemeClr val="accent2">
                  <a:lumMod val="60000"/>
                  <a:lumOff val="40000"/>
                </a:schemeClr>
              </a:contourClr>
            </a:sp3d>
          </a:bodyPr>
          <a:lstStyle/>
          <a:p>
            <a:pPr algn="ctr"/>
            <a:r>
              <a:rPr lang="en-US" sz="14400" b="1" dirty="0">
                <a:solidFill>
                  <a:schemeClr val="bg1"/>
                </a:solidFill>
                <a:effectLst>
                  <a:outerShdw blurRad="38100" dist="38100" dir="12900000" sx="99000" sy="99000" algn="ctr" rotWithShape="0">
                    <a:srgbClr val="000000">
                      <a:alpha val="31000"/>
                    </a:srgbClr>
                  </a:outerShdw>
                </a:effectLst>
              </a:rPr>
              <a:t>Thanks</a:t>
            </a:r>
            <a:endParaRPr lang="en-IN" sz="14400" b="1" dirty="0">
              <a:solidFill>
                <a:schemeClr val="bg1"/>
              </a:solidFill>
              <a:effectLst>
                <a:outerShdw blurRad="38100" dist="38100" dir="12900000" sx="99000" sy="99000" algn="ctr" rotWithShape="0">
                  <a:srgbClr val="000000">
                    <a:alpha val="31000"/>
                  </a:srgbClr>
                </a:outerShdw>
              </a:effectLst>
            </a:endParaRPr>
          </a:p>
        </p:txBody>
      </p:sp>
      <p:pic>
        <p:nvPicPr>
          <p:cNvPr id="5" name="Content Placeholder 4">
            <a:extLst>
              <a:ext uri="{FF2B5EF4-FFF2-40B4-BE49-F238E27FC236}">
                <a16:creationId xmlns:a16="http://schemas.microsoft.com/office/drawing/2014/main" id="{8912E6F7-AA22-42BC-2F88-C4E77B3EC6A8}"/>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rot="7655999">
            <a:off x="449445" y="8601"/>
            <a:ext cx="1937750" cy="2072151"/>
          </a:xfrm>
          <a:effectLst>
            <a:softEdge rad="0"/>
          </a:effectLst>
        </p:spPr>
      </p:pic>
      <p:pic>
        <p:nvPicPr>
          <p:cNvPr id="3" name="Content Placeholder 4">
            <a:extLst>
              <a:ext uri="{FF2B5EF4-FFF2-40B4-BE49-F238E27FC236}">
                <a16:creationId xmlns:a16="http://schemas.microsoft.com/office/drawing/2014/main" id="{BC5DFD32-0162-52F7-A7E0-7A6C079AAB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3861154">
            <a:off x="9974192" y="8602"/>
            <a:ext cx="1937750" cy="2072151"/>
          </a:xfrm>
          <a:prstGeom prst="rect">
            <a:avLst/>
          </a:prstGeom>
        </p:spPr>
      </p:pic>
      <p:pic>
        <p:nvPicPr>
          <p:cNvPr id="4" name="Content Placeholder 4">
            <a:extLst>
              <a:ext uri="{FF2B5EF4-FFF2-40B4-BE49-F238E27FC236}">
                <a16:creationId xmlns:a16="http://schemas.microsoft.com/office/drawing/2014/main" id="{19D0671F-6CF7-2282-CEBF-9BEF438DAF3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2758848">
            <a:off x="449444" y="4472925"/>
            <a:ext cx="1937750" cy="2072151"/>
          </a:xfrm>
          <a:prstGeom prst="rect">
            <a:avLst/>
          </a:prstGeom>
        </p:spPr>
      </p:pic>
      <p:pic>
        <p:nvPicPr>
          <p:cNvPr id="7" name="Content Placeholder 4">
            <a:extLst>
              <a:ext uri="{FF2B5EF4-FFF2-40B4-BE49-F238E27FC236}">
                <a16:creationId xmlns:a16="http://schemas.microsoft.com/office/drawing/2014/main" id="{E900CC1A-1702-3840-1C2C-2CB66EEE527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9176137">
            <a:off x="10001462" y="4472662"/>
            <a:ext cx="1937750" cy="2072151"/>
          </a:xfrm>
          <a:prstGeom prst="rect">
            <a:avLst/>
          </a:prstGeom>
        </p:spPr>
      </p:pic>
    </p:spTree>
    <p:extLst>
      <p:ext uri="{BB962C8B-B14F-4D97-AF65-F5344CB8AC3E}">
        <p14:creationId xmlns:p14="http://schemas.microsoft.com/office/powerpoint/2010/main" val="42829034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17067</TotalTime>
  <Words>4609</Words>
  <Application>Microsoft Office PowerPoint</Application>
  <PresentationFormat>Widescreen</PresentationFormat>
  <Paragraphs>932</Paragraphs>
  <Slides>35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Calibri Light</vt:lpstr>
      <vt:lpstr>Office Theme</vt:lpstr>
      <vt:lpstr>US Airline Delay Analysis</vt:lpstr>
      <vt:lpstr>Business Problem</vt:lpstr>
      <vt:lpstr>Project Objective</vt:lpstr>
      <vt:lpstr>Project Scope</vt:lpstr>
      <vt:lpstr>Data &amp; Analytical Framework</vt:lpstr>
      <vt:lpstr>Data Dictionary (Original Features)</vt:lpstr>
      <vt:lpstr>Delay Types and their causes</vt:lpstr>
      <vt:lpstr>Data Preprocessing</vt:lpstr>
      <vt:lpstr>Data Preprocessing</vt:lpstr>
      <vt:lpstr>Data Preprocessing</vt:lpstr>
      <vt:lpstr>Data Dictionary (Engineered Features)</vt:lpstr>
      <vt:lpstr>Engineered delay features</vt:lpstr>
      <vt:lpstr>Exploratory Data Analysis</vt:lpstr>
      <vt:lpstr>Exploratory Data Analysis</vt:lpstr>
      <vt:lpstr>Exploratory Data Analysis</vt:lpstr>
      <vt:lpstr>Exploratory Data Analysis</vt:lpstr>
      <vt:lpstr>Exploratory Data Analysis</vt:lpstr>
      <vt:lpstr>Exploratory Data Analysis</vt:lpstr>
      <vt:lpstr>Exploratory Data Analysis</vt:lpstr>
      <vt:lpstr>Exploratory Data Analysis</vt:lpstr>
      <vt:lpstr>Data Model (Power BI)</vt:lpstr>
      <vt:lpstr>Carrier Name Changes Over Time</vt:lpstr>
      <vt:lpstr>Airline Name Standardization</vt:lpstr>
      <vt:lpstr>Overall Airline Performance Overview</vt:lpstr>
      <vt:lpstr>How Delays Change Over Time</vt:lpstr>
      <vt:lpstr>Frequency vs Severity of Delays</vt:lpstr>
      <vt:lpstr>What Causes Delays?</vt:lpstr>
      <vt:lpstr>Risk-Based Airline Performance Assessment</vt:lpstr>
      <vt:lpstr>Efficiency Matrix</vt:lpstr>
      <vt:lpstr>Disruption Matrix</vt:lpstr>
      <vt:lpstr>Key Business Insights</vt:lpstr>
      <vt:lpstr>DAX Measures Dictionary</vt:lpstr>
      <vt:lpstr>PowerPoint Presentation</vt:lpstr>
      <vt:lpstr>Future Scope</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Shubham Chakraborty</dc:creator>
  <cp:lastModifiedBy>Shubham Chakraborty</cp:lastModifiedBy>
  <cp:revision>40</cp:revision>
  <dcterms:created xsi:type="dcterms:W3CDTF">2026-05-25T16:51:45Z</dcterms:created>
  <dcterms:modified xsi:type="dcterms:W3CDTF">2026-06-06T13:24:07Z</dcterms:modified>
</cp:coreProperties>
</file>